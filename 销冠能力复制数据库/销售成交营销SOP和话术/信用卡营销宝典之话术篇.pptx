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wmf" ContentType="image/x-wmf"/>
  <Default Extension="jpeg" ContentType="image/jpeg"/>
  <Default Extension="JPG" ContentType="image/.jp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6" r:id="rId3"/>
    <p:sldId id="336" r:id="rId4"/>
    <p:sldId id="257" r:id="rId6"/>
    <p:sldId id="258" r:id="rId7"/>
    <p:sldId id="347" r:id="rId8"/>
    <p:sldId id="349" r:id="rId9"/>
    <p:sldId id="263" r:id="rId10"/>
    <p:sldId id="330" r:id="rId11"/>
    <p:sldId id="264" r:id="rId12"/>
    <p:sldId id="265" r:id="rId13"/>
    <p:sldId id="266" r:id="rId14"/>
    <p:sldId id="267" r:id="rId15"/>
    <p:sldId id="268" r:id="rId16"/>
    <p:sldId id="270" r:id="rId17"/>
    <p:sldId id="331" r:id="rId18"/>
    <p:sldId id="332" r:id="rId19"/>
    <p:sldId id="334" r:id="rId20"/>
    <p:sldId id="341" r:id="rId21"/>
    <p:sldId id="271" r:id="rId22"/>
    <p:sldId id="273" r:id="rId23"/>
    <p:sldId id="361" r:id="rId24"/>
    <p:sldId id="342" r:id="rId25"/>
    <p:sldId id="274" r:id="rId26"/>
    <p:sldId id="275" r:id="rId27"/>
    <p:sldId id="276" r:id="rId28"/>
    <p:sldId id="277" r:id="rId29"/>
    <p:sldId id="343" r:id="rId30"/>
    <p:sldId id="278" r:id="rId31"/>
    <p:sldId id="350" r:id="rId32"/>
    <p:sldId id="351" r:id="rId33"/>
    <p:sldId id="279" r:id="rId34"/>
    <p:sldId id="280" r:id="rId35"/>
    <p:sldId id="281" r:id="rId36"/>
    <p:sldId id="283" r:id="rId37"/>
    <p:sldId id="284" r:id="rId38"/>
    <p:sldId id="352" r:id="rId39"/>
    <p:sldId id="285" r:id="rId40"/>
    <p:sldId id="286" r:id="rId41"/>
    <p:sldId id="344" r:id="rId42"/>
    <p:sldId id="353" r:id="rId43"/>
    <p:sldId id="287" r:id="rId44"/>
    <p:sldId id="288" r:id="rId45"/>
    <p:sldId id="289" r:id="rId46"/>
    <p:sldId id="290" r:id="rId47"/>
    <p:sldId id="291" r:id="rId48"/>
    <p:sldId id="292" r:id="rId49"/>
    <p:sldId id="293" r:id="rId50"/>
    <p:sldId id="294" r:id="rId51"/>
    <p:sldId id="329" r:id="rId52"/>
    <p:sldId id="295" r:id="rId53"/>
    <p:sldId id="360" r:id="rId54"/>
    <p:sldId id="363" r:id="rId55"/>
    <p:sldId id="364" r:id="rId56"/>
    <p:sldId id="355" r:id="rId57"/>
    <p:sldId id="356" r:id="rId58"/>
    <p:sldId id="357" r:id="rId59"/>
    <p:sldId id="358" r:id="rId60"/>
    <p:sldId id="359" r:id="rId61"/>
  </p:sldIdLst>
  <p:sldSz cx="9145905" cy="6858000"/>
  <p:notesSz cx="6640830" cy="9904730"/>
  <p:defaultTextStyle>
    <a:defPPr>
      <a:defRPr lang="zh-TW"/>
    </a:defPPr>
    <a:lvl1pPr marL="0" lvl="0"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Frutiger 45 Light" pitchFamily="2" charset="0"/>
        <a:ea typeface="楷体_GB2312" pitchFamily="49" charset="-122"/>
        <a:cs typeface="+mn-cs"/>
      </a:defRPr>
    </a:lvl1pPr>
    <a:lvl2pPr marL="457200" lvl="1"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Frutiger 45 Light" pitchFamily="2" charset="0"/>
        <a:ea typeface="楷体_GB2312" pitchFamily="49" charset="-122"/>
        <a:cs typeface="+mn-cs"/>
      </a:defRPr>
    </a:lvl2pPr>
    <a:lvl3pPr marL="914400" lvl="2"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Frutiger 45 Light" pitchFamily="2" charset="0"/>
        <a:ea typeface="楷体_GB2312" pitchFamily="49" charset="-122"/>
        <a:cs typeface="+mn-cs"/>
      </a:defRPr>
    </a:lvl3pPr>
    <a:lvl4pPr marL="1371600" lvl="3"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Frutiger 45 Light" pitchFamily="2" charset="0"/>
        <a:ea typeface="楷体_GB2312" pitchFamily="49" charset="-122"/>
        <a:cs typeface="+mn-cs"/>
      </a:defRPr>
    </a:lvl4pPr>
    <a:lvl5pPr marL="1828800" lvl="4"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Frutiger 45 Light" pitchFamily="2" charset="0"/>
        <a:ea typeface="楷体_GB2312" pitchFamily="49" charset="-122"/>
        <a:cs typeface="+mn-cs"/>
      </a:defRPr>
    </a:lvl5pPr>
    <a:lvl6pPr marL="2286000" lvl="5"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Frutiger 45 Light" pitchFamily="2" charset="0"/>
        <a:ea typeface="楷体_GB2312" pitchFamily="49" charset="-122"/>
        <a:cs typeface="+mn-cs"/>
      </a:defRPr>
    </a:lvl6pPr>
    <a:lvl7pPr marL="2743200" lvl="6"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Frutiger 45 Light" pitchFamily="2" charset="0"/>
        <a:ea typeface="楷体_GB2312" pitchFamily="49" charset="-122"/>
        <a:cs typeface="+mn-cs"/>
      </a:defRPr>
    </a:lvl7pPr>
    <a:lvl8pPr marL="3200400" lvl="7"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Frutiger 45 Light" pitchFamily="2" charset="0"/>
        <a:ea typeface="楷体_GB2312" pitchFamily="49" charset="-122"/>
        <a:cs typeface="+mn-cs"/>
      </a:defRPr>
    </a:lvl8pPr>
    <a:lvl9pPr marL="3657600" lvl="8"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Frutiger 45 Light" pitchFamily="2" charset="0"/>
        <a:ea typeface="楷体_GB2312" pitchFamily="49" charset="-122"/>
        <a:cs typeface="+mn-cs"/>
      </a:defRPr>
    </a:lvl9pPr>
  </p:defaultTextStyle>
  <p:extLst>
    <p:ext uri="{EFAFB233-063F-42B5-8137-9DF3F51BA10A}">
      <p15:sldGuideLst xmlns:p15="http://schemas.microsoft.com/office/powerpoint/2012/main">
        <p15:guide id="1" orient="horz" pos="2152" userDrawn="1">
          <p15:clr>
            <a:srgbClr val="A4A3A4"/>
          </p15:clr>
        </p15:guide>
        <p15:guide id="2" pos="295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00"/>
    <a:srgbClr val="006600"/>
    <a:srgbClr val="FF3300"/>
    <a:srgbClr val="38B0FA"/>
    <a:srgbClr val="CC6600"/>
    <a:srgbClr val="FF0000"/>
    <a:srgbClr val="333399"/>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75" d="100"/>
          <a:sy n="75" d="100"/>
        </p:scale>
        <p:origin x="-1014" y="-96"/>
      </p:cViewPr>
      <p:guideLst>
        <p:guide orient="horz" pos="2152"/>
        <p:guide pos="2951"/>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4" Type="http://schemas.openxmlformats.org/officeDocument/2006/relationships/tableStyles" Target="tableStyles.xml"/><Relationship Id="rId63" Type="http://schemas.openxmlformats.org/officeDocument/2006/relationships/viewProps" Target="viewProps.xml"/><Relationship Id="rId62" Type="http://schemas.openxmlformats.org/officeDocument/2006/relationships/presProps" Target="presProps.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3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p:sp>
        <p:nvSpPr>
          <p:cNvPr id="2050" name="Rectangle 2"/>
          <p:cNvSpPr>
            <a:spLocks noGrp="1"/>
          </p:cNvSpPr>
          <p:nvPr>
            <p:ph type="hdr" sz="quarter"/>
          </p:nvPr>
        </p:nvSpPr>
        <p:spPr>
          <a:xfrm>
            <a:off x="0" y="0"/>
            <a:ext cx="2878138" cy="495300"/>
          </a:xfrm>
          <a:prstGeom prst="rect">
            <a:avLst/>
          </a:prstGeom>
          <a:noFill/>
          <a:ln w="9525">
            <a:noFill/>
          </a:ln>
        </p:spPr>
        <p:txBody>
          <a:bodyPr lIns="95418" tIns="47709" rIns="95418" bIns="47709"/>
          <a:p>
            <a:pPr lvl="0" algn="l" defTabSz="954405" eaLnBrk="1" hangingPunct="1"/>
            <a:endParaRPr lang="zh-CN" altLang="en-US" sz="1300" b="0" dirty="0">
              <a:latin typeface="Times New Roman" panose="02020603050405020304" pitchFamily="18" charset="0"/>
              <a:ea typeface="PMingLiU" pitchFamily="18" charset="-120"/>
            </a:endParaRPr>
          </a:p>
        </p:txBody>
      </p:sp>
      <p:sp>
        <p:nvSpPr>
          <p:cNvPr id="2051" name="Rectangle 3"/>
          <p:cNvSpPr>
            <a:spLocks noGrp="1"/>
          </p:cNvSpPr>
          <p:nvPr>
            <p:ph type="dt" idx="1"/>
          </p:nvPr>
        </p:nvSpPr>
        <p:spPr>
          <a:xfrm>
            <a:off x="3762375" y="0"/>
            <a:ext cx="2878138" cy="495300"/>
          </a:xfrm>
          <a:prstGeom prst="rect">
            <a:avLst/>
          </a:prstGeom>
          <a:noFill/>
          <a:ln w="9525">
            <a:noFill/>
          </a:ln>
        </p:spPr>
        <p:txBody>
          <a:bodyPr lIns="95418" tIns="47709" rIns="95418" bIns="47709"/>
          <a:p>
            <a:pPr lvl="0" algn="r" defTabSz="954405" eaLnBrk="1" hangingPunct="1"/>
            <a:endParaRPr lang="zh-CN" altLang="en-US" sz="1300" b="0" dirty="0">
              <a:latin typeface="Times New Roman" panose="02020603050405020304" pitchFamily="18" charset="0"/>
              <a:ea typeface="PMingLiU" pitchFamily="18" charset="-120"/>
            </a:endParaRPr>
          </a:p>
        </p:txBody>
      </p:sp>
      <p:sp>
        <p:nvSpPr>
          <p:cNvPr id="2052" name="Rectangle 4"/>
          <p:cNvSpPr>
            <a:spLocks noGrp="1"/>
          </p:cNvSpPr>
          <p:nvPr>
            <p:ph type="sldImg" idx="2"/>
          </p:nvPr>
        </p:nvSpPr>
        <p:spPr>
          <a:xfrm>
            <a:off x="842963" y="741363"/>
            <a:ext cx="4956175" cy="3716337"/>
          </a:xfrm>
          <a:prstGeom prst="rect">
            <a:avLst/>
          </a:prstGeom>
          <a:noFill/>
          <a:ln w="9525">
            <a:noFill/>
          </a:ln>
        </p:spPr>
      </p:sp>
      <p:sp>
        <p:nvSpPr>
          <p:cNvPr id="2053" name="Rectangle 5"/>
          <p:cNvSpPr>
            <a:spLocks noGrp="1"/>
          </p:cNvSpPr>
          <p:nvPr>
            <p:ph type="body" sz="quarter" idx="3"/>
          </p:nvPr>
        </p:nvSpPr>
        <p:spPr>
          <a:xfrm>
            <a:off x="885825" y="4705350"/>
            <a:ext cx="4868863" cy="4457700"/>
          </a:xfrm>
          <a:prstGeom prst="rect">
            <a:avLst/>
          </a:prstGeom>
          <a:noFill/>
          <a:ln w="9525">
            <a:noFill/>
          </a:ln>
        </p:spPr>
        <p:txBody>
          <a:bodyPr lIns="95418" tIns="47709" rIns="95418" bIns="47709" anchor="ctr" anchorCtr="0"/>
          <a:p>
            <a:pPr lvl="0"/>
            <a:r>
              <a:rPr lang="zh-TW" altLang="en-US"/>
              <a:t>按一下以編輯母片</a:t>
            </a:r>
            <a:endParaRPr lang="zh-TW" altLang="en-US"/>
          </a:p>
          <a:p>
            <a:pPr lvl="1"/>
            <a:r>
              <a:rPr lang="zh-TW" altLang="en-US"/>
              <a:t>第二層</a:t>
            </a:r>
            <a:endParaRPr lang="zh-TW" altLang="en-US"/>
          </a:p>
          <a:p>
            <a:pPr lvl="2"/>
            <a:r>
              <a:rPr lang="zh-TW" altLang="en-US"/>
              <a:t>第三層</a:t>
            </a:r>
            <a:endParaRPr lang="zh-TW" altLang="en-US"/>
          </a:p>
          <a:p>
            <a:pPr lvl="3"/>
            <a:r>
              <a:rPr lang="zh-TW" altLang="en-US"/>
              <a:t>第四層</a:t>
            </a:r>
            <a:endParaRPr lang="zh-TW" altLang="en-US"/>
          </a:p>
          <a:p>
            <a:pPr lvl="4"/>
            <a:r>
              <a:rPr lang="zh-TW" altLang="en-US"/>
              <a:t>第五層</a:t>
            </a:r>
            <a:endParaRPr lang="zh-TW" altLang="en-US"/>
          </a:p>
        </p:txBody>
      </p:sp>
      <p:sp>
        <p:nvSpPr>
          <p:cNvPr id="2054" name="Rectangle 6"/>
          <p:cNvSpPr>
            <a:spLocks noGrp="1"/>
          </p:cNvSpPr>
          <p:nvPr>
            <p:ph type="ftr" sz="quarter" idx="4"/>
          </p:nvPr>
        </p:nvSpPr>
        <p:spPr>
          <a:xfrm>
            <a:off x="0" y="9409113"/>
            <a:ext cx="2878138" cy="495300"/>
          </a:xfrm>
          <a:prstGeom prst="rect">
            <a:avLst/>
          </a:prstGeom>
          <a:noFill/>
          <a:ln w="9525">
            <a:noFill/>
          </a:ln>
        </p:spPr>
        <p:txBody>
          <a:bodyPr lIns="95418" tIns="47709" rIns="95418" bIns="47709" anchor="b" anchorCtr="0"/>
          <a:p>
            <a:pPr lvl="0" algn="l" defTabSz="954405" eaLnBrk="1" hangingPunct="1"/>
            <a:endParaRPr lang="zh-CN" altLang="en-US" sz="1300" b="0" dirty="0">
              <a:latin typeface="Times New Roman" panose="02020603050405020304" pitchFamily="18" charset="0"/>
              <a:ea typeface="PMingLiU" pitchFamily="18" charset="-120"/>
            </a:endParaRPr>
          </a:p>
        </p:txBody>
      </p:sp>
      <p:sp>
        <p:nvSpPr>
          <p:cNvPr id="2055" name="Rectangle 7"/>
          <p:cNvSpPr>
            <a:spLocks noGrp="1"/>
          </p:cNvSpPr>
          <p:nvPr>
            <p:ph type="sldNum" sz="quarter" idx="5"/>
          </p:nvPr>
        </p:nvSpPr>
        <p:spPr>
          <a:xfrm>
            <a:off x="3762375" y="9409113"/>
            <a:ext cx="2878138" cy="495300"/>
          </a:xfrm>
          <a:prstGeom prst="rect">
            <a:avLst/>
          </a:prstGeom>
          <a:noFill/>
          <a:ln w="9525">
            <a:noFill/>
          </a:ln>
        </p:spPr>
        <p:txBody>
          <a:bodyPr lIns="95418" tIns="47709" rIns="95418" bIns="47709" anchor="b" anchorCtr="0"/>
          <a:p>
            <a:pPr lvl="0" algn="r" defTabSz="954405" eaLnBrk="1" hangingPunct="1"/>
            <a:fld id="{9A0DB2DC-4C9A-4742-B13C-FB6460FD3503}" type="slidenum">
              <a:rPr lang="zh-CN" altLang="en-US" sz="1300" b="0" dirty="0">
                <a:latin typeface="Times New Roman" panose="02020603050405020304" pitchFamily="18" charset="0"/>
                <a:ea typeface="PMingLiU" pitchFamily="18" charset="-120"/>
              </a:rPr>
            </a:fld>
            <a:endParaRPr lang="zh-CN" altLang="en-US" sz="1300" b="0" dirty="0">
              <a:latin typeface="Times New Roman" panose="02020603050405020304" pitchFamily="18" charset="0"/>
              <a:ea typeface="PMingLiU" pitchFamily="18" charset="-120"/>
            </a:endParaRPr>
          </a:p>
        </p:txBody>
      </p:sp>
    </p:spTree>
  </p:cSld>
  <p:clrMap bg1="lt1" tx1="dk1" bg2="lt2" tx2="dk2" accent1="accent1" accent2="accent2" accent3="accent3" accent4="accent4" accent5="accent5" accent6="accent6" hlink="hlink" folHlink="folHlink"/>
  <p:hf sldNum="0" hdr="0" ftr="0" dt="0"/>
  <p:notesStyle>
    <a:lvl1pPr marL="0" lvl="0"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PMingLiU" pitchFamily="18" charset="-120"/>
      </a:defRPr>
    </a:lvl1pPr>
    <a:lvl2pPr marL="457200" lvl="1"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PMingLiU" pitchFamily="18" charset="-120"/>
      </a:defRPr>
    </a:lvl2pPr>
    <a:lvl3pPr marL="914400" lvl="2"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PMingLiU" pitchFamily="18" charset="-120"/>
      </a:defRPr>
    </a:lvl3pPr>
    <a:lvl4pPr marL="1371600" lvl="3"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PMingLiU" pitchFamily="18" charset="-120"/>
      </a:defRPr>
    </a:lvl4pPr>
    <a:lvl5pPr marL="1828800" lvl="4"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PMingLiU" pitchFamily="18" charset="-120"/>
      </a:defRPr>
    </a:lvl5pPr>
    <a:lvl6pPr marL="2286000" lvl="5"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PMingLiU" pitchFamily="18" charset="-120"/>
      </a:defRPr>
    </a:lvl6pPr>
    <a:lvl7pPr marL="2743200" lvl="6"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PMingLiU" pitchFamily="18" charset="-120"/>
      </a:defRPr>
    </a:lvl7pPr>
    <a:lvl8pPr marL="3200400" lvl="7"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PMingLiU" pitchFamily="18" charset="-120"/>
      </a:defRPr>
    </a:lvl8pPr>
    <a:lvl9pPr marL="3657600" lvl="8"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PMingLiU" pitchFamily="18" charset="-120"/>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baike.baidu.com/view/300225.htm" TargetMode="External"/><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5122" name="Rectangle 2"/>
          <p:cNvSpPr>
            <a:spLocks noGrp="1" noTextEdit="1"/>
          </p:cNvSpPr>
          <p:nvPr>
            <p:ph type="sldImg"/>
          </p:nvPr>
        </p:nvSpPr>
        <p:spPr>
          <a:ln/>
        </p:spPr>
      </p:sp>
      <p:sp>
        <p:nvSpPr>
          <p:cNvPr id="5123" name="Rectangle 3"/>
          <p:cNvSpPr>
            <a:spLocks noGrp="1"/>
          </p:cNvSpPr>
          <p:nvPr>
            <p:ph type="body" idx="1"/>
          </p:nvPr>
        </p:nvSpPr>
        <p:spPr>
          <a:ln/>
        </p:spPr>
        <p:txBody>
          <a:bodyPr vert="horz" wrap="square" lIns="95418" tIns="47709" rIns="95418" bIns="47709" anchor="ctr" anchorCtr="0"/>
          <a:p>
            <a:pPr lvl="0" eaLnBrk="1" hangingPunct="1"/>
            <a:r>
              <a:rPr lang="zh-CN" altLang="en-US" dirty="0">
                <a:ea typeface="宋体" panose="02010600030101010101" pitchFamily="2" charset="-122"/>
              </a:rPr>
              <a:t>本课程的目的是希望学员能够把前面所学到的知识进行回顾，并能学会一些基本的产品介绍和应对客户的话术，从而能帮助学员更快的适应市场。新版的入职培训课程从实用性出发，增加了较多的联系部分，同时在考核时新增了新人销售话术通关考试，因此可结合销售通关讲解此课程！</a:t>
            </a:r>
            <a:endParaRPr lang="zh-CN" altLang="en-US" dirty="0">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8194" name="Rectangle 2"/>
          <p:cNvSpPr>
            <a:spLocks noGrp="1" noTextEdit="1"/>
          </p:cNvSpPr>
          <p:nvPr>
            <p:ph type="sldImg"/>
          </p:nvPr>
        </p:nvSpPr>
        <p:spPr>
          <a:ln/>
        </p:spPr>
      </p:sp>
      <p:sp>
        <p:nvSpPr>
          <p:cNvPr id="8195" name="Rectangle 3"/>
          <p:cNvSpPr>
            <a:spLocks noGrp="1"/>
          </p:cNvSpPr>
          <p:nvPr>
            <p:ph type="body" idx="1"/>
          </p:nvPr>
        </p:nvSpPr>
        <p:spPr>
          <a:ln/>
        </p:spPr>
        <p:txBody>
          <a:bodyPr vert="horz" wrap="square" lIns="95418" tIns="47709" rIns="95418" bIns="47709" anchor="ctr" anchorCtr="0"/>
          <a:p>
            <a:pPr lvl="0" eaLnBrk="1" hangingPunct="1"/>
            <a:r>
              <a:rPr lang="zh-CN" altLang="en-US" dirty="0"/>
              <a:t>1、从销售的定义来讲销售是一个流程，是销售人员在这个流程中，通过挖掘客户需求，从而把产品推销出去的过程，可重点分析红色字体的文字，为后续的课程做好准备。</a:t>
            </a:r>
            <a:endParaRPr lang="zh-CN" altLang="en-US" dirty="0"/>
          </a:p>
          <a:p>
            <a:pPr lvl="0" eaLnBrk="1" hangingPunct="1"/>
            <a:r>
              <a:rPr lang="zh-CN" altLang="en-US" dirty="0"/>
              <a:t>2、在销售的流程中涉及到产品，客户，销售人员与销售过程四个元素，我们在前面的课程里面着重讲解的是产品和客户这两个因素，而最终是需要在坐的各位（销售人员）在面对客户的销售过程中把我们的产品推广出去，因此这个课程就是帮大家理顺这个过程。</a:t>
            </a:r>
            <a:endParaRPr lang="zh-CN" altLang="en-US" dirty="0"/>
          </a:p>
          <a:p>
            <a:pPr lvl="0" eaLnBrk="1" hangingPunct="1"/>
            <a:r>
              <a:rPr lang="zh-CN" altLang="en-US" dirty="0"/>
              <a:t>先看看信用卡销售的特点</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10242" name="Rectangle 2"/>
          <p:cNvSpPr>
            <a:spLocks noGrp="1" noTextEdit="1"/>
          </p:cNvSpPr>
          <p:nvPr>
            <p:ph type="sldImg"/>
          </p:nvPr>
        </p:nvSpPr>
        <p:spPr>
          <a:ln/>
        </p:spPr>
      </p:sp>
      <p:sp>
        <p:nvSpPr>
          <p:cNvPr id="10243" name="Rectangle 3"/>
          <p:cNvSpPr>
            <a:spLocks noGrp="1"/>
          </p:cNvSpPr>
          <p:nvPr>
            <p:ph type="body" idx="1"/>
          </p:nvPr>
        </p:nvSpPr>
        <p:spPr>
          <a:ln/>
        </p:spPr>
        <p:txBody>
          <a:bodyPr vert="horz" wrap="square" lIns="95418" tIns="47709" rIns="95418" bIns="47709" anchor="ctr" anchorCtr="0"/>
          <a:p>
            <a:pPr lvl="0" eaLnBrk="1" hangingPunct="1"/>
            <a:r>
              <a:rPr lang="en-US" altLang="zh-CN" dirty="0">
                <a:ea typeface="宋体" panose="02010600030101010101" pitchFamily="2" charset="-122"/>
              </a:rPr>
              <a:t>1</a:t>
            </a:r>
            <a:r>
              <a:rPr lang="zh-CN" altLang="en-US" dirty="0">
                <a:ea typeface="宋体" panose="02010600030101010101" pitchFamily="2" charset="-122"/>
              </a:rPr>
              <a:t>、信用卡的销售模式类似于快速消费品的销售模式（可参照相关资料）。</a:t>
            </a:r>
            <a:endParaRPr lang="zh-CN" altLang="en-US" dirty="0">
              <a:ea typeface="宋体" panose="02010600030101010101" pitchFamily="2" charset="-122"/>
            </a:endParaRPr>
          </a:p>
          <a:p>
            <a:pPr lvl="0" eaLnBrk="1" hangingPunct="1"/>
            <a:r>
              <a:rPr lang="zh-CN" altLang="en-US" dirty="0">
                <a:ea typeface="宋体" panose="02010600030101010101" pitchFamily="2" charset="-122"/>
              </a:rPr>
              <a:t>快速消费品属于冲动购买产品，即兴的采购决策，取决于个人偏好，因此，快速消费品有三个基本特点，即： </a:t>
            </a:r>
            <a:endParaRPr lang="zh-CN" altLang="en-US" dirty="0">
              <a:ea typeface="宋体" panose="02010600030101010101" pitchFamily="2" charset="-122"/>
            </a:endParaRPr>
          </a:p>
          <a:p>
            <a:pPr lvl="0" eaLnBrk="1" hangingPunct="1"/>
            <a:r>
              <a:rPr lang="zh-CN" altLang="en-US" dirty="0">
                <a:ea typeface="宋体" panose="02010600030101010101" pitchFamily="2" charset="-122"/>
              </a:rPr>
              <a:t>　　① 便利性：消费者可以习惯性的就近购买（决定我们是主动上门营销） </a:t>
            </a:r>
            <a:endParaRPr lang="zh-CN" altLang="en-US" dirty="0">
              <a:ea typeface="宋体" panose="02010600030101010101" pitchFamily="2" charset="-122"/>
            </a:endParaRPr>
          </a:p>
          <a:p>
            <a:pPr lvl="0" eaLnBrk="1" hangingPunct="1"/>
            <a:r>
              <a:rPr lang="zh-CN" altLang="en-US" dirty="0">
                <a:ea typeface="宋体" panose="02010600030101010101" pitchFamily="2" charset="-122"/>
              </a:rPr>
              <a:t>　　② 视觉化产品：消费者在购买时很容易受到卖场气氛的影响 </a:t>
            </a:r>
            <a:r>
              <a:rPr lang="zh-CN" altLang="en-US" dirty="0">
                <a:ea typeface="宋体" panose="02010600030101010101" pitchFamily="2" charset="-122"/>
              </a:rPr>
              <a:t>（销售人员的形象，市场活动等其他因素会对信用卡的销售有较大影响） </a:t>
            </a:r>
            <a:endParaRPr lang="zh-CN" altLang="en-US" dirty="0">
              <a:ea typeface="宋体" panose="02010600030101010101" pitchFamily="2" charset="-122"/>
            </a:endParaRPr>
          </a:p>
          <a:p>
            <a:pPr lvl="0" eaLnBrk="1" hangingPunct="1"/>
            <a:r>
              <a:rPr lang="zh-CN" altLang="en-US" dirty="0">
                <a:ea typeface="宋体" panose="02010600030101010101" pitchFamily="2" charset="-122"/>
              </a:rPr>
              <a:t>　　③ 品牌忠诚度不高：消费者很容易在同类产品中转换不同的品牌（客户可以接受多家银行的信用卡）</a:t>
            </a:r>
            <a:endParaRPr lang="zh-CN" altLang="en-US" dirty="0">
              <a:ea typeface="宋体" panose="02010600030101010101" pitchFamily="2" charset="-122"/>
            </a:endParaRPr>
          </a:p>
          <a:p>
            <a:pPr lvl="0" eaLnBrk="1" hangingPunct="1"/>
            <a:r>
              <a:rPr lang="zh-CN" altLang="en-US" dirty="0">
                <a:ea typeface="宋体" panose="02010600030101010101" pitchFamily="2" charset="-122"/>
              </a:rPr>
              <a:t>      ④</a:t>
            </a:r>
            <a:r>
              <a:rPr lang="zh-CN" altLang="en-US" u="sng" dirty="0">
                <a:ea typeface="宋体" panose="02010600030101010101" pitchFamily="2" charset="-122"/>
              </a:rPr>
              <a:t> </a:t>
            </a:r>
            <a:r>
              <a:rPr lang="zh-CN" altLang="en-US" u="sng" dirty="0">
                <a:ea typeface="宋体" panose="02010600030101010101" pitchFamily="2" charset="-122"/>
                <a:hlinkClick r:id="rId3"/>
              </a:rPr>
              <a:t>售后服务</a:t>
            </a:r>
            <a:r>
              <a:rPr lang="zh-CN" altLang="en-US" dirty="0">
                <a:ea typeface="宋体" panose="02010600030101010101" pitchFamily="2" charset="-122"/>
              </a:rPr>
              <a:t>的重点主要体现在对客户投诉的迅速反馈和有效处理（信用卡的客服就这样）</a:t>
            </a:r>
            <a:endParaRPr lang="zh-CN" altLang="en-US" dirty="0">
              <a:ea typeface="宋体" panose="02010600030101010101" pitchFamily="2" charset="-122"/>
            </a:endParaRPr>
          </a:p>
          <a:p>
            <a:pPr lvl="0" eaLnBrk="1" hangingPunct="1"/>
            <a:r>
              <a:rPr lang="zh-CN" altLang="en-US" dirty="0">
                <a:ea typeface="宋体" panose="02010600030101010101" pitchFamily="2" charset="-122"/>
              </a:rPr>
              <a:t>　　这些特征决定了消费者对快速消费品的购买习惯是：简单、迅速、冲动、感性（信用卡是快速消费，客户会在极短的时间做出决定，因此需要业务人员的精心准备）</a:t>
            </a:r>
            <a:r>
              <a:rPr lang="zh-CN" altLang="en-US" dirty="0"/>
              <a:t> </a:t>
            </a:r>
            <a:endParaRPr lang="zh-CN" altLang="en-US" dirty="0"/>
          </a:p>
          <a:p>
            <a:pPr lvl="0" eaLnBrk="1" hangingPunct="1"/>
            <a:r>
              <a:rPr lang="en-US" altLang="zh-CN" dirty="0"/>
              <a:t>2</a:t>
            </a:r>
            <a:r>
              <a:rPr lang="zh-CN" altLang="en-US" dirty="0"/>
              <a:t>、</a:t>
            </a:r>
            <a:r>
              <a:rPr lang="zh-CN" altLang="en-US" dirty="0">
                <a:solidFill>
                  <a:srgbClr val="000066"/>
                </a:solidFill>
              </a:rPr>
              <a:t>信用卡销售渠道分析（给学员介绍目前信用卡的营销渠道，第三方也有协助银行发行信用卡，比如春秋航空在飞机上推广建行信用卡</a:t>
            </a:r>
            <a:r>
              <a:rPr lang="zh-CN" altLang="en-US" dirty="0"/>
              <a:t>）</a:t>
            </a:r>
            <a:endParaRPr lang="zh-CN" altLang="en-US" dirty="0"/>
          </a:p>
          <a:p>
            <a:pPr lvl="0" eaLnBrk="1" hangingPunct="1"/>
            <a:r>
              <a:rPr lang="en-US" altLang="zh-CN" dirty="0"/>
              <a:t>3</a:t>
            </a:r>
            <a:r>
              <a:rPr lang="zh-CN" altLang="en-US" dirty="0"/>
              <a:t>、在信用卡从业人员里面，新员工与老员工的业绩并没有必然的差距，新员工可以通过勤奋弥补成功率，通过客户选择提高批核率，从而取得好的业绩</a:t>
            </a:r>
            <a:endParaRPr lang="zh-CN" altLang="en-US" dirty="0"/>
          </a:p>
          <a:p>
            <a:pPr lvl="0" eaLnBrk="1" hangingPunct="1"/>
            <a:r>
              <a:rPr lang="zh-CN" altLang="en-US" dirty="0"/>
              <a:t>讲师在此板书拜访量，成功率与批核率之间的关系，从而引出下一张</a:t>
            </a:r>
            <a:r>
              <a:rPr lang="en-US" altLang="zh-CN" dirty="0"/>
              <a:t>PPT</a:t>
            </a:r>
            <a:endParaRPr lang="en-US"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12290" name="Rectangle 2"/>
          <p:cNvSpPr>
            <a:spLocks noGrp="1" noTextEdit="1"/>
          </p:cNvSpPr>
          <p:nvPr>
            <p:ph type="sldImg"/>
          </p:nvPr>
        </p:nvSpPr>
        <p:spPr>
          <a:xfrm>
            <a:off x="844550" y="742950"/>
            <a:ext cx="4953000" cy="3714750"/>
          </a:xfrm>
          <a:ln/>
        </p:spPr>
      </p:sp>
      <p:sp>
        <p:nvSpPr>
          <p:cNvPr id="12291" name="Rectangle 3"/>
          <p:cNvSpPr>
            <a:spLocks noGrp="1"/>
          </p:cNvSpPr>
          <p:nvPr>
            <p:ph type="body" idx="1"/>
          </p:nvPr>
        </p:nvSpPr>
        <p:spPr>
          <a:xfrm>
            <a:off x="885825" y="4705350"/>
            <a:ext cx="4868863" cy="4456113"/>
          </a:xfrm>
          <a:ln/>
        </p:spPr>
        <p:txBody>
          <a:bodyPr vert="horz" wrap="square" lIns="95418" tIns="47709" rIns="95418" bIns="47709" anchor="ctr" anchorCtr="0"/>
          <a:p>
            <a:pPr lvl="0" eaLnBrk="1" hangingPunct="1"/>
            <a:r>
              <a:rPr lang="zh-CN" altLang="en-US" dirty="0">
                <a:solidFill>
                  <a:schemeClr val="tx2"/>
                </a:solidFill>
              </a:rPr>
              <a:t>无目标、无计划、无追踪的，销售活动是失控的、无效的，销售遵循漏斗原理</a:t>
            </a:r>
            <a:endParaRPr lang="zh-CN" altLang="en-US" dirty="0">
              <a:solidFill>
                <a:schemeClr val="tx2"/>
              </a:solidFill>
            </a:endParaRPr>
          </a:p>
          <a:p>
            <a:pPr lvl="0" eaLnBrk="1" hangingPunct="1"/>
            <a:r>
              <a:rPr lang="zh-CN" altLang="en-US" dirty="0">
                <a:solidFill>
                  <a:schemeClr val="tx2"/>
                </a:solidFill>
              </a:rPr>
              <a:t>让学员确定自己的月目标，并结合拜访量，成功率和批核率来确定每日的工作目标，从而达成自己的目标。</a:t>
            </a:r>
            <a:endParaRPr lang="zh-CN" altLang="en-US" dirty="0">
              <a:solidFill>
                <a:schemeClr val="tx2"/>
              </a:solidFill>
            </a:endParaRPr>
          </a:p>
        </p:txBody>
      </p:sp>
    </p:spTree>
  </p:cSld>
  <p:clrMapOvr>
    <a:overrideClrMapping bg1="lt1" tx1="dk1" bg2="lt2" tx2="dk2" accent1="accent1" accent2="accent2" accent3="accent3" accent4="accent4" accent5="accent5" accent6="accent6" hlink="hlink" folHlink="folHlink"/>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14338" name="Rectangle 2"/>
          <p:cNvSpPr>
            <a:spLocks noGrp="1" noTextEdit="1"/>
          </p:cNvSpPr>
          <p:nvPr>
            <p:ph type="sldImg"/>
          </p:nvPr>
        </p:nvSpPr>
        <p:spPr>
          <a:ln/>
        </p:spPr>
      </p:sp>
      <p:sp>
        <p:nvSpPr>
          <p:cNvPr id="14339" name="Rectangle 3"/>
          <p:cNvSpPr>
            <a:spLocks noGrp="1"/>
          </p:cNvSpPr>
          <p:nvPr>
            <p:ph type="body" idx="1"/>
          </p:nvPr>
        </p:nvSpPr>
        <p:spPr>
          <a:ln/>
        </p:spPr>
        <p:txBody>
          <a:bodyPr vert="horz" wrap="square" lIns="95418" tIns="47709" rIns="95418" bIns="47709" anchor="ctr" anchorCtr="0"/>
          <a:p>
            <a:pPr lvl="0" eaLnBrk="1" hangingPunct="1"/>
            <a:r>
              <a:rPr lang="zh-CN" altLang="en-US" dirty="0"/>
              <a:t>引入信用卡市场开拓的方法</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17410" name="Rectangle 2"/>
          <p:cNvSpPr>
            <a:spLocks noGrp="1" noTextEdit="1"/>
          </p:cNvSpPr>
          <p:nvPr>
            <p:ph type="sldImg"/>
          </p:nvPr>
        </p:nvSpPr>
        <p:spPr>
          <a:xfrm>
            <a:off x="842963" y="741363"/>
            <a:ext cx="4951412" cy="3713162"/>
          </a:xfrm>
          <a:ln/>
        </p:spPr>
      </p:sp>
      <p:sp>
        <p:nvSpPr>
          <p:cNvPr id="17411" name="Rectangle 3"/>
          <p:cNvSpPr>
            <a:spLocks noGrp="1"/>
          </p:cNvSpPr>
          <p:nvPr>
            <p:ph type="body" idx="1"/>
          </p:nvPr>
        </p:nvSpPr>
        <p:spPr>
          <a:xfrm>
            <a:off x="884238" y="4702175"/>
            <a:ext cx="4868862" cy="4457700"/>
          </a:xfrm>
          <a:ln/>
        </p:spPr>
        <p:txBody>
          <a:bodyPr vert="horz" wrap="square" lIns="95418" tIns="47709" rIns="95418" bIns="47709" anchor="ctr" anchorCtr="0"/>
          <a:p>
            <a:pPr marL="228600" lvl="0" indent="-228600" eaLnBrk="1" hangingPunct="1"/>
            <a:r>
              <a:rPr lang="zh-CN" altLang="en-US" dirty="0"/>
              <a:t>1、说明什么是缘故市场？</a:t>
            </a:r>
            <a:endParaRPr lang="zh-CN" altLang="en-US" dirty="0"/>
          </a:p>
          <a:p>
            <a:pPr marL="228600" lvl="0" indent="-228600" eaLnBrk="1" hangingPunct="1"/>
            <a:r>
              <a:rPr lang="zh-CN" altLang="en-US" dirty="0"/>
              <a:t>2、缘故市场的特性分析</a:t>
            </a:r>
            <a:endParaRPr lang="zh-CN" altLang="en-US" dirty="0"/>
          </a:p>
          <a:p>
            <a:pPr marL="228600" lvl="0" indent="-228600" eaLnBrk="1" hangingPunct="1"/>
            <a:r>
              <a:rPr lang="zh-CN" altLang="en-US" dirty="0"/>
              <a:t>易接近、有信任感 、高成功率</a:t>
            </a:r>
            <a:endParaRPr lang="zh-CN" altLang="en-US" dirty="0"/>
          </a:p>
          <a:p>
            <a:pPr marL="228600" lvl="0" indent="-228600" eaLnBrk="1" hangingPunct="1"/>
            <a:r>
              <a:rPr lang="zh-CN" altLang="en-US" dirty="0"/>
              <a:t>3、可让学员列举自己的缘故市场，并制定相应的拜访计划</a:t>
            </a:r>
            <a:endParaRPr lang="zh-CN" altLang="en-US" dirty="0"/>
          </a:p>
          <a:p>
            <a:pPr marL="228600" lvl="0" indent="-228600" eaLnBrk="1" hangingPunct="1"/>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19458" name="Rectangle 2"/>
          <p:cNvSpPr>
            <a:spLocks noGrp="1" noTextEdit="1"/>
          </p:cNvSpPr>
          <p:nvPr>
            <p:ph type="sldImg"/>
          </p:nvPr>
        </p:nvSpPr>
        <p:spPr>
          <a:xfrm>
            <a:off x="842963" y="741363"/>
            <a:ext cx="4951412" cy="3713162"/>
          </a:xfrm>
          <a:ln/>
        </p:spPr>
      </p:sp>
      <p:sp>
        <p:nvSpPr>
          <p:cNvPr id="19459" name="Rectangle 3"/>
          <p:cNvSpPr>
            <a:spLocks noGrp="1"/>
          </p:cNvSpPr>
          <p:nvPr>
            <p:ph type="body" idx="1"/>
          </p:nvPr>
        </p:nvSpPr>
        <p:spPr>
          <a:xfrm>
            <a:off x="884238" y="4702175"/>
            <a:ext cx="4868862" cy="4457700"/>
          </a:xfrm>
          <a:ln/>
        </p:spPr>
        <p:txBody>
          <a:bodyPr vert="horz" wrap="square" lIns="95418" tIns="47709" rIns="95418" bIns="47709" anchor="ctr" anchorCtr="0"/>
          <a:p>
            <a:pPr marL="228600" lvl="0" indent="-228600" eaLnBrk="1" hangingPunct="1"/>
            <a:r>
              <a:rPr lang="zh-CN" altLang="en-US" dirty="0"/>
              <a:t>1、说明转介绍市场的特性：</a:t>
            </a:r>
            <a:endParaRPr lang="zh-CN" altLang="en-US" dirty="0"/>
          </a:p>
          <a:p>
            <a:pPr marL="228600" lvl="0" indent="-228600" eaLnBrk="1" hangingPunct="1"/>
            <a:r>
              <a:rPr lang="zh-CN" altLang="en-US" dirty="0"/>
              <a:t>是目标客户群体、对被介绍人是否具有影响力 </a:t>
            </a:r>
            <a:endParaRPr lang="en-US" altLang="zh-CN" dirty="0"/>
          </a:p>
          <a:p>
            <a:pPr marL="228600" lvl="0" indent="-228600" eaLnBrk="1" hangingPunct="1"/>
            <a:r>
              <a:rPr lang="zh-CN" altLang="en-US" dirty="0"/>
              <a:t>2、转介绍市场对后续业务发展的重要性</a:t>
            </a:r>
            <a:endParaRPr lang="zh-CN" altLang="en-US" dirty="0"/>
          </a:p>
          <a:p>
            <a:pPr marL="228600" lvl="0" indent="-228600" eaLnBrk="1" hangingPunct="1"/>
            <a:r>
              <a:rPr lang="zh-CN" altLang="en-US" dirty="0"/>
              <a:t>3、让员工列出其潜在的转介绍市场，并制定拜访计划</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21506" name="Rectangle 2"/>
          <p:cNvSpPr>
            <a:spLocks noGrp="1" noTextEdit="1"/>
          </p:cNvSpPr>
          <p:nvPr>
            <p:ph type="sldImg"/>
          </p:nvPr>
        </p:nvSpPr>
        <p:spPr>
          <a:xfrm>
            <a:off x="842963" y="741363"/>
            <a:ext cx="4951412" cy="3713162"/>
          </a:xfrm>
          <a:ln/>
        </p:spPr>
      </p:sp>
      <p:sp>
        <p:nvSpPr>
          <p:cNvPr id="21507" name="Rectangle 3"/>
          <p:cNvSpPr>
            <a:spLocks noGrp="1"/>
          </p:cNvSpPr>
          <p:nvPr>
            <p:ph type="body" idx="1"/>
          </p:nvPr>
        </p:nvSpPr>
        <p:spPr>
          <a:xfrm>
            <a:off x="884238" y="4702175"/>
            <a:ext cx="4868862" cy="4457700"/>
          </a:xfrm>
          <a:ln/>
        </p:spPr>
        <p:txBody>
          <a:bodyPr vert="horz" wrap="square" lIns="95418" tIns="47709" rIns="95418" bIns="47709" anchor="ctr" anchorCtr="0"/>
          <a:p>
            <a:pPr marL="228600" lvl="0" indent="-228600" eaLnBrk="1" hangingPunct="1"/>
            <a:r>
              <a:rPr lang="en-US" altLang="zh-CN" dirty="0"/>
              <a:t>1</a:t>
            </a:r>
            <a:r>
              <a:rPr lang="zh-CN" altLang="en-US" dirty="0"/>
              <a:t>、了解业务代表之前的销售经验</a:t>
            </a:r>
            <a:endParaRPr lang="zh-CN" altLang="en-US" dirty="0"/>
          </a:p>
          <a:p>
            <a:pPr marL="228600" lvl="0" indent="-228600" eaLnBrk="1" hangingPunct="1"/>
            <a:r>
              <a:rPr lang="en-US" altLang="zh-CN" dirty="0"/>
              <a:t>2</a:t>
            </a:r>
            <a:r>
              <a:rPr lang="zh-CN" altLang="en-US" dirty="0"/>
              <a:t>、强调陌生拜访对业务代表人生的重要意义：能力提升、心态提升、人脉提升 </a:t>
            </a:r>
            <a:endParaRPr lang="zh-CN" altLang="en-US" dirty="0"/>
          </a:p>
          <a:p>
            <a:pPr marL="228600" lvl="0" indent="-228600" eaLnBrk="1" hangingPunct="1"/>
            <a:r>
              <a:rPr lang="en-US" altLang="zh-CN" dirty="0"/>
              <a:t>3</a:t>
            </a:r>
            <a:r>
              <a:rPr lang="zh-CN" altLang="en-US" dirty="0"/>
              <a:t>、陌生拜访的方式方法介绍：陌生拜访的目标选择，自身的准备，从上到下或隔层扫楼</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23554" name="Rectangle 2"/>
          <p:cNvSpPr>
            <a:spLocks noGrp="1" noTextEdit="1"/>
          </p:cNvSpPr>
          <p:nvPr>
            <p:ph type="sldImg"/>
          </p:nvPr>
        </p:nvSpPr>
        <p:spPr>
          <a:xfrm>
            <a:off x="842963" y="741363"/>
            <a:ext cx="4951412" cy="3713162"/>
          </a:xfrm>
          <a:ln/>
        </p:spPr>
      </p:sp>
      <p:sp>
        <p:nvSpPr>
          <p:cNvPr id="23555" name="Rectangle 3"/>
          <p:cNvSpPr>
            <a:spLocks noGrp="1"/>
          </p:cNvSpPr>
          <p:nvPr>
            <p:ph type="body" idx="1"/>
          </p:nvPr>
        </p:nvSpPr>
        <p:spPr>
          <a:xfrm>
            <a:off x="884238" y="4702175"/>
            <a:ext cx="4868862" cy="4457700"/>
          </a:xfrm>
          <a:ln/>
        </p:spPr>
        <p:txBody>
          <a:bodyPr vert="horz" wrap="square" lIns="95418" tIns="47709" rIns="95418" bIns="47709" anchor="ctr" anchorCtr="0"/>
          <a:p>
            <a:pPr marL="228600" lvl="0" indent="-228600" eaLnBrk="1" hangingPunct="1"/>
            <a:r>
              <a:rPr lang="zh-CN" altLang="en-US" dirty="0"/>
              <a:t>路演的地区选择标准</a:t>
            </a:r>
            <a:endParaRPr lang="zh-CN" altLang="en-US" dirty="0"/>
          </a:p>
          <a:p>
            <a:pPr marL="228600" lvl="0" indent="-228600" eaLnBrk="1" hangingPunct="1"/>
            <a:r>
              <a:rPr lang="zh-CN" altLang="en-US" dirty="0"/>
              <a:t>路演最重要的是吸引客户的驻足</a:t>
            </a:r>
            <a:endParaRPr lang="zh-CN" altLang="en-US" dirty="0"/>
          </a:p>
          <a:p>
            <a:pPr marL="228600" lvl="0" indent="-228600" eaLnBrk="1" hangingPunct="1"/>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25602" name="Rectangle 2"/>
          <p:cNvSpPr>
            <a:spLocks noGrp="1" noTextEdit="1"/>
          </p:cNvSpPr>
          <p:nvPr>
            <p:ph type="sldImg"/>
          </p:nvPr>
        </p:nvSpPr>
        <p:spPr>
          <a:xfrm>
            <a:off x="842963" y="741363"/>
            <a:ext cx="4951412" cy="3713162"/>
          </a:xfrm>
          <a:ln/>
        </p:spPr>
      </p:sp>
      <p:sp>
        <p:nvSpPr>
          <p:cNvPr id="25603" name="Rectangle 3"/>
          <p:cNvSpPr>
            <a:spLocks noGrp="1"/>
          </p:cNvSpPr>
          <p:nvPr>
            <p:ph type="body" idx="1"/>
          </p:nvPr>
        </p:nvSpPr>
        <p:spPr>
          <a:xfrm>
            <a:off x="884238" y="4702175"/>
            <a:ext cx="4868862" cy="4457700"/>
          </a:xfrm>
          <a:ln/>
        </p:spPr>
        <p:txBody>
          <a:bodyPr vert="horz" wrap="square" lIns="95418" tIns="47709" rIns="95418" bIns="47709" anchor="ctr" anchorCtr="0"/>
          <a:p>
            <a:pPr lvl="0" eaLnBrk="1" hangingPunct="1"/>
            <a:r>
              <a:rPr lang="zh-CN" altLang="en-US" dirty="0"/>
              <a:t>介绍驻店、路演最重要的就是积极主动。</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29698" name="Rectangle 2"/>
          <p:cNvSpPr>
            <a:spLocks noGrp="1" noTextEdit="1"/>
          </p:cNvSpPr>
          <p:nvPr>
            <p:ph type="sldImg"/>
          </p:nvPr>
        </p:nvSpPr>
        <p:spPr>
          <a:ln/>
        </p:spPr>
      </p:sp>
      <p:sp>
        <p:nvSpPr>
          <p:cNvPr id="29699" name="Rectangle 3"/>
          <p:cNvSpPr>
            <a:spLocks noGrp="1"/>
          </p:cNvSpPr>
          <p:nvPr>
            <p:ph type="body" idx="1"/>
          </p:nvPr>
        </p:nvSpPr>
        <p:spPr>
          <a:ln/>
        </p:spPr>
        <p:txBody>
          <a:bodyPr vert="horz" wrap="square" lIns="95418" tIns="47709" rIns="95418" bIns="47709" anchor="ctr" anchorCtr="0"/>
          <a:p>
            <a:pPr lvl="0" eaLnBrk="1" hangingPunct="1"/>
            <a:r>
              <a:rPr lang="zh-CN" altLang="en-US" dirty="0"/>
              <a:t>1、在讲销售话术的时候，不能仅仅只讲话术，重要的是话术后面的逻辑，让学员明白为什么要这样说，让学员能够举一反三。</a:t>
            </a:r>
            <a:endParaRPr lang="zh-CN" altLang="en-US" dirty="0"/>
          </a:p>
          <a:p>
            <a:pPr lvl="0" eaLnBrk="1" hangingPunct="1"/>
            <a:r>
              <a:rPr lang="zh-CN" altLang="en-US" dirty="0"/>
              <a:t>2、分析销售的底层逻辑，（并可就此逻辑结合实际进行练习，如借钱、求婚、扫地等都可以）引出销售的流程：</a:t>
            </a:r>
            <a:endParaRPr lang="zh-CN" altLang="en-US" dirty="0"/>
          </a:p>
          <a:p>
            <a:pPr lvl="0" eaLnBrk="1" hangingPunct="1"/>
            <a:r>
              <a:rPr lang="zh-CN" altLang="en-US" dirty="0"/>
              <a:t>客户为什么要买：就是指找到客户的需求，找出的需求一定是我们的产品能够满足的</a:t>
            </a:r>
            <a:endParaRPr lang="zh-CN" altLang="en-US" dirty="0"/>
          </a:p>
          <a:p>
            <a:pPr lvl="0" eaLnBrk="1" hangingPunct="1"/>
            <a:r>
              <a:rPr lang="zh-CN" altLang="en-US" dirty="0"/>
              <a:t>客户为什么要在我这里买：介绍自己的产品满足客户的需求</a:t>
            </a:r>
            <a:endParaRPr lang="zh-CN" altLang="en-US" dirty="0"/>
          </a:p>
          <a:p>
            <a:pPr lvl="0" eaLnBrk="1" hangingPunct="1"/>
            <a:r>
              <a:rPr lang="zh-CN" altLang="en-US" dirty="0"/>
              <a:t>客户为什么现在要在我这里买：及时的促成，否则前功尽弃。</a:t>
            </a:r>
            <a:endParaRPr lang="zh-CN" altLang="en-US" dirty="0"/>
          </a:p>
          <a:p>
            <a:pPr lvl="0" eaLnBrk="1" hangingPunct="1"/>
            <a:r>
              <a:rPr lang="zh-CN" altLang="en-US" dirty="0"/>
              <a:t>也可结合赵本山的小品</a:t>
            </a:r>
            <a:r>
              <a:rPr lang="en-US" altLang="zh-CN" dirty="0"/>
              <a:t>《</a:t>
            </a:r>
            <a:r>
              <a:rPr lang="zh-CN" altLang="en-US" dirty="0"/>
              <a:t>卖拐</a:t>
            </a:r>
            <a:r>
              <a:rPr lang="en-US" altLang="zh-CN" dirty="0"/>
              <a:t>》</a:t>
            </a:r>
            <a:r>
              <a:rPr lang="zh-CN" altLang="en-US" dirty="0"/>
              <a:t>分析这个逻辑，需要注意的是对学员的引导。</a:t>
            </a:r>
            <a:endParaRPr lang="zh-CN" altLang="en-US" dirty="0"/>
          </a:p>
          <a:p>
            <a:pPr lvl="0" eaLnBrk="1" hangingPunct="1"/>
            <a:r>
              <a:rPr lang="zh-CN" altLang="en-US" dirty="0"/>
              <a:t>不从道德的层面来看，</a:t>
            </a:r>
            <a:r>
              <a:rPr lang="en-US" altLang="zh-CN" dirty="0"/>
              <a:t>《</a:t>
            </a:r>
            <a:r>
              <a:rPr lang="zh-CN" altLang="en-US" dirty="0"/>
              <a:t>卖拐</a:t>
            </a:r>
            <a:r>
              <a:rPr lang="en-US" altLang="zh-CN" dirty="0"/>
              <a:t>》</a:t>
            </a:r>
            <a:r>
              <a:rPr lang="zh-CN" altLang="en-US" dirty="0"/>
              <a:t>这个小品演绎的就是一个完美的销售流程，赵本山从接触面谈，需求分析，产品介绍和促成上的表现都可圈可点，他也具备一名销售人员所必需具备的优秀特质：自信，积极主动，善于观察，思维清楚，知识渊博等特点。（注意：学员可能会觉得销售就是忽悠，需做好引导）</a:t>
            </a:r>
            <a:endParaRPr lang="en-US" altLang="zh-CN" dirty="0"/>
          </a:p>
        </p:txBody>
      </p:sp>
    </p:spTree>
  </p:cSld>
  <p:clrMapOvr>
    <a:overrideClrMapping bg1="lt1" tx1="dk1" bg2="lt2" tx2="dk2" accent1="accent1" accent2="accent2" accent3="accent3" accent4="accent4" accent5="accent5" accent6="accent6" hlink="hlink" folHlink="folHlink"/>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31746" name="Rectangle 2"/>
          <p:cNvSpPr>
            <a:spLocks noGrp="1" noTextEdit="1"/>
          </p:cNvSpPr>
          <p:nvPr>
            <p:ph type="sldImg"/>
          </p:nvPr>
        </p:nvSpPr>
        <p:spPr>
          <a:ln/>
        </p:spPr>
      </p:sp>
      <p:sp>
        <p:nvSpPr>
          <p:cNvPr id="31747" name="Rectangle 3"/>
          <p:cNvSpPr>
            <a:spLocks noGrp="1"/>
          </p:cNvSpPr>
          <p:nvPr>
            <p:ph type="body" idx="1"/>
          </p:nvPr>
        </p:nvSpPr>
        <p:spPr>
          <a:ln/>
        </p:spPr>
        <p:txBody>
          <a:bodyPr vert="horz" wrap="square" lIns="95418" tIns="47709" rIns="95418" bIns="47709" anchor="ctr" anchorCtr="0"/>
          <a:p>
            <a:pPr lvl="0" eaLnBrk="1" hangingPunct="1"/>
            <a:r>
              <a:rPr lang="en-US" altLang="zh-CN" dirty="0"/>
              <a:t>1</a:t>
            </a:r>
            <a:r>
              <a:rPr lang="zh-CN" altLang="en-US" dirty="0"/>
              <a:t>、实际的销售过程并不是一帆风顺的，我们会面临客户的拒绝，推诿，漠视等一些列问题，当我们遇到这些问题时应该怎么办，引发学员去思考这个问题？</a:t>
            </a:r>
            <a:endParaRPr lang="zh-CN" altLang="en-US" dirty="0"/>
          </a:p>
          <a:p>
            <a:pPr lvl="0" eaLnBrk="1" hangingPunct="1"/>
            <a:r>
              <a:rPr lang="en-US" altLang="zh-CN" dirty="0"/>
              <a:t>2</a:t>
            </a:r>
            <a:r>
              <a:rPr lang="zh-CN" altLang="en-US" dirty="0"/>
              <a:t>、着重说明在销售的过程中，销售人员的思维一定要清楚，目标一定要明确，当我们在销售过程中出现偏离销售目标的时候，一定要有意识的对客户进行引导，让销售往我们预期的方向发展，即销售人员要主导整个销售流程，而不是由客户去主导。</a:t>
            </a:r>
            <a:endParaRPr lang="zh-CN" altLang="en-US" dirty="0"/>
          </a:p>
          <a:p>
            <a:pPr lvl="0" eaLnBrk="1" hangingPunct="1"/>
            <a:r>
              <a:rPr lang="zh-CN" altLang="en-US" dirty="0"/>
              <a:t>例如：当我们在给客户介绍信用卡取现的时候，客户一般来说会问我们的手续费或利息问题，当我们回答完客户这个问题后就要引导接受我们的产品，或者让他关注于我们卡片的其他优势，最终目标还是促成，而不要在费用和利息上走的太远。</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33794" name="Rectangle 2"/>
          <p:cNvSpPr>
            <a:spLocks noGrp="1" noTextEdit="1"/>
          </p:cNvSpPr>
          <p:nvPr>
            <p:ph type="sldImg"/>
          </p:nvPr>
        </p:nvSpPr>
        <p:spPr>
          <a:ln/>
        </p:spPr>
      </p:sp>
      <p:sp>
        <p:nvSpPr>
          <p:cNvPr id="33795" name="Rectangle 3"/>
          <p:cNvSpPr>
            <a:spLocks noGrp="1"/>
          </p:cNvSpPr>
          <p:nvPr>
            <p:ph type="body" idx="1"/>
          </p:nvPr>
        </p:nvSpPr>
        <p:spPr>
          <a:ln/>
        </p:spPr>
        <p:txBody>
          <a:bodyPr vert="horz" wrap="square" lIns="95418" tIns="47709" rIns="95418" bIns="47709" anchor="ctr" anchorCtr="0"/>
          <a:p>
            <a:pPr lvl="0" eaLnBrk="1" hangingPunct="1"/>
            <a:r>
              <a:rPr lang="zh-CN" altLang="en-US" dirty="0"/>
              <a:t>引入信用卡销售流程</a:t>
            </a:r>
            <a:endParaRPr lang="zh-CN" altLang="en-US" dirty="0"/>
          </a:p>
          <a:p>
            <a:pPr lvl="0" eaLnBrk="1" hangingPunct="1"/>
            <a:r>
              <a:rPr lang="zh-CN" altLang="en-US" dirty="0"/>
              <a:t>1、销售流程是一种共性，他存在于我们的日常销售工作中，这四个流程并不是割裂开的，而是存在着内在的联系；而在一次销售过程中，这四个流程并不一定会全部出现。例如：有的客户一见面就可以直接促成，并且成功，似乎没有经过前面三个流程，而实际上，前面的三个流程也许是由其他人完成或这自己之前完成的，因此这是一种共性的东西，不必在个别点上和学员纠结。</a:t>
            </a:r>
            <a:endParaRPr lang="zh-CN" altLang="en-US" dirty="0"/>
          </a:p>
          <a:p>
            <a:pPr lvl="0" eaLnBrk="1" hangingPunct="1"/>
            <a:r>
              <a:rPr lang="zh-CN" altLang="en-US" dirty="0"/>
              <a:t>2、告知学员我们会有信用卡销售通关，就是按照这个逻辑来做的，再次引起他们的重视。</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35842" name="Rectangle 2"/>
          <p:cNvSpPr>
            <a:spLocks noGrp="1" noTextEdit="1"/>
          </p:cNvSpPr>
          <p:nvPr>
            <p:ph type="sldImg"/>
          </p:nvPr>
        </p:nvSpPr>
        <p:spPr>
          <a:ln/>
        </p:spPr>
      </p:sp>
      <p:sp>
        <p:nvSpPr>
          <p:cNvPr id="35843" name="Rectangle 3"/>
          <p:cNvSpPr>
            <a:spLocks noGrp="1"/>
          </p:cNvSpPr>
          <p:nvPr>
            <p:ph type="body" idx="1"/>
          </p:nvPr>
        </p:nvSpPr>
        <p:spPr>
          <a:ln/>
        </p:spPr>
        <p:txBody>
          <a:bodyPr vert="horz" wrap="square" lIns="95418" tIns="47709" rIns="95418" bIns="47709" anchor="ctr" anchorCtr="0"/>
          <a:p>
            <a:pPr lvl="0" eaLnBrk="1" hangingPunct="1"/>
            <a:r>
              <a:rPr lang="zh-CN" altLang="en-US" dirty="0"/>
              <a:t>对接触面谈关键要素进行说明：</a:t>
            </a:r>
            <a:endParaRPr lang="zh-CN" altLang="en-US" dirty="0"/>
          </a:p>
          <a:p>
            <a:pPr lvl="0" eaLnBrk="1" hangingPunct="1"/>
            <a:r>
              <a:rPr lang="zh-CN" altLang="en-US" dirty="0"/>
              <a:t>1、接触面谈是销售的第一关，阐述其重要性；再介绍影响第一影响的各种因素。</a:t>
            </a:r>
            <a:endParaRPr lang="zh-CN" altLang="en-US" dirty="0"/>
          </a:p>
          <a:p>
            <a:pPr lvl="0" eaLnBrk="1" hangingPunct="1"/>
            <a:r>
              <a:rPr lang="zh-CN" altLang="en-US" dirty="0"/>
              <a:t>2、对于路演，驻足率很重要，要求业务人员主动出击，并且能够让客户能够在摊位前留下并愿意听业务人员的介绍</a:t>
            </a:r>
            <a:endParaRPr lang="zh-CN" altLang="en-US" dirty="0"/>
          </a:p>
          <a:p>
            <a:pPr lvl="0" eaLnBrk="1" hangingPunct="1"/>
            <a:r>
              <a:rPr lang="zh-CN" altLang="en-US" dirty="0"/>
              <a:t>3、接触面谈最重要的目的就是为了让销售流程能延续下去，如果一开始就得到客户的拒绝，销售就很难再继续进行下去。因此我们在接触面谈时不要问一些没有回旋余地的问题，例如：你需要办信用卡吗？客户很容易回答不需要，这时话题的进行就很难了；但如果你问，有没有办过，这是无论客户回答有或无，都能顺利的将话题延续下去。</a:t>
            </a:r>
            <a:endParaRPr lang="zh-CN" altLang="en-US" dirty="0"/>
          </a:p>
          <a:p>
            <a:pPr lvl="0" eaLnBrk="1" hangingPunct="1"/>
            <a:r>
              <a:rPr lang="zh-CN" altLang="en-US" dirty="0"/>
              <a:t>4、提问学员：你在与客户见面时，第一句话是什么？（很多学员肯定会说是自我介绍，继续追问即可）</a:t>
            </a:r>
            <a:endParaRPr lang="zh-CN" altLang="en-US" dirty="0"/>
          </a:p>
          <a:p>
            <a:pPr lvl="0" eaLnBrk="1" hangingPunct="1"/>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37890" name="Rectangle 2"/>
          <p:cNvSpPr>
            <a:spLocks noGrp="1" noTextEdit="1"/>
          </p:cNvSpPr>
          <p:nvPr>
            <p:ph type="sldImg"/>
          </p:nvPr>
        </p:nvSpPr>
        <p:spPr>
          <a:ln/>
        </p:spPr>
      </p:sp>
      <p:sp>
        <p:nvSpPr>
          <p:cNvPr id="37891" name="Rectangle 3"/>
          <p:cNvSpPr>
            <a:spLocks noGrp="1"/>
          </p:cNvSpPr>
          <p:nvPr>
            <p:ph type="body" idx="1"/>
          </p:nvPr>
        </p:nvSpPr>
        <p:spPr>
          <a:ln/>
        </p:spPr>
        <p:txBody>
          <a:bodyPr vert="horz" wrap="square" lIns="95418" tIns="47709" rIns="95418" bIns="47709" anchor="ctr" anchorCtr="0"/>
          <a:p>
            <a:pPr lvl="0" eaLnBrk="1" hangingPunct="1"/>
            <a:r>
              <a:rPr lang="zh-CN" altLang="en-US" dirty="0"/>
              <a:t>给一种示范话术，根据客户的不同回答进行并现场演练，让学员明白开门话术的目的就是让销售能够延续下来</a:t>
            </a:r>
            <a:endParaRPr lang="zh-CN" altLang="en-US" dirty="0"/>
          </a:p>
          <a:p>
            <a:pPr lvl="0" eaLnBrk="1" hangingPunct="1"/>
            <a:r>
              <a:rPr lang="zh-CN" altLang="en-US" dirty="0"/>
              <a:t>提醒学员避免用</a:t>
            </a:r>
            <a:r>
              <a:rPr lang="zh-CN" altLang="en-US" dirty="0">
                <a:latin typeface="Arial" panose="020B0604020202020204" pitchFamily="34" charset="0"/>
              </a:rPr>
              <a:t>“</a:t>
            </a:r>
            <a:r>
              <a:rPr lang="zh-CN" altLang="en-US" dirty="0"/>
              <a:t>要不要？</a:t>
            </a:r>
            <a:r>
              <a:rPr lang="zh-CN" altLang="en-US" dirty="0">
                <a:latin typeface="Arial" panose="020B0604020202020204" pitchFamily="34" charset="0"/>
              </a:rPr>
              <a:t>”“</a:t>
            </a:r>
            <a:r>
              <a:rPr lang="zh-CN" altLang="en-US" dirty="0"/>
              <a:t>想不想？</a:t>
            </a:r>
            <a:r>
              <a:rPr lang="zh-CN" altLang="en-US" dirty="0">
                <a:latin typeface="Arial" panose="020B0604020202020204" pitchFamily="34" charset="0"/>
              </a:rPr>
              <a:t>”“</a:t>
            </a:r>
            <a:r>
              <a:rPr lang="zh-CN" altLang="en-US" dirty="0"/>
              <a:t>有没人需要？</a:t>
            </a:r>
            <a:r>
              <a:rPr lang="zh-CN" altLang="en-US" dirty="0">
                <a:latin typeface="Arial" panose="020B0604020202020204" pitchFamily="34" charset="0"/>
              </a:rPr>
              <a:t>”</a:t>
            </a:r>
            <a:r>
              <a:rPr lang="zh-CN" altLang="en-US" dirty="0"/>
              <a:t>之类的话术，因为这种话术很容易引起客户的否定回答，而不利于销售的延续性</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39938" name="幻灯片图像占位符 1"/>
          <p:cNvSpPr>
            <a:spLocks noGrp="1" noRot="1" noChangeAspect="1" noTextEdit="1"/>
          </p:cNvSpPr>
          <p:nvPr>
            <p:ph type="sldImg"/>
          </p:nvPr>
        </p:nvSpPr>
        <p:spPr>
          <a:ln/>
        </p:spPr>
      </p:sp>
      <p:sp>
        <p:nvSpPr>
          <p:cNvPr id="39939" name="备注占位符 2"/>
          <p:cNvSpPr>
            <a:spLocks noGrp="1"/>
          </p:cNvSpPr>
          <p:nvPr>
            <p:ph type="body" idx="1"/>
          </p:nvPr>
        </p:nvSpPr>
        <p:spPr>
          <a:ln/>
        </p:spPr>
        <p:txBody>
          <a:bodyPr vert="horz" wrap="square" lIns="95418" tIns="47709" rIns="95418" bIns="47709" anchor="ctr" anchorCtr="0"/>
          <a:p>
            <a:pPr lvl="0" eaLnBrk="1" hangingPunct="1"/>
            <a:r>
              <a:rPr lang="zh-CN" altLang="en-US" dirty="0"/>
              <a:t>给一些示范话术，并探讨客户对此类话术的反应，以及我们的应对方式</a:t>
            </a:r>
            <a:endParaRPr lang="zh-CN" altLang="en-US" dirty="0"/>
          </a:p>
          <a:p>
            <a:pPr lvl="0" eaLnBrk="1" hangingPunct="1"/>
            <a:r>
              <a:rPr lang="zh-CN" altLang="en-US" dirty="0"/>
              <a:t>如有更好的话术，可讨论之</a:t>
            </a:r>
            <a:endParaRPr lang="zh-CN" altLang="en-US" dirty="0"/>
          </a:p>
        </p:txBody>
      </p:sp>
      <p:sp>
        <p:nvSpPr>
          <p:cNvPr id="39940" name="灯片编号占位符 3"/>
          <p:cNvSpPr txBox="1">
            <a:spLocks noGrp="1"/>
          </p:cNvSpPr>
          <p:nvPr/>
        </p:nvSpPr>
        <p:spPr>
          <a:xfrm>
            <a:off x="3762375" y="9409113"/>
            <a:ext cx="2878138" cy="495300"/>
          </a:xfrm>
          <a:prstGeom prst="rect">
            <a:avLst/>
          </a:prstGeom>
          <a:noFill/>
          <a:ln w="9525">
            <a:noFill/>
          </a:ln>
        </p:spPr>
        <p:txBody>
          <a:bodyPr lIns="95418" tIns="47709" rIns="95418" bIns="47709" anchor="b" anchorCtr="0"/>
          <a:p>
            <a:pPr lvl="0" algn="r" defTabSz="954405" eaLnBrk="1" hangingPunct="1"/>
            <a:fld id="{9A0DB2DC-4C9A-4742-B13C-FB6460FD3503}" type="slidenum">
              <a:rPr lang="zh-CN" altLang="en-US" sz="1300" b="0" dirty="0">
                <a:latin typeface="Times New Roman" panose="02020603050405020304" pitchFamily="18" charset="0"/>
                <a:ea typeface="PMingLiU" pitchFamily="18" charset="-120"/>
              </a:rPr>
            </a:fld>
            <a:endParaRPr lang="zh-CN" altLang="en-US" sz="1300" b="0" dirty="0">
              <a:latin typeface="Times New Roman" panose="02020603050405020304" pitchFamily="18" charset="0"/>
              <a:ea typeface="PMingLiU" pitchFamily="18" charset="-120"/>
            </a:endParaRPr>
          </a:p>
        </p:txBody>
      </p:sp>
    </p:spTree>
  </p:cSld>
  <p:clrMapOvr>
    <a:overrideClrMapping bg1="lt1" tx1="dk1" bg2="lt2" tx2="dk2" accent1="accent1" accent2="accent2" accent3="accent3" accent4="accent4" accent5="accent5" accent6="accent6" hlink="hlink" folHlink="folHlink"/>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41986" name="Rectangle 2"/>
          <p:cNvSpPr>
            <a:spLocks noGrp="1" noTextEdit="1"/>
          </p:cNvSpPr>
          <p:nvPr>
            <p:ph type="sldImg"/>
          </p:nvPr>
        </p:nvSpPr>
        <p:spPr>
          <a:ln/>
        </p:spPr>
      </p:sp>
      <p:sp>
        <p:nvSpPr>
          <p:cNvPr id="41987" name="Rectangle 3"/>
          <p:cNvSpPr>
            <a:spLocks noGrp="1"/>
          </p:cNvSpPr>
          <p:nvPr>
            <p:ph type="body" idx="1"/>
          </p:nvPr>
        </p:nvSpPr>
        <p:spPr>
          <a:ln/>
        </p:spPr>
        <p:txBody>
          <a:bodyPr vert="horz" wrap="square" lIns="95418" tIns="47709" rIns="95418" bIns="47709" anchor="ctr" anchorCtr="0"/>
          <a:p>
            <a:pPr lvl="0" eaLnBrk="1" hangingPunct="1"/>
            <a:r>
              <a:rPr lang="zh-CN" altLang="en-US" dirty="0"/>
              <a:t>接触面谈后进入下一个环节，需求分析，开始挖掘客户的需求，为后续的产品介绍埋下伏笔</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44034" name="Rectangle 2"/>
          <p:cNvSpPr>
            <a:spLocks noGrp="1" noTextEdit="1"/>
          </p:cNvSpPr>
          <p:nvPr>
            <p:ph type="sldImg"/>
          </p:nvPr>
        </p:nvSpPr>
        <p:spPr>
          <a:ln/>
        </p:spPr>
      </p:sp>
      <p:sp>
        <p:nvSpPr>
          <p:cNvPr id="44035" name="Rectangle 3"/>
          <p:cNvSpPr>
            <a:spLocks noGrp="1"/>
          </p:cNvSpPr>
          <p:nvPr>
            <p:ph type="body" idx="1"/>
          </p:nvPr>
        </p:nvSpPr>
        <p:spPr>
          <a:ln/>
        </p:spPr>
        <p:txBody>
          <a:bodyPr vert="horz" wrap="square" lIns="95418" tIns="47709" rIns="95418" bIns="47709" anchor="ctr" anchorCtr="0"/>
          <a:p>
            <a:pPr lvl="0" eaLnBrk="1" hangingPunct="1"/>
            <a:r>
              <a:rPr lang="en-US" altLang="zh-CN" dirty="0"/>
              <a:t>1</a:t>
            </a:r>
            <a:r>
              <a:rPr lang="zh-CN" altLang="en-US" dirty="0"/>
              <a:t>、让员工思考</a:t>
            </a:r>
            <a:r>
              <a:rPr lang="zh-CN" altLang="en-US" dirty="0">
                <a:latin typeface="Arial" panose="020B0604020202020204" pitchFamily="34" charset="0"/>
              </a:rPr>
              <a:t>“</a:t>
            </a:r>
            <a:r>
              <a:rPr lang="zh-CN" altLang="en-US" dirty="0"/>
              <a:t>买</a:t>
            </a:r>
            <a:r>
              <a:rPr lang="zh-CN" altLang="en-US" dirty="0">
                <a:latin typeface="Arial" panose="020B0604020202020204" pitchFamily="34" charset="0"/>
              </a:rPr>
              <a:t>”</a:t>
            </a:r>
            <a:r>
              <a:rPr lang="zh-CN" altLang="en-US" dirty="0"/>
              <a:t>和</a:t>
            </a:r>
            <a:r>
              <a:rPr lang="zh-CN" altLang="en-US" dirty="0">
                <a:latin typeface="Arial" panose="020B0604020202020204" pitchFamily="34" charset="0"/>
              </a:rPr>
              <a:t>“</a:t>
            </a:r>
            <a:r>
              <a:rPr lang="zh-CN" altLang="en-US" dirty="0"/>
              <a:t>卖</a:t>
            </a:r>
            <a:r>
              <a:rPr lang="zh-CN" altLang="en-US" dirty="0">
                <a:latin typeface="Arial" panose="020B0604020202020204" pitchFamily="34" charset="0"/>
              </a:rPr>
              <a:t>”</a:t>
            </a:r>
            <a:r>
              <a:rPr lang="zh-CN" altLang="en-US" dirty="0"/>
              <a:t>的关系，让学员明白不能一见到客户的面就开始滔滔不绝的介绍我们的产品，销售就是发现需求，满足需求的过程，所以说哪里有需求，哪里就有市场。可以结合房价为什么高而不下的原因，就是因为买的人多（炒的人多），其他商品也一样</a:t>
            </a:r>
            <a:endParaRPr lang="zh-CN" altLang="en-US" dirty="0"/>
          </a:p>
          <a:p>
            <a:pPr lvl="0" eaLnBrk="1" hangingPunct="1"/>
            <a:r>
              <a:rPr lang="en-US" altLang="zh-CN" dirty="0"/>
              <a:t>2</a:t>
            </a:r>
            <a:r>
              <a:rPr lang="zh-CN" altLang="en-US" dirty="0"/>
              <a:t>、人们为什么会有需求？简单的就两个：解决问题和实现快乐，分别举例说明之，并进一步引导学员思考信用卡能满足客户那些需求？</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46082" name="Rectangle 2"/>
          <p:cNvSpPr>
            <a:spLocks noGrp="1" noTextEdit="1"/>
          </p:cNvSpPr>
          <p:nvPr>
            <p:ph type="sldImg"/>
          </p:nvPr>
        </p:nvSpPr>
        <p:spPr>
          <a:ln/>
        </p:spPr>
      </p:sp>
      <p:sp>
        <p:nvSpPr>
          <p:cNvPr id="46083" name="Rectangle 3"/>
          <p:cNvSpPr>
            <a:spLocks noGrp="1"/>
          </p:cNvSpPr>
          <p:nvPr>
            <p:ph type="body" idx="1"/>
          </p:nvPr>
        </p:nvSpPr>
        <p:spPr>
          <a:ln/>
        </p:spPr>
        <p:txBody>
          <a:bodyPr vert="horz" wrap="square" lIns="95418" tIns="47709" rIns="95418" bIns="47709" anchor="ctr" anchorCtr="0"/>
          <a:p>
            <a:pPr lvl="0" eaLnBrk="1" hangingPunct="1"/>
            <a:r>
              <a:rPr lang="zh-CN" altLang="en-US" dirty="0"/>
              <a:t>结合人们的最基本的行为动机提出需求激发的方法：危机行销和催眠行销，并结合话术讲解之。故事</a:t>
            </a:r>
            <a:r>
              <a:rPr lang="en-US" altLang="zh-CN" dirty="0"/>
              <a:t>/</a:t>
            </a:r>
            <a:r>
              <a:rPr lang="zh-CN" altLang="en-US" dirty="0"/>
              <a:t>案例行销法也是一种很好的需求分析方法，主要是通过故事或案例引起客户的共鸣，是目前保险销售常用的方法，也是一种比较有效的需求分析方法，可结合实际分析之</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48130" name="Rectangle 2"/>
          <p:cNvSpPr>
            <a:spLocks noGrp="1" noTextEdit="1"/>
          </p:cNvSpPr>
          <p:nvPr>
            <p:ph type="sldImg"/>
          </p:nvPr>
        </p:nvSpPr>
        <p:spPr>
          <a:ln/>
        </p:spPr>
      </p:sp>
      <p:sp>
        <p:nvSpPr>
          <p:cNvPr id="48131" name="Rectangle 3"/>
          <p:cNvSpPr>
            <a:spLocks noGrp="1"/>
          </p:cNvSpPr>
          <p:nvPr>
            <p:ph type="body" idx="1"/>
          </p:nvPr>
        </p:nvSpPr>
        <p:spPr>
          <a:ln/>
        </p:spPr>
        <p:txBody>
          <a:bodyPr vert="horz" wrap="square" lIns="95418" tIns="47709" rIns="95418" bIns="47709" anchor="ctr" anchorCtr="0"/>
          <a:p>
            <a:pPr lvl="0" eaLnBrk="1" hangingPunct="1"/>
            <a:r>
              <a:rPr lang="zh-CN" altLang="en-US" dirty="0"/>
              <a:t>就各种提问方式逐一讲解，并探讨使用时机及客户的可能应对</a:t>
            </a:r>
            <a:endParaRPr lang="zh-CN" altLang="en-US" dirty="0"/>
          </a:p>
          <a:p>
            <a:pPr lvl="0" eaLnBrk="1" hangingPunct="1"/>
            <a:r>
              <a:rPr lang="zh-CN" altLang="en-US" dirty="0"/>
              <a:t>合理利用提问会让销售事半功倍，提问需要有指向性，朝着自己有利或需要的方向</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50178" name="Rectangle 2"/>
          <p:cNvSpPr>
            <a:spLocks noGrp="1" noTextEdit="1"/>
          </p:cNvSpPr>
          <p:nvPr>
            <p:ph type="sldImg"/>
          </p:nvPr>
        </p:nvSpPr>
        <p:spPr>
          <a:ln/>
        </p:spPr>
      </p:sp>
      <p:sp>
        <p:nvSpPr>
          <p:cNvPr id="50179" name="Rectangle 3"/>
          <p:cNvSpPr>
            <a:spLocks noGrp="1"/>
          </p:cNvSpPr>
          <p:nvPr>
            <p:ph type="body" idx="1"/>
          </p:nvPr>
        </p:nvSpPr>
        <p:spPr>
          <a:ln/>
        </p:spPr>
        <p:txBody>
          <a:bodyPr vert="horz" wrap="square" lIns="95418" tIns="47709" rIns="95418" bIns="47709" anchor="ctr" anchorCtr="0"/>
          <a:p>
            <a:pPr lvl="0" eaLnBrk="1" hangingPunct="1"/>
            <a:r>
              <a:rPr lang="en-US" altLang="zh-CN" dirty="0"/>
              <a:t>1</a:t>
            </a:r>
            <a:r>
              <a:rPr lang="zh-CN" altLang="en-US" dirty="0"/>
              <a:t>、客户不会把自己的需求主动呈现在销售人员的面前，因此我们在需求分析之前需要给到客户一个刺激，这个刺激可能是一个问题，例如：有没有办过；可能是介绍产品</a:t>
            </a:r>
            <a:r>
              <a:rPr lang="en-US" altLang="zh-CN" dirty="0"/>
              <a:t>,</a:t>
            </a:r>
            <a:r>
              <a:rPr lang="zh-CN" altLang="en-US" dirty="0"/>
              <a:t>如：我们产品不错，你了解一下；或者是直接促成，根据客户的反应进行需求分析等。</a:t>
            </a:r>
            <a:endParaRPr lang="zh-CN" altLang="en-US" dirty="0"/>
          </a:p>
          <a:p>
            <a:pPr lvl="0" eaLnBrk="1" hangingPunct="1"/>
            <a:r>
              <a:rPr lang="en-US" altLang="zh-CN" dirty="0"/>
              <a:t>2</a:t>
            </a:r>
            <a:r>
              <a:rPr lang="zh-CN" altLang="en-US" dirty="0"/>
              <a:t>、所激发的需求，一定是与我们的产品特点有关的，否则需求的激发是无效的，可举例说明之</a:t>
            </a:r>
            <a:endParaRPr lang="zh-CN" altLang="en-US" dirty="0"/>
          </a:p>
          <a:p>
            <a:pPr lvl="0" eaLnBrk="1" hangingPunct="1"/>
            <a:r>
              <a:rPr lang="en-US" altLang="zh-CN" dirty="0"/>
              <a:t>3</a:t>
            </a:r>
            <a:r>
              <a:rPr lang="zh-CN" altLang="en-US" dirty="0"/>
              <a:t>、不要过于放大客户的需求，因我们的产品不能满足客户的需求而导致销售失败，可举例说明之</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52226" name="Rectangle 2"/>
          <p:cNvSpPr>
            <a:spLocks noGrp="1" noTextEdit="1"/>
          </p:cNvSpPr>
          <p:nvPr>
            <p:ph type="sldImg"/>
          </p:nvPr>
        </p:nvSpPr>
        <p:spPr>
          <a:ln/>
        </p:spPr>
      </p:sp>
      <p:sp>
        <p:nvSpPr>
          <p:cNvPr id="52227" name="Rectangle 3"/>
          <p:cNvSpPr>
            <a:spLocks noGrp="1"/>
          </p:cNvSpPr>
          <p:nvPr>
            <p:ph type="body" idx="1"/>
          </p:nvPr>
        </p:nvSpPr>
        <p:spPr>
          <a:ln/>
        </p:spPr>
        <p:txBody>
          <a:bodyPr vert="horz" wrap="square" lIns="95418" tIns="47709" rIns="95418" bIns="47709" anchor="ctr" anchorCtr="0"/>
          <a:p>
            <a:pPr lvl="0" eaLnBrk="1" hangingPunct="1"/>
            <a:r>
              <a:rPr lang="zh-CN" altLang="en-US" dirty="0"/>
              <a:t>结合客户的需求介绍我们的产品</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54274" name="Rectangle 2"/>
          <p:cNvSpPr>
            <a:spLocks noGrp="1" noTextEdit="1"/>
          </p:cNvSpPr>
          <p:nvPr>
            <p:ph type="sldImg"/>
          </p:nvPr>
        </p:nvSpPr>
        <p:spPr>
          <a:ln/>
        </p:spPr>
      </p:sp>
      <p:sp>
        <p:nvSpPr>
          <p:cNvPr id="54275" name="Rectangle 3"/>
          <p:cNvSpPr>
            <a:spLocks noGrp="1"/>
          </p:cNvSpPr>
          <p:nvPr>
            <p:ph type="body" idx="1"/>
          </p:nvPr>
        </p:nvSpPr>
        <p:spPr>
          <a:ln/>
        </p:spPr>
        <p:txBody>
          <a:bodyPr vert="horz" wrap="square" lIns="95418" tIns="47709" rIns="95418" bIns="47709" anchor="ctr" anchorCtr="0"/>
          <a:p>
            <a:pPr lvl="0" eaLnBrk="1" hangingPunct="1"/>
            <a:r>
              <a:rPr lang="zh-CN" altLang="en-US" dirty="0">
                <a:solidFill>
                  <a:schemeClr val="accent2"/>
                </a:solidFill>
                <a:latin typeface="Frutiger 45 Light" pitchFamily="2" charset="0"/>
                <a:ea typeface="宋体" panose="02010600030101010101" pitchFamily="2" charset="-122"/>
              </a:rPr>
              <a:t>先回顾一下我们的产</a:t>
            </a:r>
            <a:r>
              <a:rPr lang="zh-CN" altLang="en-US" dirty="0">
                <a:latin typeface="Frutiger 45 Light" pitchFamily="2" charset="0"/>
                <a:ea typeface="宋体" panose="02010600030101010101" pitchFamily="2" charset="-122"/>
              </a:rPr>
              <a:t>先回顾一下我们的产品所具备的功能，产品介绍就是就是利用一定的方法讲产品的功能转化为卖点，最常用的就是</a:t>
            </a:r>
            <a:r>
              <a:rPr lang="en-US" altLang="zh-CN" dirty="0">
                <a:latin typeface="Frutiger 45 Light" pitchFamily="2" charset="0"/>
                <a:ea typeface="宋体" panose="02010600030101010101" pitchFamily="2" charset="-122"/>
              </a:rPr>
              <a:t>FAB</a:t>
            </a:r>
            <a:r>
              <a:rPr lang="zh-CN" altLang="en-US" dirty="0">
                <a:latin typeface="Frutiger 45 Light" pitchFamily="2" charset="0"/>
                <a:ea typeface="宋体" panose="02010600030101010101" pitchFamily="2" charset="-122"/>
              </a:rPr>
              <a:t>介绍法</a:t>
            </a:r>
            <a:r>
              <a:rPr lang="zh-CN" altLang="en-US" dirty="0">
                <a:solidFill>
                  <a:schemeClr val="accent2"/>
                </a:solidFill>
                <a:latin typeface="Frutiger 45 Light" pitchFamily="2" charset="0"/>
                <a:ea typeface="宋体" panose="02010600030101010101" pitchFamily="2" charset="-122"/>
              </a:rPr>
              <a:t>品所具备的功能，产品介绍就是就是利用一定的方法讲产品的功能转化为卖点，最常用的就是</a:t>
            </a:r>
            <a:r>
              <a:rPr lang="en-US" altLang="zh-CN" dirty="0">
                <a:solidFill>
                  <a:schemeClr val="accent2"/>
                </a:solidFill>
                <a:latin typeface="Frutiger 45 Light" pitchFamily="2" charset="0"/>
                <a:ea typeface="宋体" panose="02010600030101010101" pitchFamily="2" charset="-122"/>
              </a:rPr>
              <a:t>FAB</a:t>
            </a:r>
            <a:r>
              <a:rPr lang="zh-CN" altLang="en-US" dirty="0">
                <a:solidFill>
                  <a:schemeClr val="accent2"/>
                </a:solidFill>
                <a:latin typeface="Frutiger 45 Light" pitchFamily="2" charset="0"/>
                <a:ea typeface="宋体" panose="02010600030101010101" pitchFamily="2" charset="-122"/>
              </a:rPr>
              <a:t>介绍法</a:t>
            </a:r>
            <a:endParaRPr lang="zh-CN" altLang="en-US" dirty="0">
              <a:solidFill>
                <a:schemeClr val="accent2"/>
              </a:solidFill>
              <a:latin typeface="Frutiger 45 Light" pitchFamily="2" charset="0"/>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56322" name="Rectangle 2"/>
          <p:cNvSpPr>
            <a:spLocks noGrp="1" noTextEdit="1"/>
          </p:cNvSpPr>
          <p:nvPr>
            <p:ph type="sldImg"/>
          </p:nvPr>
        </p:nvSpPr>
        <p:spPr>
          <a:ln/>
        </p:spPr>
      </p:sp>
      <p:sp>
        <p:nvSpPr>
          <p:cNvPr id="56323" name="Rectangle 3"/>
          <p:cNvSpPr>
            <a:spLocks noGrp="1"/>
          </p:cNvSpPr>
          <p:nvPr>
            <p:ph type="body" idx="1"/>
          </p:nvPr>
        </p:nvSpPr>
        <p:spPr>
          <a:ln/>
        </p:spPr>
        <p:txBody>
          <a:bodyPr vert="horz" wrap="square" lIns="95418" tIns="47709" rIns="95418" bIns="47709" anchor="ctr" anchorCtr="0"/>
          <a:p>
            <a:pPr lvl="0" eaLnBrk="1" hangingPunct="1"/>
            <a:r>
              <a:rPr lang="en-US" altLang="zh-CN" dirty="0"/>
              <a:t>FAB </a:t>
            </a:r>
            <a:r>
              <a:rPr lang="zh-CN" altLang="en-US" dirty="0"/>
              <a:t>是一种简单实用的利益推销法，介绍并分析</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58370" name="Rectangle 2"/>
          <p:cNvSpPr>
            <a:spLocks noGrp="1" noTextEdit="1"/>
          </p:cNvSpPr>
          <p:nvPr>
            <p:ph type="sldImg"/>
          </p:nvPr>
        </p:nvSpPr>
        <p:spPr>
          <a:ln/>
        </p:spPr>
      </p:sp>
      <p:sp>
        <p:nvSpPr>
          <p:cNvPr id="58371" name="Rectangle 3"/>
          <p:cNvSpPr>
            <a:spLocks noGrp="1"/>
          </p:cNvSpPr>
          <p:nvPr>
            <p:ph type="body" idx="1"/>
          </p:nvPr>
        </p:nvSpPr>
        <p:spPr>
          <a:ln/>
        </p:spPr>
        <p:txBody>
          <a:bodyPr vert="horz" wrap="square" lIns="95418" tIns="47709" rIns="95418" bIns="47709" anchor="ctr" anchorCtr="0"/>
          <a:p>
            <a:pPr lvl="0" eaLnBrk="1" hangingPunct="1"/>
            <a:r>
              <a:rPr lang="zh-CN" altLang="en-US" dirty="0"/>
              <a:t>举例或让学员练习</a:t>
            </a:r>
            <a:r>
              <a:rPr lang="en-US" altLang="zh-CN" dirty="0"/>
              <a:t>FAB</a:t>
            </a:r>
            <a:r>
              <a:rPr lang="zh-CN" altLang="en-US" dirty="0"/>
              <a:t>产品介绍法，并引出产品介绍的框架</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60418" name="Rectangle 2"/>
          <p:cNvSpPr>
            <a:spLocks noGrp="1" noTextEdit="1"/>
          </p:cNvSpPr>
          <p:nvPr>
            <p:ph type="sldImg"/>
          </p:nvPr>
        </p:nvSpPr>
        <p:spPr>
          <a:xfrm>
            <a:off x="842963" y="741363"/>
            <a:ext cx="4951412" cy="3713162"/>
          </a:xfrm>
          <a:ln/>
        </p:spPr>
      </p:sp>
      <p:sp>
        <p:nvSpPr>
          <p:cNvPr id="60419" name="Rectangle 3"/>
          <p:cNvSpPr>
            <a:spLocks noGrp="1"/>
          </p:cNvSpPr>
          <p:nvPr>
            <p:ph type="body" idx="1"/>
          </p:nvPr>
        </p:nvSpPr>
        <p:spPr>
          <a:xfrm>
            <a:off x="884238" y="4702175"/>
            <a:ext cx="4868862" cy="4457700"/>
          </a:xfrm>
          <a:ln/>
        </p:spPr>
        <p:txBody>
          <a:bodyPr vert="horz" wrap="square" lIns="95418" tIns="47709" rIns="95418" bIns="47709" anchor="ctr" anchorCtr="0"/>
          <a:p>
            <a:pPr lvl="0" eaLnBrk="1" hangingPunct="1"/>
            <a:r>
              <a:rPr lang="en-US" altLang="zh-CN" dirty="0"/>
              <a:t>1</a:t>
            </a:r>
            <a:r>
              <a:rPr lang="zh-CN" altLang="en-US" dirty="0"/>
              <a:t>、产品介绍并不是把产品的所有特点功能都介绍给客户，重点介绍核心部分，即产品能够给客户带来的好处或利益，准备部分是用来应对客户的疑问，如费用，利息等问题，客户不问，不要介绍</a:t>
            </a:r>
            <a:endParaRPr lang="zh-CN" altLang="en-US" dirty="0"/>
          </a:p>
          <a:p>
            <a:pPr lvl="0" eaLnBrk="1" hangingPunct="1"/>
            <a:r>
              <a:rPr lang="en-US" altLang="zh-CN" dirty="0"/>
              <a:t>2</a:t>
            </a:r>
            <a:r>
              <a:rPr lang="zh-CN" altLang="en-US" dirty="0"/>
              <a:t>、在这里可提问，问问学员他们认为客户对信用卡的了解程度，并进行打分，</a:t>
            </a:r>
            <a:r>
              <a:rPr lang="en-US" altLang="zh-CN" dirty="0"/>
              <a:t>1</a:t>
            </a:r>
            <a:r>
              <a:rPr lang="zh-CN" altLang="en-US" dirty="0"/>
              <a:t>为最低分，</a:t>
            </a:r>
            <a:r>
              <a:rPr lang="en-US" altLang="zh-CN" dirty="0"/>
              <a:t>10</a:t>
            </a:r>
            <a:r>
              <a:rPr lang="zh-CN" altLang="en-US" dirty="0"/>
              <a:t>为满分，一般来说，大部分的客户的得分并不高，也就意味着客户对信用卡的了解并不多，很多时候，客户所提出的问题都是来源于周围的一些模糊信息或者我们的业务人员的介绍，因此我们在介绍产品的时候不但不要给自己制造一些问题，同时要能够考虑到我们这句话说出去以后，客户可能会产生什么样的问题以及我们能否解决，即我们对销售的过程时候可控性，就像打斗地主一样，每次出牌之前你一定会考虑到能否收回来一样。</a:t>
            </a:r>
            <a:endParaRPr lang="zh-CN" altLang="en-US" dirty="0"/>
          </a:p>
          <a:p>
            <a:pPr lvl="0" eaLnBrk="1" hangingPunct="1"/>
            <a:r>
              <a:rPr lang="en-US" altLang="zh-CN" dirty="0"/>
              <a:t>2</a:t>
            </a:r>
            <a:r>
              <a:rPr lang="zh-CN" altLang="en-US" dirty="0"/>
              <a:t>、在产品介绍时，不能一次把产品的所有特点全部介绍，而应该分层次，有节制的介绍产品，以利于下一轮介绍或答疑，即</a:t>
            </a:r>
            <a:r>
              <a:rPr lang="zh-CN" altLang="en-US" dirty="0">
                <a:latin typeface="Arial" panose="020B0604020202020204" pitchFamily="34" charset="0"/>
              </a:rPr>
              <a:t>“</a:t>
            </a:r>
            <a:r>
              <a:rPr lang="zh-CN" altLang="en-US" dirty="0"/>
              <a:t>话留三分，希望永存</a:t>
            </a:r>
            <a:r>
              <a:rPr lang="zh-CN" altLang="en-US" dirty="0">
                <a:latin typeface="Arial" panose="020B0604020202020204" pitchFamily="34" charset="0"/>
              </a:rPr>
              <a:t>”</a:t>
            </a:r>
            <a:r>
              <a:rPr lang="zh-CN" altLang="en-US" dirty="0"/>
              <a:t>，从而引出产品介绍的层次性</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62466" name="Rectangle 2"/>
          <p:cNvSpPr>
            <a:spLocks noGrp="1" noTextEdit="1"/>
          </p:cNvSpPr>
          <p:nvPr>
            <p:ph type="sldImg"/>
          </p:nvPr>
        </p:nvSpPr>
        <p:spPr>
          <a:ln/>
        </p:spPr>
      </p:sp>
      <p:sp>
        <p:nvSpPr>
          <p:cNvPr id="62467" name="Rectangle 3"/>
          <p:cNvSpPr>
            <a:spLocks noGrp="1"/>
          </p:cNvSpPr>
          <p:nvPr>
            <p:ph type="body" idx="1"/>
          </p:nvPr>
        </p:nvSpPr>
        <p:spPr>
          <a:ln/>
        </p:spPr>
        <p:txBody>
          <a:bodyPr vert="horz" wrap="square" lIns="95418" tIns="47709" rIns="95418" bIns="47709" anchor="ctr" anchorCtr="0"/>
          <a:p>
            <a:pPr lvl="0" eaLnBrk="1" hangingPunct="1"/>
            <a:r>
              <a:rPr lang="zh-CN" altLang="en-US" dirty="0"/>
              <a:t>基本层次如图所示</a:t>
            </a:r>
            <a:endParaRPr lang="zh-CN" altLang="en-US" dirty="0"/>
          </a:p>
          <a:p>
            <a:pPr lvl="0" eaLnBrk="1" hangingPunct="1"/>
            <a:r>
              <a:rPr lang="en-US" altLang="zh-CN" dirty="0"/>
              <a:t>1</a:t>
            </a:r>
            <a:r>
              <a:rPr lang="zh-CN" altLang="en-US" dirty="0"/>
              <a:t>、介绍逻辑：先介绍产品的基本功能，再介绍特色功能，进一步介绍市场活动或礼品诱之，不要轻易亮出自己的底牌。</a:t>
            </a:r>
            <a:endParaRPr lang="zh-CN" altLang="en-US" dirty="0"/>
          </a:p>
          <a:p>
            <a:pPr lvl="0" eaLnBrk="1" hangingPunct="1"/>
            <a:r>
              <a:rPr lang="zh-CN" altLang="en-US" dirty="0"/>
              <a:t>在实际操作中，可能不同地方的市场不一样，产品的介绍会有所不同，如客户询问产品的优势何在，或送什么礼品等问题，我们就可能直接从特色功能或市场活动开始介绍，基本上有一点是不变的，在介绍过程中，由金字塔较低的部分先介绍，即对客户最有吸引力的部分，保留在后面</a:t>
            </a:r>
            <a:endParaRPr lang="zh-CN" altLang="en-US" dirty="0"/>
          </a:p>
          <a:p>
            <a:pPr lvl="0" eaLnBrk="1" hangingPunct="1"/>
            <a:r>
              <a:rPr lang="en-US" altLang="zh-CN" dirty="0"/>
              <a:t>2</a:t>
            </a:r>
            <a:r>
              <a:rPr lang="zh-CN" altLang="en-US" dirty="0"/>
              <a:t>、此时可探讨办卡送礼品的问题：不建议业务人员见到客户就礼品诱之，未来的发卡可能会禁止送礼，这是其一；关键的问题是这样做会让客户觉得是在做交换，既然交换，就会遵循等价原则，客户就会对礼品的价值提出异议，这样一来会增加我们的销售成本和销售难度。合理的做法是先介绍我们产品的特点和优势，用市场活动打动客户（开卡礼，刷卡礼），最后才用礼品，让客户感觉礼品是附加的（做大价值）</a:t>
            </a:r>
            <a:endParaRPr lang="zh-CN" altLang="en-US" dirty="0"/>
          </a:p>
          <a:p>
            <a:pPr lvl="0" eaLnBrk="1" hangingPunct="1"/>
            <a:endParaRPr lang="zh-CN" altLang="en-US" dirty="0"/>
          </a:p>
          <a:p>
            <a:pPr lvl="0" eaLnBrk="1" hangingPunct="1"/>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64514" name="Rectangle 2"/>
          <p:cNvSpPr>
            <a:spLocks noGrp="1" noTextEdit="1"/>
          </p:cNvSpPr>
          <p:nvPr>
            <p:ph type="sldImg"/>
          </p:nvPr>
        </p:nvSpPr>
        <p:spPr>
          <a:ln/>
        </p:spPr>
      </p:sp>
      <p:sp>
        <p:nvSpPr>
          <p:cNvPr id="64515" name="Rectangle 3"/>
          <p:cNvSpPr>
            <a:spLocks noGrp="1"/>
          </p:cNvSpPr>
          <p:nvPr>
            <p:ph type="body" idx="1"/>
          </p:nvPr>
        </p:nvSpPr>
        <p:spPr>
          <a:ln/>
        </p:spPr>
        <p:txBody>
          <a:bodyPr vert="horz" wrap="square" lIns="95418" tIns="47709" rIns="95418" bIns="47709" anchor="ctr" anchorCtr="0"/>
          <a:p>
            <a:pPr lvl="0" eaLnBrk="1" hangingPunct="1"/>
            <a:r>
              <a:rPr lang="zh-CN" altLang="en-US" dirty="0"/>
              <a:t>简单介绍信用卡的功能</a:t>
            </a:r>
            <a:endParaRPr lang="zh-CN" altLang="en-US" dirty="0"/>
          </a:p>
          <a:p>
            <a:pPr lvl="0" eaLnBrk="1" hangingPunct="1"/>
            <a:r>
              <a:rPr lang="zh-CN" altLang="en-US" dirty="0"/>
              <a:t>从信用卡对客户的利益来介绍透支功能（预设问题），客户一般的反应都会问额度</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66562" name="Rectangle 2"/>
          <p:cNvSpPr>
            <a:spLocks noGrp="1" noTextEdit="1"/>
          </p:cNvSpPr>
          <p:nvPr>
            <p:ph type="sldImg"/>
          </p:nvPr>
        </p:nvSpPr>
        <p:spPr>
          <a:ln/>
        </p:spPr>
      </p:sp>
      <p:sp>
        <p:nvSpPr>
          <p:cNvPr id="66563" name="Rectangle 3"/>
          <p:cNvSpPr>
            <a:spLocks noGrp="1"/>
          </p:cNvSpPr>
          <p:nvPr>
            <p:ph type="body" idx="1"/>
          </p:nvPr>
        </p:nvSpPr>
        <p:spPr>
          <a:ln/>
        </p:spPr>
        <p:txBody>
          <a:bodyPr vert="horz" wrap="square" lIns="95418" tIns="47709" rIns="95418" bIns="47709" anchor="ctr" anchorCtr="0"/>
          <a:p>
            <a:pPr lvl="0" eaLnBrk="1" hangingPunct="1"/>
            <a:r>
              <a:rPr lang="zh-CN" altLang="en-US" dirty="0">
                <a:ea typeface="宋体" panose="02010600030101010101" pitchFamily="2" charset="-122"/>
              </a:rPr>
              <a:t>介绍信用卡的基本功能（引导性）</a:t>
            </a:r>
            <a:endParaRPr lang="zh-CN" altLang="en-US" dirty="0">
              <a:ea typeface="宋体" panose="02010600030101010101" pitchFamily="2" charset="-122"/>
            </a:endParaRPr>
          </a:p>
          <a:p>
            <a:pPr lvl="0" eaLnBrk="1" hangingPunct="1"/>
            <a:r>
              <a:rPr lang="zh-CN" altLang="en-US" dirty="0">
                <a:ea typeface="宋体" panose="02010600030101010101" pitchFamily="2" charset="-122"/>
              </a:rPr>
              <a:t>在预借现金时提到费用问题（预设问题），客户一般都会细问费用</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68610" name="Rectangle 2"/>
          <p:cNvSpPr>
            <a:spLocks noGrp="1" noTextEdit="1"/>
          </p:cNvSpPr>
          <p:nvPr>
            <p:ph type="sldImg"/>
          </p:nvPr>
        </p:nvSpPr>
        <p:spPr>
          <a:ln/>
        </p:spPr>
      </p:sp>
      <p:sp>
        <p:nvSpPr>
          <p:cNvPr id="68611" name="Rectangle 3"/>
          <p:cNvSpPr>
            <a:spLocks noGrp="1"/>
          </p:cNvSpPr>
          <p:nvPr>
            <p:ph type="body" idx="1"/>
          </p:nvPr>
        </p:nvSpPr>
        <p:spPr>
          <a:ln/>
        </p:spPr>
        <p:txBody>
          <a:bodyPr vert="horz" wrap="square" lIns="95418" tIns="47709" rIns="95418" bIns="47709" anchor="ctr" anchorCtr="0"/>
          <a:p>
            <a:pPr lvl="0" eaLnBrk="1" hangingPunct="1"/>
            <a:r>
              <a:rPr lang="zh-CN" altLang="en-US" dirty="0">
                <a:ea typeface="宋体" panose="02010600030101010101" pitchFamily="2" charset="-122"/>
              </a:rPr>
              <a:t>介绍特色功能</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70658" name="Rectangle 2"/>
          <p:cNvSpPr>
            <a:spLocks noGrp="1" noTextEdit="1"/>
          </p:cNvSpPr>
          <p:nvPr>
            <p:ph type="sldImg"/>
          </p:nvPr>
        </p:nvSpPr>
        <p:spPr>
          <a:ln/>
        </p:spPr>
      </p:sp>
      <p:sp>
        <p:nvSpPr>
          <p:cNvPr id="70659" name="Rectangle 3"/>
          <p:cNvSpPr>
            <a:spLocks noGrp="1"/>
          </p:cNvSpPr>
          <p:nvPr>
            <p:ph type="body" idx="1"/>
          </p:nvPr>
        </p:nvSpPr>
        <p:spPr>
          <a:ln/>
        </p:spPr>
        <p:txBody>
          <a:bodyPr vert="horz" wrap="square" lIns="95418" tIns="47709" rIns="95418" bIns="47709" anchor="ctr" anchorCtr="0"/>
          <a:p>
            <a:pPr lvl="0" eaLnBrk="1" hangingPunct="1"/>
            <a:r>
              <a:rPr lang="zh-CN" altLang="en-US" dirty="0">
                <a:ea typeface="宋体" panose="02010600030101010101" pitchFamily="2" charset="-122"/>
              </a:rPr>
              <a:t>在介绍市场活动</a:t>
            </a:r>
            <a:endParaRPr lang="zh-CN" altLang="en-US" dirty="0">
              <a:ea typeface="宋体" panose="02010600030101010101" pitchFamily="2" charset="-122"/>
            </a:endParaRPr>
          </a:p>
          <a:p>
            <a:pPr lvl="0" eaLnBrk="1" hangingPunct="1"/>
            <a:r>
              <a:rPr lang="zh-CN" altLang="en-US" dirty="0">
                <a:ea typeface="宋体" panose="02010600030101010101" pitchFamily="2" charset="-122"/>
              </a:rPr>
              <a:t>当在介绍刷200，返100的活动时，客户会追问具体活动细节。</a:t>
            </a:r>
            <a:endParaRPr lang="zh-CN" altLang="en-US" dirty="0">
              <a:ea typeface="宋体" panose="02010600030101010101" pitchFamily="2" charset="-122"/>
            </a:endParaRPr>
          </a:p>
          <a:p>
            <a:pPr lvl="0" eaLnBrk="1" hangingPunct="1"/>
            <a:r>
              <a:rPr lang="zh-CN" altLang="en-US" dirty="0">
                <a:ea typeface="宋体" panose="02010600030101010101" pitchFamily="2" charset="-122"/>
              </a:rPr>
              <a:t>总结：大部分客户的问题都是来自我们的介绍。</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72706" name="Rectangle 2"/>
          <p:cNvSpPr>
            <a:spLocks noGrp="1" noTextEdit="1"/>
          </p:cNvSpPr>
          <p:nvPr>
            <p:ph type="sldImg"/>
          </p:nvPr>
        </p:nvSpPr>
        <p:spPr>
          <a:ln/>
        </p:spPr>
      </p:sp>
      <p:sp>
        <p:nvSpPr>
          <p:cNvPr id="72707" name="Rectangle 3"/>
          <p:cNvSpPr>
            <a:spLocks noGrp="1"/>
          </p:cNvSpPr>
          <p:nvPr>
            <p:ph type="body" idx="1"/>
          </p:nvPr>
        </p:nvSpPr>
        <p:spPr>
          <a:ln/>
        </p:spPr>
        <p:txBody>
          <a:bodyPr vert="horz" wrap="square" lIns="95418" tIns="47709" rIns="95418" bIns="47709" anchor="ctr" anchorCtr="0"/>
          <a:p>
            <a:pPr lvl="0" eaLnBrk="1" hangingPunct="1"/>
            <a:r>
              <a:rPr lang="zh-CN" altLang="en-US" dirty="0">
                <a:ea typeface="宋体" panose="02010600030101010101" pitchFamily="2" charset="-122"/>
              </a:rPr>
              <a:t>练习</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74754" name="Rectangle 2"/>
          <p:cNvSpPr>
            <a:spLocks noGrp="1" noTextEdit="1"/>
          </p:cNvSpPr>
          <p:nvPr>
            <p:ph type="sldImg"/>
          </p:nvPr>
        </p:nvSpPr>
        <p:spPr>
          <a:ln/>
        </p:spPr>
      </p:sp>
      <p:sp>
        <p:nvSpPr>
          <p:cNvPr id="74755" name="Rectangle 3"/>
          <p:cNvSpPr>
            <a:spLocks noGrp="1"/>
          </p:cNvSpPr>
          <p:nvPr>
            <p:ph type="body" idx="1"/>
          </p:nvPr>
        </p:nvSpPr>
        <p:spPr>
          <a:ln/>
        </p:spPr>
        <p:txBody>
          <a:bodyPr vert="horz" wrap="square" lIns="95418" tIns="47709" rIns="95418" bIns="47709" anchor="ctr" anchorCtr="0"/>
          <a:p>
            <a:pPr lvl="0" eaLnBrk="1" hangingPunct="1"/>
            <a:r>
              <a:rPr lang="zh-CN" altLang="en-US" dirty="0">
                <a:ea typeface="宋体" panose="02010600030101010101" pitchFamily="2" charset="-122"/>
              </a:rPr>
              <a:t>1、产品介绍的引导性有两层意思：</a:t>
            </a:r>
            <a:endParaRPr lang="zh-CN" altLang="en-US" dirty="0">
              <a:ea typeface="宋体" panose="02010600030101010101" pitchFamily="2" charset="-122"/>
            </a:endParaRPr>
          </a:p>
          <a:p>
            <a:pPr lvl="0" eaLnBrk="1" hangingPunct="1"/>
            <a:r>
              <a:rPr lang="zh-CN" altLang="en-US" dirty="0">
                <a:ea typeface="宋体" panose="02010600030101010101" pitchFamily="2" charset="-122"/>
              </a:rPr>
              <a:t>A、在介绍产品时要引导客户认同我们的产品，可以加一些引导性的语言，例如：在介绍一个功能之后可以加一句话</a:t>
            </a:r>
            <a:r>
              <a:rPr lang="zh-CN" altLang="en-US" dirty="0">
                <a:latin typeface="Arial" panose="020B0604020202020204" pitchFamily="34" charset="0"/>
                <a:ea typeface="宋体" panose="02010600030101010101" pitchFamily="2" charset="-122"/>
              </a:rPr>
              <a:t>“</a:t>
            </a:r>
            <a:r>
              <a:rPr lang="zh-CN" altLang="en-US" dirty="0">
                <a:ea typeface="宋体" panose="02010600030101010101" pitchFamily="2" charset="-122"/>
              </a:rPr>
              <a:t>这功能挺好的吧</a:t>
            </a:r>
            <a:r>
              <a:rPr lang="zh-CN" altLang="en-US" dirty="0">
                <a:latin typeface="Arial" panose="020B0604020202020204" pitchFamily="34" charset="0"/>
                <a:ea typeface="宋体" panose="02010600030101010101" pitchFamily="2" charset="-122"/>
              </a:rPr>
              <a:t>”</a:t>
            </a:r>
            <a:r>
              <a:rPr lang="zh-CN" altLang="en-US" dirty="0">
                <a:ea typeface="宋体" panose="02010600030101010101" pitchFamily="2" charset="-122"/>
              </a:rPr>
              <a:t>，来引导客户说</a:t>
            </a:r>
            <a:r>
              <a:rPr lang="zh-CN" altLang="en-US" dirty="0">
                <a:latin typeface="Arial" panose="020B0604020202020204" pitchFamily="34" charset="0"/>
                <a:ea typeface="宋体" panose="02010600030101010101" pitchFamily="2" charset="-122"/>
              </a:rPr>
              <a:t>“</a:t>
            </a:r>
            <a:r>
              <a:rPr lang="zh-CN" altLang="en-US" dirty="0">
                <a:ea typeface="宋体" panose="02010600030101010101" pitchFamily="2" charset="-122"/>
              </a:rPr>
              <a:t>是</a:t>
            </a:r>
            <a:r>
              <a:rPr lang="zh-CN" altLang="en-US" dirty="0">
                <a:latin typeface="Arial" panose="020B0604020202020204" pitchFamily="34" charset="0"/>
                <a:ea typeface="宋体" panose="02010600030101010101" pitchFamily="2" charset="-122"/>
              </a:rPr>
              <a:t>”</a:t>
            </a:r>
            <a:r>
              <a:rPr lang="zh-CN" altLang="en-US" dirty="0">
                <a:ea typeface="宋体" panose="02010600030101010101" pitchFamily="2" charset="-122"/>
              </a:rPr>
              <a:t>或</a:t>
            </a:r>
            <a:r>
              <a:rPr lang="zh-CN" altLang="en-US" dirty="0">
                <a:latin typeface="Arial" panose="020B0604020202020204" pitchFamily="34" charset="0"/>
                <a:ea typeface="宋体" panose="02010600030101010101" pitchFamily="2" charset="-122"/>
              </a:rPr>
              <a:t>“</a:t>
            </a:r>
            <a:r>
              <a:rPr lang="zh-CN" altLang="en-US" dirty="0">
                <a:ea typeface="宋体" panose="02010600030101010101" pitchFamily="2" charset="-122"/>
              </a:rPr>
              <a:t>挺好的</a:t>
            </a:r>
            <a:r>
              <a:rPr lang="zh-CN" altLang="en-US" dirty="0">
                <a:latin typeface="Arial" panose="020B0604020202020204" pitchFamily="34" charset="0"/>
                <a:ea typeface="宋体" panose="02010600030101010101" pitchFamily="2" charset="-122"/>
              </a:rPr>
              <a:t>”</a:t>
            </a:r>
            <a:r>
              <a:rPr lang="zh-CN" altLang="en-US" dirty="0">
                <a:ea typeface="宋体" panose="02010600030101010101" pitchFamily="2" charset="-122"/>
              </a:rPr>
              <a:t>，取得客户的认同，对成功销售有很大的帮助，或者递上笔，引导客户填写申请表。</a:t>
            </a:r>
            <a:endParaRPr lang="zh-CN" altLang="en-US" dirty="0">
              <a:ea typeface="宋体" panose="02010600030101010101" pitchFamily="2" charset="-122"/>
            </a:endParaRPr>
          </a:p>
          <a:p>
            <a:pPr lvl="0" eaLnBrk="1" hangingPunct="1"/>
            <a:r>
              <a:rPr lang="zh-CN" altLang="en-US" dirty="0">
                <a:ea typeface="宋体" panose="02010600030101010101" pitchFamily="2" charset="-122"/>
              </a:rPr>
              <a:t>B：在产品介绍时预先考虑到客户可能会问什么样的问题，并能解决这些问题</a:t>
            </a:r>
            <a:endParaRPr lang="zh-CN" altLang="en-US" dirty="0">
              <a:ea typeface="宋体" panose="02010600030101010101" pitchFamily="2" charset="-122"/>
            </a:endParaRPr>
          </a:p>
          <a:p>
            <a:pPr lvl="0" eaLnBrk="1" hangingPunct="1"/>
            <a:r>
              <a:rPr lang="zh-CN" altLang="en-US" dirty="0">
                <a:ea typeface="宋体" panose="02010600030101010101" pitchFamily="2" charset="-122"/>
              </a:rPr>
              <a:t>2、产品的介绍不是产品特点的堆砌和简单罗列，而是将产品经过精美的</a:t>
            </a:r>
            <a:r>
              <a:rPr lang="zh-CN" altLang="en-US" dirty="0">
                <a:latin typeface="Arial" panose="020B0604020202020204" pitchFamily="34" charset="0"/>
                <a:ea typeface="宋体" panose="02010600030101010101" pitchFamily="2" charset="-122"/>
              </a:rPr>
              <a:t>“</a:t>
            </a:r>
            <a:r>
              <a:rPr lang="zh-CN" altLang="en-US" dirty="0">
                <a:ea typeface="宋体" panose="02010600030101010101" pitchFamily="2" charset="-122"/>
              </a:rPr>
              <a:t>包装</a:t>
            </a:r>
            <a:r>
              <a:rPr lang="zh-CN" altLang="en-US" dirty="0">
                <a:latin typeface="Arial" panose="020B0604020202020204" pitchFamily="34" charset="0"/>
                <a:ea typeface="宋体" panose="02010600030101010101" pitchFamily="2" charset="-122"/>
              </a:rPr>
              <a:t>”</a:t>
            </a:r>
            <a:r>
              <a:rPr lang="zh-CN" altLang="en-US" dirty="0">
                <a:ea typeface="宋体" panose="02010600030101010101" pitchFamily="2" charset="-122"/>
              </a:rPr>
              <a:t>后呈现在客户的面前，让客户感受到产品带给自己的好处，切忌一口气将产品特点全部背给客户。</a:t>
            </a:r>
            <a:endParaRPr lang="zh-CN" altLang="en-US" dirty="0">
              <a:ea typeface="宋体" panose="02010600030101010101" pitchFamily="2" charset="-122"/>
            </a:endParaRPr>
          </a:p>
          <a:p>
            <a:pPr lvl="0" eaLnBrk="1" hangingPunct="1"/>
            <a:r>
              <a:rPr lang="zh-CN" altLang="en-US" dirty="0">
                <a:ea typeface="宋体" panose="02010600030101010101" pitchFamily="2" charset="-122"/>
              </a:rPr>
              <a:t>3、产品介绍是在需求分析的基础上进行的，不要过多介绍客户不感兴趣的东西</a:t>
            </a:r>
            <a:endParaRPr lang="zh-CN" altLang="en-US" dirty="0">
              <a:ea typeface="宋体" panose="02010600030101010101" pitchFamily="2" charset="-122"/>
            </a:endParaRPr>
          </a:p>
          <a:p>
            <a:pPr lvl="0" eaLnBrk="1" hangingPunct="1"/>
            <a:r>
              <a:rPr lang="zh-CN" altLang="en-US" dirty="0">
                <a:ea typeface="宋体" panose="02010600030101010101" pitchFamily="2" charset="-122"/>
              </a:rPr>
              <a:t>4、不要自己给自己制造问题：有的业务人员见</a:t>
            </a:r>
            <a:r>
              <a:rPr lang="zh-CN" altLang="en-US" dirty="0"/>
              <a:t>到客户，或者客户一旦提问，他就恨不的把自己知道的东西全部倒出来，生怕客户不知道自己专业知识渊博，结果反而制造出更多的问题，从而影响销售。如：客户问免息期怎么计算，业务人员回答完后还补充逾期还款的后果等等。</a:t>
            </a:r>
            <a:endParaRPr lang="zh-CN" altLang="en-US" dirty="0"/>
          </a:p>
          <a:p>
            <a:pPr lvl="0" eaLnBrk="1" hangingPunct="1"/>
            <a:r>
              <a:rPr lang="zh-CN" altLang="en-US" dirty="0"/>
              <a:t>5、促成是最终的目标，在产品介绍是要有促成的意识与动作，否则就可能让销售成为信用卡知识问答了</a:t>
            </a:r>
            <a:endParaRPr lang="zh-CN" altLang="en-US" dirty="0"/>
          </a:p>
          <a:p>
            <a:pPr lvl="0" eaLnBrk="1" hangingPunct="1"/>
            <a:r>
              <a:rPr lang="zh-CN" altLang="en-US" dirty="0"/>
              <a:t>引出促成成交</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76802" name="Rectangle 2"/>
          <p:cNvSpPr>
            <a:spLocks noGrp="1" noTextEdit="1"/>
          </p:cNvSpPr>
          <p:nvPr>
            <p:ph type="sldImg"/>
          </p:nvPr>
        </p:nvSpPr>
        <p:spPr>
          <a:ln/>
        </p:spPr>
      </p:sp>
      <p:sp>
        <p:nvSpPr>
          <p:cNvPr id="76803" name="Rectangle 3"/>
          <p:cNvSpPr>
            <a:spLocks noGrp="1"/>
          </p:cNvSpPr>
          <p:nvPr>
            <p:ph type="body" idx="1"/>
          </p:nvPr>
        </p:nvSpPr>
        <p:spPr>
          <a:ln/>
        </p:spPr>
        <p:txBody>
          <a:bodyPr vert="horz" wrap="square" lIns="95418" tIns="47709" rIns="95418" bIns="47709" anchor="ctr" anchorCtr="0"/>
          <a:p>
            <a:pPr lvl="0" eaLnBrk="1" hangingPunct="1"/>
            <a:r>
              <a:rPr lang="zh-CN" altLang="en-US" dirty="0"/>
              <a:t>促成的重要性和意义</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78850" name="Rectangle 2"/>
          <p:cNvSpPr>
            <a:spLocks noGrp="1" noTextEdit="1"/>
          </p:cNvSpPr>
          <p:nvPr>
            <p:ph type="sldImg"/>
          </p:nvPr>
        </p:nvSpPr>
        <p:spPr>
          <a:ln/>
        </p:spPr>
      </p:sp>
      <p:sp>
        <p:nvSpPr>
          <p:cNvPr id="78851" name="Rectangle 3"/>
          <p:cNvSpPr>
            <a:spLocks noGrp="1"/>
          </p:cNvSpPr>
          <p:nvPr>
            <p:ph type="body" idx="1"/>
          </p:nvPr>
        </p:nvSpPr>
        <p:spPr>
          <a:ln/>
        </p:spPr>
        <p:txBody>
          <a:bodyPr vert="horz" wrap="square" lIns="95418" tIns="47709" rIns="95418" bIns="47709" anchor="ctr" anchorCtr="0"/>
          <a:p>
            <a:pPr lvl="0" eaLnBrk="1" hangingPunct="1"/>
            <a:r>
              <a:rPr lang="zh-CN" altLang="en-US" dirty="0">
                <a:ea typeface="宋体" panose="02010600030101010101" pitchFamily="2" charset="-122"/>
              </a:rPr>
              <a:t>促成不是在销售的最后环节才做的，要抓住每一个有利的机会进行促成，多次促成。</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80898" name="Rectangle 2"/>
          <p:cNvSpPr>
            <a:spLocks noGrp="1" noTextEdit="1"/>
          </p:cNvSpPr>
          <p:nvPr>
            <p:ph type="sldImg"/>
          </p:nvPr>
        </p:nvSpPr>
        <p:spPr>
          <a:xfrm>
            <a:off x="842963" y="741363"/>
            <a:ext cx="4951412" cy="3713162"/>
          </a:xfrm>
          <a:ln/>
        </p:spPr>
      </p:sp>
      <p:sp>
        <p:nvSpPr>
          <p:cNvPr id="80899" name="Rectangle 3"/>
          <p:cNvSpPr>
            <a:spLocks noGrp="1"/>
          </p:cNvSpPr>
          <p:nvPr>
            <p:ph type="body" idx="1"/>
          </p:nvPr>
        </p:nvSpPr>
        <p:spPr>
          <a:xfrm>
            <a:off x="884238" y="4702175"/>
            <a:ext cx="4868862" cy="4457700"/>
          </a:xfrm>
          <a:ln/>
        </p:spPr>
        <p:txBody>
          <a:bodyPr vert="horz" wrap="square" lIns="95418" tIns="47709" rIns="95418" bIns="47709" anchor="ctr" anchorCtr="0"/>
          <a:p>
            <a:pPr lvl="0" eaLnBrk="1" hangingPunct="1"/>
            <a:r>
              <a:rPr lang="zh-CN" altLang="en-US" dirty="0"/>
              <a:t>促成方法介绍</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82946" name="Rectangle 2"/>
          <p:cNvSpPr>
            <a:spLocks noGrp="1" noTextEdit="1"/>
          </p:cNvSpPr>
          <p:nvPr>
            <p:ph type="sldImg"/>
          </p:nvPr>
        </p:nvSpPr>
        <p:spPr>
          <a:xfrm>
            <a:off x="842963" y="741363"/>
            <a:ext cx="4951412" cy="3713162"/>
          </a:xfrm>
          <a:ln/>
        </p:spPr>
      </p:sp>
      <p:sp>
        <p:nvSpPr>
          <p:cNvPr id="82947" name="Rectangle 3"/>
          <p:cNvSpPr>
            <a:spLocks noGrp="1"/>
          </p:cNvSpPr>
          <p:nvPr>
            <p:ph type="body" idx="1"/>
          </p:nvPr>
        </p:nvSpPr>
        <p:spPr>
          <a:xfrm>
            <a:off x="884238" y="4702175"/>
            <a:ext cx="4868862" cy="4457700"/>
          </a:xfrm>
          <a:ln/>
        </p:spPr>
        <p:txBody>
          <a:bodyPr vert="horz" wrap="square" lIns="95418" tIns="47709" rIns="95418" bIns="47709" anchor="ctr" anchorCtr="0"/>
          <a:p>
            <a:pPr lvl="0" eaLnBrk="1" hangingPunct="1"/>
            <a:r>
              <a:rPr lang="zh-CN" altLang="en-US" dirty="0"/>
              <a:t>解释方法以及话术示范</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84994" name="Rectangle 2"/>
          <p:cNvSpPr>
            <a:spLocks noGrp="1" noTextEdit="1"/>
          </p:cNvSpPr>
          <p:nvPr>
            <p:ph type="sldImg"/>
          </p:nvPr>
        </p:nvSpPr>
        <p:spPr>
          <a:xfrm>
            <a:off x="842963" y="741363"/>
            <a:ext cx="4951412" cy="3713162"/>
          </a:xfrm>
          <a:ln/>
        </p:spPr>
      </p:sp>
      <p:sp>
        <p:nvSpPr>
          <p:cNvPr id="84995" name="Rectangle 3"/>
          <p:cNvSpPr>
            <a:spLocks noGrp="1"/>
          </p:cNvSpPr>
          <p:nvPr>
            <p:ph type="body" idx="1"/>
          </p:nvPr>
        </p:nvSpPr>
        <p:spPr>
          <a:xfrm>
            <a:off x="884238" y="4702175"/>
            <a:ext cx="4868862" cy="4457700"/>
          </a:xfrm>
          <a:ln/>
        </p:spPr>
        <p:txBody>
          <a:bodyPr vert="horz" wrap="square" lIns="95418" tIns="47709" rIns="95418" bIns="47709" anchor="ctr" anchorCtr="0"/>
          <a:p>
            <a:pPr lvl="0" eaLnBrk="1" hangingPunct="1"/>
            <a:r>
              <a:rPr lang="zh-CN" altLang="en-US" dirty="0"/>
              <a:t>解释方法以及话术示范</a:t>
            </a:r>
            <a:endParaRPr lang="zh-CN" altLang="en-US" dirty="0"/>
          </a:p>
          <a:p>
            <a:pPr lvl="0" eaLnBrk="1" hangingPunct="1"/>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87042" name="Rectangle 2"/>
          <p:cNvSpPr>
            <a:spLocks noGrp="1" noTextEdit="1"/>
          </p:cNvSpPr>
          <p:nvPr>
            <p:ph type="sldImg"/>
          </p:nvPr>
        </p:nvSpPr>
        <p:spPr>
          <a:xfrm>
            <a:off x="842963" y="741363"/>
            <a:ext cx="4951412" cy="3713162"/>
          </a:xfrm>
          <a:ln/>
        </p:spPr>
      </p:sp>
      <p:sp>
        <p:nvSpPr>
          <p:cNvPr id="87043" name="Rectangle 3"/>
          <p:cNvSpPr>
            <a:spLocks noGrp="1"/>
          </p:cNvSpPr>
          <p:nvPr>
            <p:ph type="body" idx="1"/>
          </p:nvPr>
        </p:nvSpPr>
        <p:spPr>
          <a:xfrm>
            <a:off x="884238" y="4702175"/>
            <a:ext cx="4868862" cy="4457700"/>
          </a:xfrm>
          <a:ln/>
        </p:spPr>
        <p:txBody>
          <a:bodyPr vert="horz" wrap="square" lIns="95418" tIns="47709" rIns="95418" bIns="47709" anchor="ctr" anchorCtr="0"/>
          <a:p>
            <a:pPr lvl="0" eaLnBrk="1" hangingPunct="1"/>
            <a:r>
              <a:rPr lang="zh-CN" altLang="en-US" dirty="0"/>
              <a:t>解释方法以及话术示范</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89090" name="Rectangle 2"/>
          <p:cNvSpPr>
            <a:spLocks noGrp="1" noTextEdit="1"/>
          </p:cNvSpPr>
          <p:nvPr>
            <p:ph type="sldImg"/>
          </p:nvPr>
        </p:nvSpPr>
        <p:spPr>
          <a:xfrm>
            <a:off x="842963" y="741363"/>
            <a:ext cx="4951412" cy="3713162"/>
          </a:xfrm>
          <a:ln/>
        </p:spPr>
      </p:sp>
      <p:sp>
        <p:nvSpPr>
          <p:cNvPr id="89091" name="Rectangle 3"/>
          <p:cNvSpPr>
            <a:spLocks noGrp="1"/>
          </p:cNvSpPr>
          <p:nvPr>
            <p:ph type="body" idx="1"/>
          </p:nvPr>
        </p:nvSpPr>
        <p:spPr>
          <a:xfrm>
            <a:off x="884238" y="4702175"/>
            <a:ext cx="4868862" cy="4457700"/>
          </a:xfrm>
          <a:ln/>
        </p:spPr>
        <p:txBody>
          <a:bodyPr vert="horz" wrap="square" lIns="95418" tIns="47709" rIns="95418" bIns="47709" anchor="ctr" anchorCtr="0"/>
          <a:p>
            <a:pPr lvl="0" eaLnBrk="1" hangingPunct="1"/>
            <a:r>
              <a:rPr lang="zh-CN" altLang="en-US" dirty="0"/>
              <a:t>解释方法以及话术示范</a:t>
            </a:r>
            <a:endParaRPr lang="zh-CN" altLang="en-US" dirty="0"/>
          </a:p>
          <a:p>
            <a:pPr lvl="0" eaLnBrk="1" hangingPunct="1"/>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91138" name="Rectangle 2"/>
          <p:cNvSpPr>
            <a:spLocks noGrp="1" noTextEdit="1"/>
          </p:cNvSpPr>
          <p:nvPr>
            <p:ph type="sldImg"/>
          </p:nvPr>
        </p:nvSpPr>
        <p:spPr>
          <a:ln/>
        </p:spPr>
      </p:sp>
      <p:sp>
        <p:nvSpPr>
          <p:cNvPr id="91139" name="Rectangle 3"/>
          <p:cNvSpPr>
            <a:spLocks noGrp="1"/>
          </p:cNvSpPr>
          <p:nvPr>
            <p:ph type="body" idx="1"/>
          </p:nvPr>
        </p:nvSpPr>
        <p:spPr>
          <a:ln/>
        </p:spPr>
        <p:txBody>
          <a:bodyPr vert="horz" wrap="square" lIns="95418" tIns="47709" rIns="95418" bIns="47709" anchor="ctr" anchorCtr="0"/>
          <a:p>
            <a:pPr lvl="0" eaLnBrk="1" hangingPunct="1"/>
            <a:r>
              <a:rPr lang="zh-CN" altLang="en-US" dirty="0">
                <a:ea typeface="宋体" panose="02010600030101010101" pitchFamily="2" charset="-122"/>
              </a:rPr>
              <a:t>情景分析，讨论</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93186" name="Rectangle 2"/>
          <p:cNvSpPr>
            <a:spLocks noGrp="1" noTextEdit="1"/>
          </p:cNvSpPr>
          <p:nvPr>
            <p:ph type="sldImg"/>
          </p:nvPr>
        </p:nvSpPr>
        <p:spPr>
          <a:ln/>
        </p:spPr>
      </p:sp>
      <p:sp>
        <p:nvSpPr>
          <p:cNvPr id="93187" name="Rectangle 3"/>
          <p:cNvSpPr>
            <a:spLocks noGrp="1"/>
          </p:cNvSpPr>
          <p:nvPr>
            <p:ph type="body" idx="1"/>
          </p:nvPr>
        </p:nvSpPr>
        <p:spPr>
          <a:ln/>
        </p:spPr>
        <p:txBody>
          <a:bodyPr vert="horz" wrap="square" lIns="95418" tIns="47709" rIns="95418" bIns="47709" anchor="ctr" anchorCtr="0"/>
          <a:p>
            <a:pPr lvl="0" eaLnBrk="1" hangingPunct="1"/>
            <a:r>
              <a:rPr lang="zh-CN" altLang="en-US" dirty="0">
                <a:ea typeface="宋体" panose="02010600030101010101" pitchFamily="2" charset="-122"/>
              </a:rPr>
              <a:t>示范话术：</a:t>
            </a:r>
            <a:endParaRPr lang="zh-CN" altLang="en-US" dirty="0">
              <a:ea typeface="宋体" panose="02010600030101010101" pitchFamily="2" charset="-122"/>
            </a:endParaRPr>
          </a:p>
          <a:p>
            <a:pPr lvl="0" eaLnBrk="1" hangingPunct="1"/>
            <a:r>
              <a:rPr lang="zh-CN" altLang="en-US" dirty="0">
                <a:ea typeface="宋体" panose="02010600030101010101" pitchFamily="2" charset="-122"/>
              </a:rPr>
              <a:t>第一种是利诱法，第二种是体验法（又称小狗营销法，即先试试，再决定后一步的打算），第三种是逼成法，言下之意，有问题就问，没问题就签单，给客户造成一定的压力（这里视情况分析销售人员的姿态问题）</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95234" name="Rectangle 2"/>
          <p:cNvSpPr>
            <a:spLocks noGrp="1" noTextEdit="1"/>
          </p:cNvSpPr>
          <p:nvPr>
            <p:ph type="sldImg"/>
          </p:nvPr>
        </p:nvSpPr>
        <p:spPr>
          <a:ln/>
        </p:spPr>
      </p:sp>
      <p:sp>
        <p:nvSpPr>
          <p:cNvPr id="95235" name="Rectangle 3"/>
          <p:cNvSpPr>
            <a:spLocks noGrp="1"/>
          </p:cNvSpPr>
          <p:nvPr>
            <p:ph type="body" idx="1"/>
          </p:nvPr>
        </p:nvSpPr>
        <p:spPr>
          <a:ln/>
        </p:spPr>
        <p:txBody>
          <a:bodyPr vert="horz" wrap="square" lIns="95418" tIns="47709" rIns="95418" bIns="47709" anchor="ctr" anchorCtr="0"/>
          <a:p>
            <a:pPr lvl="0" eaLnBrk="1" hangingPunct="1"/>
            <a:r>
              <a:rPr lang="zh-CN" altLang="en-US" dirty="0">
                <a:ea typeface="宋体" panose="02010600030101010101" pitchFamily="2" charset="-122"/>
              </a:rPr>
              <a:t>1、销售的目的是为了促成，接触面谈，需求分析和产品介绍都是为此而服务的，因此在整个销售过程中一定要有促成意识，避免成为知识问答</a:t>
            </a:r>
            <a:endParaRPr lang="zh-CN" altLang="en-US" dirty="0">
              <a:ea typeface="宋体" panose="02010600030101010101" pitchFamily="2" charset="-122"/>
            </a:endParaRPr>
          </a:p>
          <a:p>
            <a:pPr lvl="0" eaLnBrk="1" hangingPunct="1"/>
            <a:r>
              <a:rPr lang="zh-CN" altLang="en-US" dirty="0">
                <a:ea typeface="宋体" panose="02010600030101010101" pitchFamily="2" charset="-122"/>
              </a:rPr>
              <a:t>2、在销售中要引导客户认同我们的产品，即对产品说</a:t>
            </a:r>
            <a:r>
              <a:rPr lang="zh-CN" altLang="en-US" dirty="0">
                <a:latin typeface="Arial" panose="020B0604020202020204" pitchFamily="34" charset="0"/>
                <a:ea typeface="宋体" panose="02010600030101010101" pitchFamily="2" charset="-122"/>
              </a:rPr>
              <a:t>“</a:t>
            </a:r>
            <a:r>
              <a:rPr lang="zh-CN" altLang="en-US" dirty="0">
                <a:ea typeface="宋体" panose="02010600030101010101" pitchFamily="2" charset="-122"/>
              </a:rPr>
              <a:t>YES</a:t>
            </a:r>
            <a:r>
              <a:rPr lang="zh-CN" altLang="en-US" dirty="0">
                <a:latin typeface="Arial" panose="020B0604020202020204" pitchFamily="34" charset="0"/>
                <a:ea typeface="宋体" panose="02010600030101010101" pitchFamily="2" charset="-122"/>
              </a:rPr>
              <a:t>”</a:t>
            </a:r>
            <a:r>
              <a:rPr lang="zh-CN" altLang="en-US" dirty="0">
                <a:ea typeface="宋体" panose="02010600030101010101" pitchFamily="2" charset="-122"/>
              </a:rPr>
              <a:t>，从而成功促成</a:t>
            </a:r>
            <a:endParaRPr lang="zh-CN" altLang="en-US" dirty="0">
              <a:ea typeface="宋体" panose="02010600030101010101" pitchFamily="2" charset="-122"/>
            </a:endParaRPr>
          </a:p>
          <a:p>
            <a:pPr lvl="0" eaLnBrk="1" hangingPunct="1"/>
            <a:r>
              <a:rPr lang="zh-CN" altLang="en-US" dirty="0">
                <a:ea typeface="宋体" panose="02010600030101010101" pitchFamily="2" charset="-122"/>
              </a:rPr>
              <a:t>3、销售就是人与人的意志的较量，在销售过程中要多次促成，促成的次数越多，销售成功的机会就越大。可以给学员讲讲《陈阿土的影响力》的故事（百度一搜即可），说明反复促成的意义</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98306" name="Rectangle 2"/>
          <p:cNvSpPr>
            <a:spLocks noGrp="1" noTextEdit="1"/>
          </p:cNvSpPr>
          <p:nvPr>
            <p:ph type="sldImg"/>
          </p:nvPr>
        </p:nvSpPr>
        <p:spPr>
          <a:ln/>
        </p:spPr>
      </p:sp>
      <p:sp>
        <p:nvSpPr>
          <p:cNvPr id="98307" name="Rectangle 3"/>
          <p:cNvSpPr>
            <a:spLocks noGrp="1"/>
          </p:cNvSpPr>
          <p:nvPr>
            <p:ph type="body" idx="1"/>
          </p:nvPr>
        </p:nvSpPr>
        <p:spPr>
          <a:ln/>
        </p:spPr>
        <p:txBody>
          <a:bodyPr vert="horz" wrap="square" lIns="95418" tIns="47709" rIns="95418" bIns="47709" anchor="ctr" anchorCtr="0"/>
          <a:p>
            <a:pPr lvl="0" eaLnBrk="1" hangingPunct="1">
              <a:spcBef>
                <a:spcPct val="0"/>
              </a:spcBef>
            </a:pPr>
            <a:r>
              <a:rPr lang="zh-CN" altLang="en-US" dirty="0">
                <a:ea typeface="宋体" panose="02010600030101010101" pitchFamily="2" charset="-122"/>
              </a:rPr>
              <a:t>1世界上最痛苦的两件事是什么？把自己的思想塞到别人的脑袋里和把别人的钱放到自己的口袋里，这也正是我们现在在做的事情，虽然我们在卡片推广的过程中不需要客户话费金钱，对客户来说还是有付出，即他们的信任与个人资料，因此客户会拒绝也是正常的</a:t>
            </a:r>
            <a:endParaRPr lang="zh-CN" altLang="en-US" dirty="0">
              <a:ea typeface="宋体" panose="02010600030101010101" pitchFamily="2" charset="-122"/>
            </a:endParaRPr>
          </a:p>
          <a:p>
            <a:pPr lvl="0" eaLnBrk="1" hangingPunct="1">
              <a:spcBef>
                <a:spcPct val="0"/>
              </a:spcBef>
            </a:pPr>
            <a:endParaRPr lang="zh-CN" altLang="en-US" dirty="0">
              <a:ea typeface="宋体" panose="02010600030101010101" pitchFamily="2" charset="-122"/>
            </a:endParaRPr>
          </a:p>
          <a:p>
            <a:pPr lvl="0" eaLnBrk="1" hangingPunct="1">
              <a:spcBef>
                <a:spcPct val="0"/>
              </a:spcBef>
            </a:pPr>
            <a:endParaRPr lang="zh-CN" altLang="en-US" dirty="0">
              <a:ea typeface="宋体" panose="02010600030101010101" pitchFamily="2" charset="-122"/>
            </a:endParaRPr>
          </a:p>
          <a:p>
            <a:pPr lvl="0" eaLnBrk="1" hangingPunct="1"/>
            <a:endParaRPr lang="zh-CN" altLang="en-US" b="1" dirty="0"/>
          </a:p>
        </p:txBody>
      </p:sp>
    </p:spTree>
  </p:cSld>
  <p:clrMapOvr>
    <a:overrideClrMapping bg1="lt1" tx1="dk1" bg2="lt2" tx2="dk2" accent1="accent1" accent2="accent2" accent3="accent3" accent4="accent4" accent5="accent5" accent6="accent6" hlink="hlink" folHlink="folHlink"/>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100354" name="Rectangle 7"/>
          <p:cNvSpPr txBox="1">
            <a:spLocks noGrp="1"/>
          </p:cNvSpPr>
          <p:nvPr/>
        </p:nvSpPr>
        <p:spPr>
          <a:xfrm>
            <a:off x="3762375" y="9409113"/>
            <a:ext cx="2878138" cy="495300"/>
          </a:xfrm>
          <a:prstGeom prst="rect">
            <a:avLst/>
          </a:prstGeom>
          <a:noFill/>
          <a:ln w="9525">
            <a:noFill/>
          </a:ln>
        </p:spPr>
        <p:txBody>
          <a:bodyPr lIns="95418" tIns="47709" rIns="95418" bIns="47709" anchor="b" anchorCtr="0"/>
          <a:p>
            <a:pPr lvl="0" algn="r" defTabSz="954405" eaLnBrk="1" hangingPunct="1"/>
            <a:fld id="{9A0DB2DC-4C9A-4742-B13C-FB6460FD3503}" type="slidenum">
              <a:rPr lang="zh-CN" altLang="en-US" sz="1300" b="0" dirty="0">
                <a:latin typeface="Times New Roman" panose="02020603050405020304" pitchFamily="18" charset="0"/>
                <a:ea typeface="PMingLiU" pitchFamily="18" charset="-120"/>
              </a:rPr>
            </a:fld>
            <a:endParaRPr lang="zh-CN" altLang="en-US" sz="1300" b="0" dirty="0">
              <a:latin typeface="Times New Roman" panose="02020603050405020304" pitchFamily="18" charset="0"/>
              <a:ea typeface="PMingLiU" pitchFamily="18" charset="-120"/>
            </a:endParaRPr>
          </a:p>
        </p:txBody>
      </p:sp>
      <p:sp>
        <p:nvSpPr>
          <p:cNvPr id="100355" name="Rectangle 2"/>
          <p:cNvSpPr>
            <a:spLocks noGrp="1" noTextEdit="1"/>
          </p:cNvSpPr>
          <p:nvPr>
            <p:ph type="sldImg"/>
          </p:nvPr>
        </p:nvSpPr>
        <p:spPr>
          <a:xfrm>
            <a:off x="844550" y="742950"/>
            <a:ext cx="4953000" cy="3714750"/>
          </a:xfrm>
          <a:ln/>
        </p:spPr>
      </p:sp>
      <p:sp>
        <p:nvSpPr>
          <p:cNvPr id="100356" name="Rectangle 3"/>
          <p:cNvSpPr>
            <a:spLocks noGrp="1"/>
          </p:cNvSpPr>
          <p:nvPr>
            <p:ph type="body" idx="1"/>
          </p:nvPr>
        </p:nvSpPr>
        <p:spPr>
          <a:xfrm>
            <a:off x="885825" y="4705350"/>
            <a:ext cx="4868863" cy="4456113"/>
          </a:xfrm>
          <a:ln/>
        </p:spPr>
        <p:txBody>
          <a:bodyPr vert="horz" wrap="square" lIns="95418" tIns="47709" rIns="95418" bIns="47709" anchor="ctr" anchorCtr="0"/>
          <a:p>
            <a:pPr lvl="0" eaLnBrk="1" hangingPunct="1">
              <a:spcBef>
                <a:spcPct val="0"/>
              </a:spcBef>
            </a:pPr>
            <a:r>
              <a:rPr lang="zh-CN" altLang="en-US" dirty="0">
                <a:ea typeface="宋体" panose="02010600030101010101" pitchFamily="2" charset="-122"/>
              </a:rPr>
              <a:t>客户的拒绝来自两个方面的因素，一是客户本身，另外一个就是业务员本身的因素了，客户本身是需要我们去处理，而业务员，则需要我们自身改善</a:t>
            </a:r>
            <a:endParaRPr lang="zh-CN" altLang="en-US" dirty="0">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102402" name="幻灯片图像占位符 102401"/>
          <p:cNvSpPr>
            <a:spLocks noGrp="1"/>
          </p:cNvSpPr>
          <p:nvPr>
            <p:ph type="sldImg"/>
          </p:nvPr>
        </p:nvSpPr>
        <p:spPr>
          <a:ln w="1"/>
        </p:spPr>
      </p:sp>
      <p:sp>
        <p:nvSpPr>
          <p:cNvPr id="102403" name="文本占位符 102402"/>
          <p:cNvSpPr>
            <a:spLocks noGrp="1"/>
          </p:cNvSpPr>
          <p:nvPr>
            <p:ph type="body" idx="1"/>
          </p:nvPr>
        </p:nvSpPr>
        <p:spPr>
          <a:ln w="1"/>
        </p:spPr>
        <p:txBody>
          <a:bodyPr lIns="95418" tIns="47709" rIns="95418" bIns="47709" anchor="ctr" anchorCtr="0"/>
          <a:p>
            <a:pPr lvl="0"/>
            <a:r>
              <a:rPr lang="zh-CN" altLang="en-US" dirty="0">
                <a:ea typeface="宋体" panose="02010600030101010101" pitchFamily="2" charset="-122"/>
              </a:rPr>
              <a:t>1、不要否定客户的异议，对客户表示理解，如果能在适当的时候加以赞美，效果就更好了，诸如赞美客户考虑问题很全面等等，先解决情绪问题，也给自己一点思考的时间</a:t>
            </a:r>
            <a:endParaRPr lang="zh-CN" altLang="en-US" dirty="0">
              <a:ea typeface="宋体" panose="02010600030101010101" pitchFamily="2" charset="-122"/>
            </a:endParaRPr>
          </a:p>
          <a:p>
            <a:pPr lvl="0"/>
            <a:r>
              <a:rPr lang="zh-CN" altLang="en-US" dirty="0">
                <a:ea typeface="宋体" panose="02010600030101010101" pitchFamily="2" charset="-122"/>
              </a:rPr>
              <a:t>2、对客户提出的问题进行解释，让客户放心（客户为什么会有异议，就是怕这个问题落在自己身上）</a:t>
            </a:r>
            <a:endParaRPr lang="zh-CN" altLang="en-US" dirty="0">
              <a:ea typeface="宋体" panose="02010600030101010101" pitchFamily="2" charset="-122"/>
            </a:endParaRPr>
          </a:p>
          <a:p>
            <a:pPr lvl="0"/>
            <a:r>
              <a:rPr lang="zh-CN" altLang="en-US" dirty="0">
                <a:ea typeface="宋体" panose="02010600030101010101" pitchFamily="2" charset="-122"/>
              </a:rPr>
              <a:t>3、尽量给出一些能够解决实际问题的合理化建议</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105474" name="Rectangle 7"/>
          <p:cNvSpPr txBox="1">
            <a:spLocks noGrp="1"/>
          </p:cNvSpPr>
          <p:nvPr/>
        </p:nvSpPr>
        <p:spPr>
          <a:xfrm>
            <a:off x="3762375" y="9409113"/>
            <a:ext cx="2878138" cy="495300"/>
          </a:xfrm>
          <a:prstGeom prst="rect">
            <a:avLst/>
          </a:prstGeom>
          <a:noFill/>
          <a:ln w="9525">
            <a:noFill/>
          </a:ln>
        </p:spPr>
        <p:txBody>
          <a:bodyPr lIns="95418" tIns="47709" rIns="95418" bIns="47709" anchor="b" anchorCtr="0"/>
          <a:p>
            <a:pPr lvl="0" algn="r" defTabSz="954405" eaLnBrk="1" hangingPunct="1"/>
            <a:fld id="{9A0DB2DC-4C9A-4742-B13C-FB6460FD3503}" type="slidenum">
              <a:rPr lang="zh-CN" altLang="en-US" sz="1300" b="0" dirty="0">
                <a:latin typeface="Times New Roman" panose="02020603050405020304" pitchFamily="18" charset="0"/>
                <a:ea typeface="PMingLiU" pitchFamily="18" charset="-120"/>
              </a:rPr>
            </a:fld>
            <a:endParaRPr lang="zh-CN" altLang="en-US" sz="1300" b="0" dirty="0">
              <a:latin typeface="Times New Roman" panose="02020603050405020304" pitchFamily="18" charset="0"/>
              <a:ea typeface="PMingLiU" pitchFamily="18" charset="-120"/>
            </a:endParaRPr>
          </a:p>
        </p:txBody>
      </p:sp>
      <p:sp>
        <p:nvSpPr>
          <p:cNvPr id="105475" name="Rectangle 2"/>
          <p:cNvSpPr>
            <a:spLocks noGrp="1" noTextEdit="1"/>
          </p:cNvSpPr>
          <p:nvPr>
            <p:ph type="sldImg"/>
          </p:nvPr>
        </p:nvSpPr>
        <p:spPr>
          <a:ln/>
        </p:spPr>
      </p:sp>
      <p:sp>
        <p:nvSpPr>
          <p:cNvPr id="105476" name="Rectangle 3"/>
          <p:cNvSpPr>
            <a:spLocks noGrp="1"/>
          </p:cNvSpPr>
          <p:nvPr>
            <p:ph type="body" idx="1"/>
          </p:nvPr>
        </p:nvSpPr>
        <p:spPr>
          <a:ln/>
        </p:spPr>
        <p:txBody>
          <a:bodyPr vert="horz" wrap="square" lIns="95418" tIns="47709" rIns="95418" bIns="47709" anchor="ctr" anchorCtr="0"/>
          <a:p>
            <a:pPr lvl="0" eaLnBrk="1" hangingPunct="1"/>
            <a:r>
              <a:rPr lang="en-US" altLang="zh-CN" dirty="0"/>
              <a:t>1</a:t>
            </a:r>
            <a:r>
              <a:rPr lang="zh-CN" altLang="en-US" dirty="0">
                <a:ea typeface="宋体" panose="02010600030101010101" pitchFamily="2" charset="-122"/>
              </a:rPr>
              <a:t>、</a:t>
            </a:r>
            <a:r>
              <a:rPr lang="zh-CN" altLang="en-US" dirty="0"/>
              <a:t>让学员分别列出销售的各个环节客户容易出现异议的</a:t>
            </a:r>
            <a:r>
              <a:rPr lang="en-US" altLang="zh-CN" dirty="0"/>
              <a:t>1-2</a:t>
            </a:r>
            <a:r>
              <a:rPr lang="zh-CN" altLang="en-US" dirty="0"/>
              <a:t>个问题。</a:t>
            </a:r>
            <a:endParaRPr lang="zh-CN" altLang="en-US" dirty="0"/>
          </a:p>
          <a:p>
            <a:pPr lvl="0" eaLnBrk="1" hangingPunct="1"/>
            <a:r>
              <a:rPr lang="en-US" altLang="zh-CN" dirty="0"/>
              <a:t>2</a:t>
            </a:r>
            <a:r>
              <a:rPr lang="zh-CN" altLang="en-US" dirty="0">
                <a:ea typeface="宋体" panose="02010600030101010101" pitchFamily="2" charset="-122"/>
              </a:rPr>
              <a:t>、</a:t>
            </a:r>
            <a:r>
              <a:rPr lang="zh-CN" altLang="en-US" dirty="0"/>
              <a:t>在白板上罗列和整理收集的问题，并让学员分组讨论如何应对这些异议的话术。</a:t>
            </a:r>
            <a:endParaRPr lang="zh-CN" altLang="en-US" dirty="0"/>
          </a:p>
          <a:p>
            <a:pPr lvl="0" eaLnBrk="1" hangingPunct="1"/>
            <a:r>
              <a:rPr lang="zh-CN" altLang="en-US" dirty="0"/>
              <a:t>异议处理主要是让学员在课堂中对销售过程中遇到的问题进行模拟练习，为下午的信用卡销售通关做好准备</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107522" name="Rectangle 7"/>
          <p:cNvSpPr txBox="1">
            <a:spLocks noGrp="1"/>
          </p:cNvSpPr>
          <p:nvPr/>
        </p:nvSpPr>
        <p:spPr>
          <a:xfrm>
            <a:off x="3762375" y="9409113"/>
            <a:ext cx="2878138" cy="495300"/>
          </a:xfrm>
          <a:prstGeom prst="rect">
            <a:avLst/>
          </a:prstGeom>
          <a:noFill/>
          <a:ln w="9525">
            <a:noFill/>
          </a:ln>
        </p:spPr>
        <p:txBody>
          <a:bodyPr lIns="95418" tIns="47709" rIns="95418" bIns="47709" anchor="b" anchorCtr="0"/>
          <a:p>
            <a:pPr lvl="0" algn="r" defTabSz="954405" eaLnBrk="1" hangingPunct="1"/>
            <a:fld id="{9A0DB2DC-4C9A-4742-B13C-FB6460FD3503}" type="slidenum">
              <a:rPr lang="zh-CN" altLang="en-US" sz="1300" b="0" dirty="0">
                <a:latin typeface="Times New Roman" panose="02020603050405020304" pitchFamily="18" charset="0"/>
                <a:ea typeface="PMingLiU" pitchFamily="18" charset="-120"/>
              </a:rPr>
            </a:fld>
            <a:endParaRPr lang="zh-CN" altLang="en-US" sz="1300" b="0" dirty="0">
              <a:latin typeface="Times New Roman" panose="02020603050405020304" pitchFamily="18" charset="0"/>
              <a:ea typeface="PMingLiU" pitchFamily="18" charset="-120"/>
            </a:endParaRPr>
          </a:p>
        </p:txBody>
      </p:sp>
      <p:sp>
        <p:nvSpPr>
          <p:cNvPr id="107523" name="Rectangle 2"/>
          <p:cNvSpPr>
            <a:spLocks noGrp="1" noTextEdit="1"/>
          </p:cNvSpPr>
          <p:nvPr>
            <p:ph type="sldImg"/>
          </p:nvPr>
        </p:nvSpPr>
        <p:spPr>
          <a:ln/>
        </p:spPr>
      </p:sp>
      <p:sp>
        <p:nvSpPr>
          <p:cNvPr id="107524" name="Rectangle 3"/>
          <p:cNvSpPr>
            <a:spLocks noGrp="1"/>
          </p:cNvSpPr>
          <p:nvPr>
            <p:ph type="body" idx="1"/>
          </p:nvPr>
        </p:nvSpPr>
        <p:spPr>
          <a:ln/>
        </p:spPr>
        <p:txBody>
          <a:bodyPr vert="horz" wrap="square" lIns="95418" tIns="47709" rIns="95418" bIns="47709" anchor="ctr" anchorCtr="0"/>
          <a:p>
            <a:pPr lvl="0" eaLnBrk="1" hangingPunct="1"/>
            <a:r>
              <a:rPr lang="en-US" altLang="zh-CN" dirty="0"/>
              <a:t>1.</a:t>
            </a:r>
            <a:r>
              <a:rPr lang="zh-CN" altLang="en-US" dirty="0"/>
              <a:t>根据之前学员讨论的异议处理结果，分别上台实际演练。</a:t>
            </a:r>
            <a:endParaRPr lang="zh-CN" altLang="en-US" dirty="0"/>
          </a:p>
          <a:p>
            <a:pPr lvl="0" eaLnBrk="1" hangingPunct="1"/>
            <a:r>
              <a:rPr lang="en-US" altLang="zh-CN" dirty="0"/>
              <a:t>2.</a:t>
            </a:r>
            <a:r>
              <a:rPr lang="zh-CN" altLang="en-US" dirty="0"/>
              <a:t>演练结束后，由学员们分别给出点评。</a:t>
            </a:r>
            <a:endParaRPr lang="zh-CN" altLang="en-US" dirty="0"/>
          </a:p>
          <a:p>
            <a:pPr lvl="0" eaLnBrk="1" hangingPunct="1"/>
            <a:r>
              <a:rPr lang="en-US" altLang="zh-CN" dirty="0"/>
              <a:t>3.</a:t>
            </a:r>
            <a:r>
              <a:rPr lang="zh-CN" altLang="en-US" dirty="0"/>
              <a:t>最后由讲师总结，给出合理化建议或话术。</a:t>
            </a:r>
            <a:endParaRPr lang="zh-CN" altLang="en-US" dirty="0"/>
          </a:p>
          <a:p>
            <a:pPr lvl="0" eaLnBrk="1" hangingPunct="1"/>
            <a:r>
              <a:rPr lang="zh-CN" altLang="en-US" dirty="0"/>
              <a:t>在此环节要求我们讲师事先做好功课，收集当地经常遇到的异议处理，并结合销售部的异议处理话术手册给出一些较好的话术。</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109570" name="幻灯片图像占位符 1"/>
          <p:cNvSpPr>
            <a:spLocks noGrp="1" noRot="1" noChangeAspect="1" noTextEdit="1"/>
          </p:cNvSpPr>
          <p:nvPr>
            <p:ph type="sldImg"/>
          </p:nvPr>
        </p:nvSpPr>
        <p:spPr>
          <a:ln/>
        </p:spPr>
      </p:sp>
      <p:sp>
        <p:nvSpPr>
          <p:cNvPr id="109571" name="备注占位符 2"/>
          <p:cNvSpPr>
            <a:spLocks noGrp="1"/>
          </p:cNvSpPr>
          <p:nvPr>
            <p:ph type="body" idx="1"/>
          </p:nvPr>
        </p:nvSpPr>
        <p:spPr>
          <a:ln/>
        </p:spPr>
        <p:txBody>
          <a:bodyPr vert="horz" wrap="square" lIns="95418" tIns="47709" rIns="95418" bIns="47709" anchor="ctr" anchorCtr="0"/>
          <a:p>
            <a:pPr lvl="0" eaLnBrk="1" hangingPunct="1"/>
            <a:r>
              <a:rPr lang="en-US" altLang="zh-CN" dirty="0"/>
              <a:t>1.</a:t>
            </a:r>
            <a:r>
              <a:rPr lang="zh-CN" altLang="en-US" dirty="0"/>
              <a:t>任何销售的活动都要遵守国家的法律法规和卡中心的规章制度，严禁出现有损公司形象的言行，在销售活动中的合规性是第一原则；在销售过程中的话术和技巧都是为客户解决问题，从而达成共识，完成双赢的销售，所以我们在销售的过程中一定要注意自己话术和技巧的有效性；因为信用卡销售的过程一般时间比较短，客户的异议都需要在第一时间给到处理和反馈，所以对于销售人员的随机应变能力也是有一定的要求，务必第一时间内处理好客户的异议。</a:t>
            </a:r>
            <a:endParaRPr lang="zh-CN" altLang="en-US" dirty="0"/>
          </a:p>
          <a:p>
            <a:pPr lvl="0"/>
            <a:r>
              <a:rPr lang="en-US" altLang="zh-CN" dirty="0"/>
              <a:t>2</a:t>
            </a:r>
            <a:r>
              <a:rPr lang="zh-CN" altLang="en-US" dirty="0"/>
              <a:t>、不要希望解决客户的所有问题，在解决任何一个异议处理时要有意思引导客户填写申请表。</a:t>
            </a:r>
            <a:endParaRPr lang="zh-CN" altLang="en-US" dirty="0"/>
          </a:p>
          <a:p>
            <a:pPr lvl="0"/>
            <a:r>
              <a:rPr lang="zh-CN" altLang="en-US" dirty="0"/>
              <a:t>3、异议处理的最终目的是为了促成，同产品介绍一样，在异议处理时引导客户认同我们的产品，抓住合适的机会，及时、反复促成</a:t>
            </a:r>
            <a:endParaRPr lang="zh-CN" altLang="en-US" dirty="0"/>
          </a:p>
        </p:txBody>
      </p:sp>
      <p:sp>
        <p:nvSpPr>
          <p:cNvPr id="109572" name="灯片编号占位符 3"/>
          <p:cNvSpPr txBox="1">
            <a:spLocks noGrp="1"/>
          </p:cNvSpPr>
          <p:nvPr/>
        </p:nvSpPr>
        <p:spPr>
          <a:xfrm>
            <a:off x="3762375" y="9409113"/>
            <a:ext cx="2878138" cy="495300"/>
          </a:xfrm>
          <a:prstGeom prst="rect">
            <a:avLst/>
          </a:prstGeom>
          <a:noFill/>
          <a:ln w="9525">
            <a:noFill/>
          </a:ln>
        </p:spPr>
        <p:txBody>
          <a:bodyPr lIns="95418" tIns="47709" rIns="95418" bIns="47709" anchor="b" anchorCtr="0"/>
          <a:p>
            <a:pPr lvl="0" algn="r" defTabSz="954405" eaLnBrk="1" hangingPunct="1"/>
            <a:fld id="{9A0DB2DC-4C9A-4742-B13C-FB6460FD3503}" type="slidenum">
              <a:rPr lang="zh-CN" altLang="en-US" sz="1300" b="0" dirty="0">
                <a:latin typeface="Times New Roman" panose="02020603050405020304" pitchFamily="18" charset="0"/>
                <a:ea typeface="PMingLiU" pitchFamily="18" charset="-120"/>
              </a:rPr>
            </a:fld>
            <a:endParaRPr lang="zh-CN" altLang="en-US" sz="1300" b="0" dirty="0">
              <a:latin typeface="Times New Roman" panose="02020603050405020304" pitchFamily="18" charset="0"/>
              <a:ea typeface="PMingLiU" pitchFamily="18" charset="-120"/>
            </a:endParaRPr>
          </a:p>
        </p:txBody>
      </p:sp>
    </p:spTree>
  </p:cSld>
  <p:clrMapOvr>
    <a:overrideClrMapping bg1="lt1" tx1="dk1" bg2="lt2" tx2="dk2" accent1="accent1" accent2="accent2" accent3="accent3" accent4="accent4" accent5="accent5" accent6="accent6" hlink="hlink" folHlink="folHlink"/>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238" y="1122363"/>
            <a:ext cx="6859429" cy="2387600"/>
          </a:xfrm>
        </p:spPr>
        <p:txBody>
          <a:bodyPr anchor="b"/>
          <a:lstStyle>
            <a:lvl1pPr algn="ctr">
              <a:defRPr sz="45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143238" y="3602038"/>
            <a:ext cx="6859429"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5135" indent="0" algn="ctr">
              <a:buNone/>
              <a:defRPr sz="1200"/>
            </a:lvl6pPr>
            <a:lvl7pPr marL="2058035" indent="0" algn="ctr">
              <a:buNone/>
              <a:defRPr sz="1200"/>
            </a:lvl7pPr>
            <a:lvl8pPr marL="2400935" indent="0" algn="ctr">
              <a:buNone/>
              <a:defRPr sz="1200"/>
            </a:lvl8pPr>
            <a:lvl9pPr marL="2743835" indent="0" algn="ctr">
              <a:buNone/>
              <a:defRPr sz="1200"/>
            </a:lvl9pPr>
          </a:lstStyle>
          <a:p>
            <a:r>
              <a:rPr lang="zh-CN" altLang="en-US" smtClean="0"/>
              <a:t>单击此处编辑母版副标题样式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4017" y="1709738"/>
            <a:ext cx="7888343" cy="2852737"/>
          </a:xfrm>
        </p:spPr>
        <p:txBody>
          <a:bodyPr anchor="b"/>
          <a:lstStyle>
            <a:lvl1pPr>
              <a:defRPr sz="45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4017" y="4589463"/>
            <a:ext cx="7888343"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5135" indent="0">
              <a:buNone/>
              <a:defRPr sz="1200">
                <a:solidFill>
                  <a:schemeClr val="tx1">
                    <a:tint val="75000"/>
                  </a:schemeClr>
                </a:solidFill>
              </a:defRPr>
            </a:lvl6pPr>
            <a:lvl7pPr marL="2058035" indent="0">
              <a:buNone/>
              <a:defRPr sz="1200">
                <a:solidFill>
                  <a:schemeClr val="tx1">
                    <a:tint val="75000"/>
                  </a:schemeClr>
                </a:solidFill>
              </a:defRPr>
            </a:lvl7pPr>
            <a:lvl8pPr marL="2400935" indent="0">
              <a:buNone/>
              <a:defRPr sz="1200">
                <a:solidFill>
                  <a:schemeClr val="tx1">
                    <a:tint val="75000"/>
                  </a:schemeClr>
                </a:solidFill>
              </a:defRPr>
            </a:lvl8pPr>
            <a:lvl9pPr marL="2743835" indent="0">
              <a:buNone/>
              <a:defRPr sz="1200">
                <a:solidFill>
                  <a:schemeClr val="tx1">
                    <a:tint val="75000"/>
                  </a:schemeClr>
                </a:solidFill>
              </a:defRPr>
            </a:lvl9pPr>
          </a:lstStyle>
          <a:p>
            <a:pPr lvl="0"/>
            <a:r>
              <a:rPr lang="zh-CN" altLang="en-US" smtClean="0"/>
              <a:t>单击此处编辑母版文本样式</a:t>
            </a:r>
            <a:endParaRPr lang="zh-CN" altLang="en-US"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981200"/>
            <a:ext cx="3809254" cy="4114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50534" y="1981200"/>
            <a:ext cx="3809254" cy="4114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972" y="365125"/>
            <a:ext cx="7888343"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90266" y="1778438"/>
            <a:ext cx="365594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5135" indent="0">
              <a:buNone/>
              <a:defRPr sz="1350"/>
            </a:lvl6pPr>
            <a:lvl7pPr marL="2058035" indent="0">
              <a:buNone/>
              <a:defRPr sz="1350"/>
            </a:lvl7pPr>
            <a:lvl8pPr marL="2400935" indent="0">
              <a:buNone/>
              <a:defRPr sz="1350"/>
            </a:lvl8pPr>
            <a:lvl9pPr marL="2743835" indent="0">
              <a:buNone/>
              <a:defRPr sz="1350"/>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90266" y="2665379"/>
            <a:ext cx="3655942"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93681" y="1778438"/>
            <a:ext cx="3673947"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5135" indent="0">
              <a:buNone/>
              <a:defRPr sz="1350"/>
            </a:lvl6pPr>
            <a:lvl7pPr marL="2058035" indent="0">
              <a:buNone/>
              <a:defRPr sz="1350"/>
            </a:lvl7pPr>
            <a:lvl8pPr marL="2400935" indent="0">
              <a:buNone/>
              <a:defRPr sz="1350"/>
            </a:lvl8pPr>
            <a:lvl9pPr marL="2743835" indent="0">
              <a:buNone/>
              <a:defRPr sz="1350"/>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93681" y="2665379"/>
            <a:ext cx="3673947"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972" y="457200"/>
            <a:ext cx="2949792" cy="1600200"/>
          </a:xfrm>
        </p:spPr>
        <p:txBody>
          <a:bodyPr anchor="b"/>
          <a:lstStyle>
            <a:lvl1pPr>
              <a:defRPr sz="24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8201" y="987425"/>
            <a:ext cx="4630114"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29972" y="2057400"/>
            <a:ext cx="2949792"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5135" indent="0">
              <a:buNone/>
              <a:defRPr sz="750"/>
            </a:lvl6pPr>
            <a:lvl7pPr marL="2058035" indent="0">
              <a:buNone/>
              <a:defRPr sz="750"/>
            </a:lvl7pPr>
            <a:lvl8pPr marL="2400935" indent="0">
              <a:buNone/>
              <a:defRPr sz="750"/>
            </a:lvl8pPr>
            <a:lvl9pPr marL="2743835" indent="0">
              <a:buNone/>
              <a:defRPr sz="75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972" y="457200"/>
            <a:ext cx="3124663" cy="1600200"/>
          </a:xfrm>
        </p:spPr>
        <p:txBody>
          <a:bodyPr anchor="b"/>
          <a:lstStyle>
            <a:lvl1pPr>
              <a:defRPr sz="24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8201" y="457201"/>
            <a:ext cx="4630114"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5135" indent="0">
              <a:buNone/>
              <a:defRPr sz="1500"/>
            </a:lvl6pPr>
            <a:lvl7pPr marL="2058035" indent="0">
              <a:buNone/>
              <a:defRPr sz="1500"/>
            </a:lvl7pPr>
            <a:lvl8pPr marL="2400935" indent="0">
              <a:buNone/>
              <a:defRPr sz="1500"/>
            </a:lvl8pPr>
            <a:lvl9pPr marL="2743835" indent="0">
              <a:buNone/>
              <a:defRPr sz="1500"/>
            </a:lvl9pPr>
          </a:lstStyle>
          <a:p>
            <a:endParaRPr lang="zh-CN" altLang="en-US"/>
          </a:p>
        </p:txBody>
      </p:sp>
      <p:sp>
        <p:nvSpPr>
          <p:cNvPr id="4" name="文本占位符 3"/>
          <p:cNvSpPr>
            <a:spLocks noGrp="1"/>
          </p:cNvSpPr>
          <p:nvPr>
            <p:ph type="body" sz="half" idx="2"/>
          </p:nvPr>
        </p:nvSpPr>
        <p:spPr>
          <a:xfrm>
            <a:off x="629972" y="2057400"/>
            <a:ext cx="3124663"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5135" indent="0">
              <a:buNone/>
              <a:defRPr sz="1050"/>
            </a:lvl6pPr>
            <a:lvl7pPr marL="2058035" indent="0">
              <a:buNone/>
              <a:defRPr sz="1050"/>
            </a:lvl7pPr>
            <a:lvl8pPr marL="2400935" indent="0">
              <a:buNone/>
              <a:defRPr sz="1050"/>
            </a:lvl8pPr>
            <a:lvl9pPr marL="2743835" indent="0">
              <a:buNone/>
              <a:defRPr sz="105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6291" y="609600"/>
            <a:ext cx="1943497" cy="54864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85800" y="609600"/>
            <a:ext cx="5717825" cy="54864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3.jpeg"/><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p:pic>
        <p:nvPicPr>
          <p:cNvPr id="1026" name="Picture 2"/>
          <p:cNvPicPr>
            <a:picLocks noChangeAspect="1"/>
          </p:cNvPicPr>
          <p:nvPr/>
        </p:nvPicPr>
        <p:blipFill>
          <a:blip r:embed="rId12"/>
          <a:stretch>
            <a:fillRect/>
          </a:stretch>
        </p:blipFill>
        <p:spPr>
          <a:xfrm>
            <a:off x="0" y="685800"/>
            <a:ext cx="9144000" cy="5181600"/>
          </a:xfrm>
          <a:prstGeom prst="rect">
            <a:avLst/>
          </a:prstGeom>
          <a:noFill/>
          <a:ln w="9525">
            <a:noFill/>
          </a:ln>
        </p:spPr>
      </p:pic>
      <p:pic>
        <p:nvPicPr>
          <p:cNvPr id="1027" name="Picture 3" descr="A-2-1211111"/>
          <p:cNvPicPr>
            <a:picLocks noChangeAspect="1"/>
          </p:cNvPicPr>
          <p:nvPr/>
        </p:nvPicPr>
        <p:blipFill>
          <a:blip r:embed="rId13"/>
          <a:stretch>
            <a:fillRect/>
          </a:stretch>
        </p:blipFill>
        <p:spPr>
          <a:xfrm>
            <a:off x="0" y="6210300"/>
            <a:ext cx="9144000" cy="674688"/>
          </a:xfrm>
          <a:prstGeom prst="rect">
            <a:avLst/>
          </a:prstGeom>
          <a:noFill/>
          <a:ln w="9525">
            <a:noFill/>
          </a:ln>
        </p:spPr>
      </p:pic>
      <p:sp>
        <p:nvSpPr>
          <p:cNvPr id="1028" name="Rectangle 4"/>
          <p:cNvSpPr>
            <a:spLocks noGrp="1"/>
          </p:cNvSpPr>
          <p:nvPr>
            <p:ph type="title"/>
          </p:nvPr>
        </p:nvSpPr>
        <p:spPr>
          <a:xfrm>
            <a:off x="685800" y="609600"/>
            <a:ext cx="7773988" cy="1143000"/>
          </a:xfrm>
          <a:prstGeom prst="rect">
            <a:avLst/>
          </a:prstGeom>
          <a:noFill/>
          <a:ln w="9525">
            <a:noFill/>
          </a:ln>
        </p:spPr>
        <p:txBody>
          <a:bodyPr anchor="ctr" anchorCtr="0"/>
          <a:p>
            <a:pPr lvl="0"/>
            <a:r>
              <a:rPr lang="zh-TW" altLang="en-US"/>
              <a:t>单击此处交通银行太平洋信用卡中心编辑母版标题样式</a:t>
            </a:r>
            <a:endParaRPr lang="zh-TW" altLang="en-US"/>
          </a:p>
        </p:txBody>
      </p:sp>
      <p:sp>
        <p:nvSpPr>
          <p:cNvPr id="1029" name="Rectangle 5"/>
          <p:cNvSpPr>
            <a:spLocks noGrp="1"/>
          </p:cNvSpPr>
          <p:nvPr>
            <p:ph type="body" idx="1"/>
          </p:nvPr>
        </p:nvSpPr>
        <p:spPr>
          <a:xfrm>
            <a:off x="685800" y="1981200"/>
            <a:ext cx="7773988" cy="4114800"/>
          </a:xfrm>
          <a:prstGeom prst="rect">
            <a:avLst/>
          </a:prstGeom>
          <a:noFill/>
          <a:ln w="9525">
            <a:noFill/>
          </a:ln>
        </p:spPr>
        <p:txBody>
          <a:bodyPr/>
          <a:p>
            <a:pPr lvl="0"/>
            <a:r>
              <a:rPr lang="zh-TW" altLang="en-US"/>
              <a:t>不含以营销为目邀请的</a:t>
            </a:r>
            <a:endParaRPr lang="zh-TW" altLang="en-US"/>
          </a:p>
          <a:p>
            <a:pPr lvl="1"/>
            <a:r>
              <a:rPr lang="zh-TW" altLang="en-US"/>
              <a:t>第二级</a:t>
            </a:r>
            <a:endParaRPr lang="zh-TW" altLang="en-US"/>
          </a:p>
          <a:p>
            <a:pPr lvl="2"/>
            <a:r>
              <a:rPr lang="zh-TW" altLang="en-US"/>
              <a:t>第三级</a:t>
            </a:r>
            <a:endParaRPr lang="zh-TW" altLang="en-US"/>
          </a:p>
          <a:p>
            <a:pPr lvl="3"/>
            <a:r>
              <a:rPr lang="zh-TW" altLang="en-US"/>
              <a:t>第四级</a:t>
            </a:r>
            <a:endParaRPr lang="zh-TW" altLang="en-US"/>
          </a:p>
          <a:p>
            <a:pPr lvl="4"/>
            <a:r>
              <a:rPr lang="zh-TW" altLang="en-US"/>
              <a:t>第五级</a:t>
            </a:r>
            <a:endParaRPr lang="zh-TW" altLang="en-US"/>
          </a:p>
        </p:txBody>
      </p:sp>
      <p:sp>
        <p:nvSpPr>
          <p:cNvPr id="1030" name="Line 6"/>
          <p:cNvSpPr/>
          <p:nvPr/>
        </p:nvSpPr>
        <p:spPr>
          <a:xfrm>
            <a:off x="381000" y="6308725"/>
            <a:ext cx="8231188" cy="0"/>
          </a:xfrm>
          <a:prstGeom prst="line">
            <a:avLst/>
          </a:prstGeom>
          <a:ln w="19050" cap="flat" cmpd="sng">
            <a:solidFill>
              <a:srgbClr val="FF9900"/>
            </a:solidFill>
            <a:prstDash val="solid"/>
            <a:headEnd type="none" w="med" len="med"/>
            <a:tailEnd type="none" w="med" len="med"/>
          </a:ln>
        </p:spPr>
      </p:sp>
      <p:sp>
        <p:nvSpPr>
          <p:cNvPr id="1031" name="Line 7"/>
          <p:cNvSpPr/>
          <p:nvPr/>
        </p:nvSpPr>
        <p:spPr>
          <a:xfrm>
            <a:off x="431800" y="549275"/>
            <a:ext cx="8389938" cy="0"/>
          </a:xfrm>
          <a:prstGeom prst="line">
            <a:avLst/>
          </a:prstGeom>
          <a:ln w="9525" cap="flat" cmpd="sng">
            <a:solidFill>
              <a:srgbClr val="FF9900"/>
            </a:solidFill>
            <a:prstDash val="solid"/>
            <a:headEnd type="none" w="med" len="med"/>
            <a:tailEnd type="none" w="med" len="med"/>
          </a:ln>
        </p:spPr>
      </p:sp>
      <p:pic>
        <p:nvPicPr>
          <p:cNvPr id="1032" name="Picture 8" descr="新图像"/>
          <p:cNvPicPr>
            <a:picLocks noChangeAspect="1"/>
          </p:cNvPicPr>
          <p:nvPr/>
        </p:nvPicPr>
        <p:blipFill>
          <a:blip r:embed="rId14"/>
          <a:stretch>
            <a:fillRect/>
          </a:stretch>
        </p:blipFill>
        <p:spPr>
          <a:xfrm>
            <a:off x="7740650" y="0"/>
            <a:ext cx="990600" cy="471488"/>
          </a:xfrm>
          <a:prstGeom prst="rect">
            <a:avLst/>
          </a:prstGeom>
          <a:noFill/>
          <a:ln w="9525">
            <a:noFill/>
          </a:ln>
        </p:spPr>
      </p:pic>
      <p:sp>
        <p:nvSpPr>
          <p:cNvPr id="1033" name="Text Box 9" descr="新闻纸"/>
          <p:cNvSpPr txBox="1"/>
          <p:nvPr userDrawn="1"/>
        </p:nvSpPr>
        <p:spPr>
          <a:xfrm>
            <a:off x="252413" y="152400"/>
            <a:ext cx="3132137" cy="396875"/>
          </a:xfrm>
          <a:prstGeom prst="rect">
            <a:avLst/>
          </a:prstGeom>
          <a:noFill/>
          <a:ln w="9525">
            <a:noFill/>
          </a:ln>
        </p:spPr>
        <p:txBody>
          <a:bodyPr>
            <a:spAutoFit/>
          </a:bodyPr>
          <a:p>
            <a:pPr lvl="0" eaLnBrk="1" hangingPunct="1">
              <a:spcBef>
                <a:spcPct val="50000"/>
              </a:spcBef>
            </a:pPr>
            <a:r>
              <a:rPr lang="zh-CN" altLang="en-US" sz="2000" b="0" dirty="0">
                <a:latin typeface="Frutiger 45 Light" pitchFamily="2" charset="0"/>
                <a:ea typeface="华文隶书" panose="02010800040101010101" pitchFamily="2" charset="-122"/>
              </a:rPr>
              <a:t>信用卡销售宝典之话术篇</a:t>
            </a:r>
            <a:endParaRPr lang="zh-CN" altLang="en-US" sz="2000" b="0" dirty="0">
              <a:latin typeface="Frutiger 45 Light" pitchFamily="2" charset="0"/>
              <a:ea typeface="华文隶书" panose="02010800040101010101" pitchFamily="2"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ctr" defTabSz="914400" eaLnBrk="0" fontAlgn="base" latinLnBrk="0" hangingPunct="0">
        <a:lnSpc>
          <a:spcPct val="100000"/>
        </a:lnSpc>
        <a:spcBef>
          <a:spcPct val="0"/>
        </a:spcBef>
        <a:spcAft>
          <a:spcPct val="0"/>
        </a:spcAft>
        <a:buNone/>
        <a:defRPr sz="3600" b="0" i="0" u="none" kern="1200" baseline="0">
          <a:solidFill>
            <a:schemeClr val="tx2"/>
          </a:solidFill>
          <a:latin typeface="+mj-lt"/>
          <a:ea typeface="+mj-ea"/>
          <a:cs typeface="+mj-cs"/>
        </a:defRPr>
      </a:lvl1pPr>
    </p:titleStyle>
    <p:bodyStyle>
      <a:lvl1pPr marL="342900" lvl="0" indent="-342900" algn="l" defTabSz="914400" eaLnBrk="0" fontAlgn="base" latinLnBrk="0" hangingPunct="0">
        <a:lnSpc>
          <a:spcPct val="100000"/>
        </a:lnSpc>
        <a:spcBef>
          <a:spcPct val="20000"/>
        </a:spcBef>
        <a:spcAft>
          <a:spcPct val="0"/>
        </a:spcAft>
        <a:buClr>
          <a:srgbClr val="FF3300"/>
        </a:buClr>
        <a:buFont typeface="Wingdings" panose="05000000000000000000" pitchFamily="2" charset="2"/>
        <a:buChar char="Ø"/>
        <a:defRPr sz="3200" b="0" i="0" u="none" kern="1200" baseline="0">
          <a:solidFill>
            <a:schemeClr val="tx1"/>
          </a:solidFill>
          <a:latin typeface="+mn-lt"/>
          <a:ea typeface="+mn-ea"/>
          <a:cs typeface="+mn-cs"/>
        </a:defRPr>
      </a:lvl1pPr>
      <a:lvl2pPr marL="742950" lvl="1" indent="-285750" algn="l" defTabSz="914400" eaLnBrk="0" fontAlgn="base" latinLnBrk="0" hangingPunct="0">
        <a:lnSpc>
          <a:spcPct val="100000"/>
        </a:lnSpc>
        <a:spcBef>
          <a:spcPct val="20000"/>
        </a:spcBef>
        <a:spcAft>
          <a:spcPct val="0"/>
        </a:spcAft>
        <a:buClr>
          <a:srgbClr val="FF3300"/>
        </a:buClr>
        <a:buFont typeface="Wingdings" panose="05000000000000000000" pitchFamily="2" charset="2"/>
        <a:buChar char="Ø"/>
        <a:defRPr sz="2800" b="0" i="0" u="none" kern="1200" baseline="0">
          <a:solidFill>
            <a:schemeClr val="tx1"/>
          </a:solidFill>
          <a:latin typeface="+mn-lt"/>
          <a:ea typeface="宋体" panose="02010600030101010101" pitchFamily="2" charset="-122"/>
          <a:cs typeface="+mn-cs"/>
        </a:defRPr>
      </a:lvl2pPr>
      <a:lvl3pPr marL="1143000" lvl="2" indent="-228600" algn="l" defTabSz="914400" eaLnBrk="0" fontAlgn="base" latinLnBrk="0" hangingPunct="0">
        <a:lnSpc>
          <a:spcPct val="100000"/>
        </a:lnSpc>
        <a:spcBef>
          <a:spcPct val="20000"/>
        </a:spcBef>
        <a:spcAft>
          <a:spcPct val="0"/>
        </a:spcAft>
        <a:buClr>
          <a:srgbClr val="FF3300"/>
        </a:buClr>
        <a:buFont typeface="Wingdings" panose="05000000000000000000" pitchFamily="2" charset="2"/>
        <a:buChar char="Ø"/>
        <a:defRPr sz="2400" b="0" i="0" u="none" kern="1200" baseline="0">
          <a:solidFill>
            <a:schemeClr val="tx1"/>
          </a:solidFill>
          <a:latin typeface="+mn-lt"/>
          <a:ea typeface="宋体" panose="02010600030101010101" pitchFamily="2" charset="-122"/>
          <a:cs typeface="+mn-cs"/>
        </a:defRPr>
      </a:lvl3pPr>
      <a:lvl4pPr marL="1600200" lvl="3" indent="-228600" algn="l" defTabSz="914400" eaLnBrk="0" fontAlgn="base" latinLnBrk="0" hangingPunct="0">
        <a:lnSpc>
          <a:spcPct val="100000"/>
        </a:lnSpc>
        <a:spcBef>
          <a:spcPct val="20000"/>
        </a:spcBef>
        <a:spcAft>
          <a:spcPct val="0"/>
        </a:spcAft>
        <a:buClr>
          <a:srgbClr val="FF3300"/>
        </a:buClr>
        <a:buFont typeface="Wingdings" panose="05000000000000000000" pitchFamily="2" charset="2"/>
        <a:buChar char="Ø"/>
        <a:defRPr sz="2000" b="0" i="0" u="none" kern="1200" baseline="0">
          <a:solidFill>
            <a:schemeClr val="tx1"/>
          </a:solidFill>
          <a:latin typeface="+mn-lt"/>
          <a:ea typeface="宋体" panose="02010600030101010101" pitchFamily="2" charset="-122"/>
          <a:cs typeface="+mn-cs"/>
        </a:defRPr>
      </a:lvl4pPr>
      <a:lvl5pPr marL="2057400" lvl="4" indent="-228600" algn="l" defTabSz="914400" eaLnBrk="0" fontAlgn="base" latinLnBrk="0" hangingPunct="0">
        <a:lnSpc>
          <a:spcPct val="100000"/>
        </a:lnSpc>
        <a:spcBef>
          <a:spcPct val="20000"/>
        </a:spcBef>
        <a:spcAft>
          <a:spcPct val="0"/>
        </a:spcAft>
        <a:buClr>
          <a:srgbClr val="FF3300"/>
        </a:buClr>
        <a:buFont typeface="Wingdings" panose="05000000000000000000" pitchFamily="2" charset="2"/>
        <a:buChar char="Ø"/>
        <a:defRPr sz="2000" b="0" i="0" u="none" kern="1200" baseline="0">
          <a:solidFill>
            <a:schemeClr val="tx1"/>
          </a:solidFill>
          <a:latin typeface="+mn-lt"/>
          <a:ea typeface="宋体" panose="02010600030101010101" pitchFamily="2" charset="-122"/>
          <a:cs typeface="+mn-cs"/>
        </a:defRPr>
      </a:lvl5pPr>
      <a:lvl6pPr marL="2514600" lvl="5" indent="-228600" algn="l" defTabSz="914400" eaLnBrk="0" fontAlgn="base" latinLnBrk="0" hangingPunct="0">
        <a:lnSpc>
          <a:spcPct val="100000"/>
        </a:lnSpc>
        <a:spcBef>
          <a:spcPct val="20000"/>
        </a:spcBef>
        <a:spcAft>
          <a:spcPct val="0"/>
        </a:spcAft>
        <a:buClr>
          <a:srgbClr val="FF3300"/>
        </a:buClr>
        <a:buFont typeface="Wingdings" panose="05000000000000000000" pitchFamily="2" charset="2"/>
        <a:buChar char="Ø"/>
        <a:defRPr sz="2000" b="0" i="0" u="none" kern="1200" baseline="0">
          <a:solidFill>
            <a:schemeClr val="tx1"/>
          </a:solidFill>
          <a:latin typeface="+mn-lt"/>
          <a:ea typeface="宋体" panose="02010600030101010101" pitchFamily="2" charset="-122"/>
          <a:cs typeface="+mn-cs"/>
        </a:defRPr>
      </a:lvl6pPr>
      <a:lvl7pPr marL="2971800" lvl="6" indent="-228600" algn="l" defTabSz="914400" eaLnBrk="0" fontAlgn="base" latinLnBrk="0" hangingPunct="0">
        <a:lnSpc>
          <a:spcPct val="100000"/>
        </a:lnSpc>
        <a:spcBef>
          <a:spcPct val="20000"/>
        </a:spcBef>
        <a:spcAft>
          <a:spcPct val="0"/>
        </a:spcAft>
        <a:buClr>
          <a:srgbClr val="FF3300"/>
        </a:buClr>
        <a:buFont typeface="Wingdings" panose="05000000000000000000" pitchFamily="2" charset="2"/>
        <a:buChar char="Ø"/>
        <a:defRPr sz="2000" b="0" i="0" u="none" kern="1200" baseline="0">
          <a:solidFill>
            <a:schemeClr val="tx1"/>
          </a:solidFill>
          <a:latin typeface="+mn-lt"/>
          <a:ea typeface="宋体" panose="02010600030101010101" pitchFamily="2" charset="-122"/>
          <a:cs typeface="+mn-cs"/>
        </a:defRPr>
      </a:lvl7pPr>
      <a:lvl8pPr marL="3429000" lvl="7" indent="-228600" algn="l" defTabSz="914400" eaLnBrk="0" fontAlgn="base" latinLnBrk="0" hangingPunct="0">
        <a:lnSpc>
          <a:spcPct val="100000"/>
        </a:lnSpc>
        <a:spcBef>
          <a:spcPct val="20000"/>
        </a:spcBef>
        <a:spcAft>
          <a:spcPct val="0"/>
        </a:spcAft>
        <a:buClr>
          <a:srgbClr val="FF3300"/>
        </a:buClr>
        <a:buFont typeface="Wingdings" panose="05000000000000000000" pitchFamily="2" charset="2"/>
        <a:buChar char="Ø"/>
        <a:defRPr sz="2000" b="0" i="0" u="none" kern="1200" baseline="0">
          <a:solidFill>
            <a:schemeClr val="tx1"/>
          </a:solidFill>
          <a:latin typeface="+mn-lt"/>
          <a:ea typeface="宋体" panose="02010600030101010101" pitchFamily="2" charset="-122"/>
          <a:cs typeface="+mn-cs"/>
        </a:defRPr>
      </a:lvl8pPr>
      <a:lvl9pPr marL="3886200" lvl="8" indent="-228600" algn="l" defTabSz="914400" eaLnBrk="0" fontAlgn="base" latinLnBrk="0" hangingPunct="0">
        <a:lnSpc>
          <a:spcPct val="100000"/>
        </a:lnSpc>
        <a:spcBef>
          <a:spcPct val="20000"/>
        </a:spcBef>
        <a:spcAft>
          <a:spcPct val="0"/>
        </a:spcAft>
        <a:buClr>
          <a:srgbClr val="FF3300"/>
        </a:buClr>
        <a:buFont typeface="Wingdings" panose="05000000000000000000" pitchFamily="2" charset="2"/>
        <a:buChar char="Ø"/>
        <a:defRPr sz="2000" b="0" i="0" u="none" kern="1200" baseline="0">
          <a:solidFill>
            <a:schemeClr val="tx1"/>
          </a:solidFill>
          <a:latin typeface="+mn-lt"/>
          <a:ea typeface="宋体" panose="02010600030101010101" pitchFamily="2" charset="-122"/>
          <a:cs typeface="+mn-cs"/>
        </a:defRPr>
      </a:lvl9pPr>
    </p:bodyStyle>
    <p:otherStyle>
      <a:lvl1pPr marL="0" lvl="0" indent="0" algn="ctr" defTabSz="914400" rtl="0" eaLnBrk="0" fontAlgn="base" latinLnBrk="0" hangingPunct="0">
        <a:lnSpc>
          <a:spcPct val="100000"/>
        </a:lnSpc>
        <a:spcBef>
          <a:spcPct val="0"/>
        </a:spcBef>
        <a:spcAft>
          <a:spcPct val="0"/>
        </a:spcAft>
        <a:buNone/>
        <a:defRPr sz="2400" b="1" i="0" u="none" kern="1200" baseline="0">
          <a:solidFill>
            <a:schemeClr val="tx1"/>
          </a:solidFill>
          <a:latin typeface="+mn-lt"/>
          <a:ea typeface="+mn-ea"/>
          <a:cs typeface="+mn-cs"/>
        </a:defRPr>
      </a:lvl1pPr>
      <a:lvl2pPr marL="457200" lvl="1"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Frutiger 45 Light" pitchFamily="2" charset="0"/>
          <a:ea typeface="楷体_GB2312" pitchFamily="49" charset="-122"/>
          <a:cs typeface="+mn-cs"/>
        </a:defRPr>
      </a:lvl2pPr>
      <a:lvl3pPr marL="914400" lvl="2"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Frutiger 45 Light" pitchFamily="2" charset="0"/>
          <a:ea typeface="楷体_GB2312" pitchFamily="49" charset="-122"/>
          <a:cs typeface="+mn-cs"/>
        </a:defRPr>
      </a:lvl3pPr>
      <a:lvl4pPr marL="1371600" lvl="3"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Frutiger 45 Light" pitchFamily="2" charset="0"/>
          <a:ea typeface="楷体_GB2312" pitchFamily="49" charset="-122"/>
          <a:cs typeface="+mn-cs"/>
        </a:defRPr>
      </a:lvl4pPr>
      <a:lvl5pPr marL="1828800" lvl="4"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Frutiger 45 Light" pitchFamily="2" charset="0"/>
          <a:ea typeface="楷体_GB2312" pitchFamily="49" charset="-122"/>
          <a:cs typeface="+mn-cs"/>
        </a:defRPr>
      </a:lvl5pPr>
      <a:lvl6pPr marL="2286000" lvl="5"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Frutiger 45 Light" pitchFamily="2" charset="0"/>
          <a:ea typeface="楷体_GB2312" pitchFamily="49" charset="-122"/>
          <a:cs typeface="+mn-cs"/>
        </a:defRPr>
      </a:lvl6pPr>
      <a:lvl7pPr marL="2743200" lvl="6"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Frutiger 45 Light" pitchFamily="2" charset="0"/>
          <a:ea typeface="楷体_GB2312" pitchFamily="49" charset="-122"/>
          <a:cs typeface="+mn-cs"/>
        </a:defRPr>
      </a:lvl7pPr>
      <a:lvl8pPr marL="3200400" lvl="7"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Frutiger 45 Light" pitchFamily="2" charset="0"/>
          <a:ea typeface="楷体_GB2312" pitchFamily="49" charset="-122"/>
          <a:cs typeface="+mn-cs"/>
        </a:defRPr>
      </a:lvl8pPr>
      <a:lvl9pPr marL="3657600" lvl="8" indent="0" algn="ctr" defTabSz="914400" rtl="0" eaLnBrk="1" fontAlgn="base" latinLnBrk="0" hangingPunct="1">
        <a:lnSpc>
          <a:spcPct val="100000"/>
        </a:lnSpc>
        <a:spcBef>
          <a:spcPct val="0"/>
        </a:spcBef>
        <a:spcAft>
          <a:spcPct val="0"/>
        </a:spcAft>
        <a:buNone/>
        <a:defRPr sz="2400" b="1" i="0" u="none" kern="1200" baseline="0">
          <a:solidFill>
            <a:schemeClr val="tx1"/>
          </a:solidFill>
          <a:latin typeface="Frutiger 45 Light" pitchFamily="2" charset="0"/>
          <a:ea typeface="楷体_GB2312" pitchFamily="49" charset="-122"/>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5.jpe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wmf"/><Relationship Id="rId1" Type="http://schemas.openxmlformats.org/officeDocument/2006/relationships/image" Target="../media/image6.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vmlDrawing" Target="../drawings/vmlDrawing1.vml"/><Relationship Id="rId3" Type="http://schemas.openxmlformats.org/officeDocument/2006/relationships/slideLayout" Target="../slideLayouts/slideLayout7.xml"/><Relationship Id="rId2" Type="http://schemas.openxmlformats.org/officeDocument/2006/relationships/image" Target="../media/image8.wmf"/><Relationship Id="rId1"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image" Target="../media/image9.wmf"/></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wmf"/><Relationship Id="rId1" Type="http://schemas.openxmlformats.org/officeDocument/2006/relationships/image" Target="../media/image6.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10.wmf"/></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image" Target="../media/image11.jpe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7.xml"/><Relationship Id="rId2" Type="http://schemas.openxmlformats.org/officeDocument/2006/relationships/image" Target="../media/image13.jpeg"/><Relationship Id="rId1" Type="http://schemas.openxmlformats.org/officeDocument/2006/relationships/image" Target="../media/image12.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image" Target="../media/image14.jpe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wmf"/><Relationship Id="rId1" Type="http://schemas.openxmlformats.org/officeDocument/2006/relationships/image" Target="../media/image6.jpe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wmf"/></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vmlDrawing" Target="../drawings/vmlDrawing2.vml"/><Relationship Id="rId3" Type="http://schemas.openxmlformats.org/officeDocument/2006/relationships/slideLayout" Target="../slideLayouts/slideLayout7.xml"/><Relationship Id="rId2" Type="http://schemas.openxmlformats.org/officeDocument/2006/relationships/image" Target="../media/image16.wmf"/><Relationship Id="rId1" Type="http://schemas.openxmlformats.org/officeDocument/2006/relationships/oleObject" Target="../embeddings/oleObject2.bin"/></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vmlDrawing" Target="../drawings/vmlDrawing3.vml"/><Relationship Id="rId4" Type="http://schemas.openxmlformats.org/officeDocument/2006/relationships/slideLayout" Target="../slideLayouts/slideLayout7.xml"/><Relationship Id="rId3" Type="http://schemas.openxmlformats.org/officeDocument/2006/relationships/image" Target="../media/image18.emf"/><Relationship Id="rId2" Type="http://schemas.openxmlformats.org/officeDocument/2006/relationships/image" Target="../media/image17.wmf"/><Relationship Id="rId1" Type="http://schemas.openxmlformats.org/officeDocument/2006/relationships/oleObject" Target="../embeddings/oleObject3.bin"/></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vmlDrawing" Target="../drawings/vmlDrawing4.vml"/><Relationship Id="rId3" Type="http://schemas.openxmlformats.org/officeDocument/2006/relationships/slideLayout" Target="../slideLayouts/slideLayout7.xml"/><Relationship Id="rId2" Type="http://schemas.openxmlformats.org/officeDocument/2006/relationships/image" Target="../media/image16.wmf"/><Relationship Id="rId1" Type="http://schemas.openxmlformats.org/officeDocument/2006/relationships/oleObject" Target="../embeddings/oleObject4.bin"/></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xml"/><Relationship Id="rId1" Type="http://schemas.openxmlformats.org/officeDocument/2006/relationships/image" Target="../media/image19.wmf"/></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image" Target="../media/image20.wmf"/></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image" Target="../media/image20.wmf"/></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vmlDrawing" Target="../drawings/vmlDrawing5.vml"/><Relationship Id="rId3" Type="http://schemas.openxmlformats.org/officeDocument/2006/relationships/slideLayout" Target="../slideLayouts/slideLayout7.xml"/><Relationship Id="rId2" Type="http://schemas.openxmlformats.org/officeDocument/2006/relationships/image" Target="../media/image16.wmf"/><Relationship Id="rId1" Type="http://schemas.openxmlformats.org/officeDocument/2006/relationships/oleObject" Target="../embeddings/oleObject5.bin"/></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image" Target="../media/image21.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7.xml"/><Relationship Id="rId1" Type="http://schemas.openxmlformats.org/officeDocument/2006/relationships/image" Target="../media/image20.wmf"/></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7.xml"/><Relationship Id="rId1" Type="http://schemas.openxmlformats.org/officeDocument/2006/relationships/image" Target="../media/image20.wmf"/></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7.xml"/><Relationship Id="rId1" Type="http://schemas.openxmlformats.org/officeDocument/2006/relationships/image" Target="../media/image22.jpeg"/></Relationships>
</file>

<file path=ppt/slides/_rels/slide27.xml.rels><?xml version="1.0" encoding="UTF-8" standalone="yes"?>
<Relationships xmlns="http://schemas.openxmlformats.org/package/2006/relationships"><Relationship Id="rId5" Type="http://schemas.openxmlformats.org/officeDocument/2006/relationships/notesSlide" Target="../notesSlides/notesSlide22.xml"/><Relationship Id="rId4" Type="http://schemas.openxmlformats.org/officeDocument/2006/relationships/vmlDrawing" Target="../drawings/vmlDrawing6.vml"/><Relationship Id="rId3" Type="http://schemas.openxmlformats.org/officeDocument/2006/relationships/slideLayout" Target="../slideLayouts/slideLayout7.xml"/><Relationship Id="rId2" Type="http://schemas.openxmlformats.org/officeDocument/2006/relationships/image" Target="../media/image16.wmf"/><Relationship Id="rId1" Type="http://schemas.openxmlformats.org/officeDocument/2006/relationships/oleObject" Target="../embeddings/oleObject6.bin"/></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7.xml"/><Relationship Id="rId1" Type="http://schemas.openxmlformats.org/officeDocument/2006/relationships/image" Target="../media/image23.wmf"/></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7.xml"/><Relationship Id="rId1" Type="http://schemas.openxmlformats.org/officeDocument/2006/relationships/image" Target="../media/image24.emf"/></Relationships>
</file>

<file path=ppt/slides/_rels/slide33.xml.rels><?xml version="1.0" encoding="UTF-8" standalone="yes"?>
<Relationships xmlns="http://schemas.openxmlformats.org/package/2006/relationships"><Relationship Id="rId5" Type="http://schemas.openxmlformats.org/officeDocument/2006/relationships/notesSlide" Target="../notesSlides/notesSlide28.xml"/><Relationship Id="rId4" Type="http://schemas.openxmlformats.org/officeDocument/2006/relationships/vmlDrawing" Target="../drawings/vmlDrawing7.vml"/><Relationship Id="rId3" Type="http://schemas.openxmlformats.org/officeDocument/2006/relationships/slideLayout" Target="../slideLayouts/slideLayout7.xml"/><Relationship Id="rId2" Type="http://schemas.openxmlformats.org/officeDocument/2006/relationships/image" Target="../media/image25.wmf"/><Relationship Id="rId1" Type="http://schemas.openxmlformats.org/officeDocument/2006/relationships/oleObject" Target="../embeddings/oleObject7.bin"/></Relationships>
</file>

<file path=ppt/slides/_rels/slide34.xml.rels><?xml version="1.0" encoding="UTF-8" standalone="yes"?>
<Relationships xmlns="http://schemas.openxmlformats.org/package/2006/relationships"><Relationship Id="rId5" Type="http://schemas.openxmlformats.org/officeDocument/2006/relationships/notesSlide" Target="../notesSlides/notesSlide29.xml"/><Relationship Id="rId4" Type="http://schemas.openxmlformats.org/officeDocument/2006/relationships/vmlDrawing" Target="../drawings/vmlDrawing8.vml"/><Relationship Id="rId3" Type="http://schemas.openxmlformats.org/officeDocument/2006/relationships/slideLayout" Target="../slideLayouts/slideLayout7.xml"/><Relationship Id="rId2" Type="http://schemas.openxmlformats.org/officeDocument/2006/relationships/image" Target="../media/image25.wmf"/><Relationship Id="rId1" Type="http://schemas.openxmlformats.org/officeDocument/2006/relationships/oleObject" Target="../embeddings/oleObject8.bin"/></Relationships>
</file>

<file path=ppt/slides/_rels/slide35.xml.rels><?xml version="1.0" encoding="UTF-8" standalone="yes"?>
<Relationships xmlns="http://schemas.openxmlformats.org/package/2006/relationships"><Relationship Id="rId5" Type="http://schemas.openxmlformats.org/officeDocument/2006/relationships/notesSlide" Target="../notesSlides/notesSlide30.xml"/><Relationship Id="rId4" Type="http://schemas.openxmlformats.org/officeDocument/2006/relationships/vmlDrawing" Target="../drawings/vmlDrawing9.vml"/><Relationship Id="rId3" Type="http://schemas.openxmlformats.org/officeDocument/2006/relationships/slideLayout" Target="../slideLayouts/slideLayout7.xml"/><Relationship Id="rId2" Type="http://schemas.openxmlformats.org/officeDocument/2006/relationships/image" Target="../media/image25.wmf"/><Relationship Id="rId1" Type="http://schemas.openxmlformats.org/officeDocument/2006/relationships/oleObject" Target="../embeddings/oleObject9.bin"/></Relationships>
</file>

<file path=ppt/slides/_rels/slide36.xml.rels><?xml version="1.0" encoding="UTF-8" standalone="yes"?>
<Relationships xmlns="http://schemas.openxmlformats.org/package/2006/relationships"><Relationship Id="rId5" Type="http://schemas.openxmlformats.org/officeDocument/2006/relationships/notesSlide" Target="../notesSlides/notesSlide31.xml"/><Relationship Id="rId4" Type="http://schemas.openxmlformats.org/officeDocument/2006/relationships/vmlDrawing" Target="../drawings/vmlDrawing10.vml"/><Relationship Id="rId3" Type="http://schemas.openxmlformats.org/officeDocument/2006/relationships/slideLayout" Target="../slideLayouts/slideLayout7.xml"/><Relationship Id="rId2" Type="http://schemas.openxmlformats.org/officeDocument/2006/relationships/image" Target="../media/image25.wmf"/><Relationship Id="rId1" Type="http://schemas.openxmlformats.org/officeDocument/2006/relationships/oleObject" Target="../embeddings/oleObject10.bin"/></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7.xml"/><Relationship Id="rId1" Type="http://schemas.openxmlformats.org/officeDocument/2006/relationships/image" Target="../media/image26.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7.xml"/><Relationship Id="rId1" Type="http://schemas.openxmlformats.org/officeDocument/2006/relationships/image" Target="../media/image27.png"/></Relationships>
</file>

<file path=ppt/slides/_rels/slide39.xml.rels><?xml version="1.0" encoding="UTF-8" standalone="yes"?>
<Relationships xmlns="http://schemas.openxmlformats.org/package/2006/relationships"><Relationship Id="rId5" Type="http://schemas.openxmlformats.org/officeDocument/2006/relationships/notesSlide" Target="../notesSlides/notesSlide34.xml"/><Relationship Id="rId4" Type="http://schemas.openxmlformats.org/officeDocument/2006/relationships/vmlDrawing" Target="../drawings/vmlDrawing11.vml"/><Relationship Id="rId3" Type="http://schemas.openxmlformats.org/officeDocument/2006/relationships/slideLayout" Target="../slideLayouts/slideLayout7.xml"/><Relationship Id="rId2" Type="http://schemas.openxmlformats.org/officeDocument/2006/relationships/image" Target="../media/image16.wmf"/><Relationship Id="rId1" Type="http://schemas.openxmlformats.org/officeDocument/2006/relationships/oleObject" Target="../embeddings/oleObject11.bin"/></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7.xml"/><Relationship Id="rId1" Type="http://schemas.openxmlformats.org/officeDocument/2006/relationships/image" Target="../media/image28.wmf"/></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7.xml"/><Relationship Id="rId1" Type="http://schemas.openxmlformats.org/officeDocument/2006/relationships/image" Target="../media/image29.wmf"/></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7.xml"/><Relationship Id="rId1" Type="http://schemas.openxmlformats.org/officeDocument/2006/relationships/image" Target="../media/image30.wmf"/></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7.xml"/><Relationship Id="rId1" Type="http://schemas.openxmlformats.org/officeDocument/2006/relationships/image" Target="../media/image31.wmf"/></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7.xml"/><Relationship Id="rId1" Type="http://schemas.openxmlformats.org/officeDocument/2006/relationships/image" Target="../media/image32.wmf"/></Relationships>
</file>

<file path=ppt/slides/_rels/slide45.xml.rels><?xml version="1.0" encoding="UTF-8" standalone="yes"?>
<Relationships xmlns="http://schemas.openxmlformats.org/package/2006/relationships"><Relationship Id="rId5" Type="http://schemas.openxmlformats.org/officeDocument/2006/relationships/notesSlide" Target="../notesSlides/notesSlide40.xml"/><Relationship Id="rId4" Type="http://schemas.openxmlformats.org/officeDocument/2006/relationships/vmlDrawing" Target="../drawings/vmlDrawing12.vml"/><Relationship Id="rId3" Type="http://schemas.openxmlformats.org/officeDocument/2006/relationships/slideLayout" Target="../slideLayouts/slideLayout7.xml"/><Relationship Id="rId2" Type="http://schemas.openxmlformats.org/officeDocument/2006/relationships/image" Target="../media/image33.wmf"/><Relationship Id="rId1" Type="http://schemas.openxmlformats.org/officeDocument/2006/relationships/oleObject" Target="../embeddings/oleObject12.bin"/></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7.xml"/><Relationship Id="rId1" Type="http://schemas.openxmlformats.org/officeDocument/2006/relationships/image" Target="../media/image15.wmf"/></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7.xml"/><Relationship Id="rId1" Type="http://schemas.openxmlformats.org/officeDocument/2006/relationships/image" Target="../media/image34.wmf"/></Relationships>
</file>

<file path=ppt/slides/_rels/slide48.xml.rels><?xml version="1.0" encoding="UTF-8" standalone="yes"?>
<Relationships xmlns="http://schemas.openxmlformats.org/package/2006/relationships"><Relationship Id="rId5" Type="http://schemas.openxmlformats.org/officeDocument/2006/relationships/notesSlide" Target="../notesSlides/notesSlide43.xml"/><Relationship Id="rId4" Type="http://schemas.openxmlformats.org/officeDocument/2006/relationships/vmlDrawing" Target="../drawings/vmlDrawing13.vml"/><Relationship Id="rId3" Type="http://schemas.openxmlformats.org/officeDocument/2006/relationships/slideLayout" Target="../slideLayouts/slideLayout7.xml"/><Relationship Id="rId2" Type="http://schemas.openxmlformats.org/officeDocument/2006/relationships/image" Target="../media/image35.wmf"/><Relationship Id="rId1" Type="http://schemas.openxmlformats.org/officeDocument/2006/relationships/oleObject" Target="../embeddings/oleObject13.bin"/></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wmf"/><Relationship Id="rId1" Type="http://schemas.openxmlformats.org/officeDocument/2006/relationships/image" Target="../media/image6.jpe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7.xml"/><Relationship Id="rId1" Type="http://schemas.openxmlformats.org/officeDocument/2006/relationships/image" Target="../media/image36.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7.xml"/><Relationship Id="rId1" Type="http://schemas.openxmlformats.org/officeDocument/2006/relationships/image" Target="../media/image37.wmf"/></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7.xml"/><Relationship Id="rId1" Type="http://schemas.openxmlformats.org/officeDocument/2006/relationships/image" Target="../media/image38.wmf"/></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7.xml"/><Relationship Id="rId1" Type="http://schemas.openxmlformats.org/officeDocument/2006/relationships/image" Target="../media/image39.jpe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0.wmf"/></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074" name="Picture 4" descr="RedCard"/>
          <p:cNvPicPr>
            <a:picLocks noChangeAspect="1"/>
          </p:cNvPicPr>
          <p:nvPr/>
        </p:nvPicPr>
        <p:blipFill>
          <a:blip r:embed="rId1"/>
          <a:srcRect r="3226"/>
          <a:stretch>
            <a:fillRect/>
          </a:stretch>
        </p:blipFill>
        <p:spPr>
          <a:xfrm>
            <a:off x="0" y="0"/>
            <a:ext cx="9144000" cy="6308725"/>
          </a:xfrm>
          <a:prstGeom prst="rect">
            <a:avLst/>
          </a:prstGeom>
          <a:noFill/>
          <a:ln w="9525">
            <a:noFill/>
          </a:ln>
        </p:spPr>
      </p:pic>
      <p:sp>
        <p:nvSpPr>
          <p:cNvPr id="3075" name="Rectangle 3"/>
          <p:cNvSpPr/>
          <p:nvPr/>
        </p:nvSpPr>
        <p:spPr>
          <a:xfrm>
            <a:off x="755650" y="2205038"/>
            <a:ext cx="7772400" cy="1143000"/>
          </a:xfrm>
          <a:prstGeom prst="rect">
            <a:avLst/>
          </a:prstGeom>
          <a:noFill/>
          <a:ln w="9525">
            <a:noFill/>
          </a:ln>
        </p:spPr>
        <p:txBody>
          <a:bodyPr anchor="ctr" anchorCtr="0"/>
          <a:p>
            <a:r>
              <a:rPr lang="zh-CN" altLang="en-US" sz="6000" dirty="0">
                <a:solidFill>
                  <a:srgbClr val="FFFFFF"/>
                </a:solidFill>
                <a:latin typeface="Times New Roman" panose="02020603050405020304" pitchFamily="18" charset="0"/>
                <a:ea typeface="华文新魏" panose="02010800040101010101" pitchFamily="2" charset="-122"/>
              </a:rPr>
              <a:t>信用卡销售宝典</a:t>
            </a:r>
            <a:br>
              <a:rPr lang="zh-CN" altLang="en-US" sz="6000" dirty="0">
                <a:solidFill>
                  <a:srgbClr val="FFFFFF"/>
                </a:solidFill>
                <a:latin typeface="Times New Roman" panose="02020603050405020304" pitchFamily="18" charset="0"/>
                <a:ea typeface="华文新魏" panose="02010800040101010101" pitchFamily="2" charset="-122"/>
              </a:rPr>
            </a:br>
            <a:r>
              <a:rPr lang="zh-CN" altLang="en-US" sz="6000" dirty="0">
                <a:solidFill>
                  <a:srgbClr val="FFFFFF"/>
                </a:solidFill>
                <a:latin typeface="Times New Roman" panose="02020603050405020304" pitchFamily="18" charset="0"/>
                <a:ea typeface="华文新魏" panose="02010800040101010101" pitchFamily="2" charset="-122"/>
              </a:rPr>
              <a:t>之话术篇</a:t>
            </a:r>
            <a:endParaRPr lang="en-US" altLang="zh-CN" sz="6000" dirty="0">
              <a:solidFill>
                <a:srgbClr val="FFFFFF"/>
              </a:solidFill>
              <a:latin typeface="Times New Roman" panose="02020603050405020304" pitchFamily="18" charset="0"/>
              <a:ea typeface="华文新魏" panose="02010800040101010101" pitchFamily="2" charset="-122"/>
            </a:endParaRPr>
          </a:p>
        </p:txBody>
      </p:sp>
      <p:sp>
        <p:nvSpPr>
          <p:cNvPr id="3076" name="Rectangle 7" descr="新闻纸"/>
          <p:cNvSpPr/>
          <p:nvPr/>
        </p:nvSpPr>
        <p:spPr>
          <a:xfrm>
            <a:off x="2413000" y="4292600"/>
            <a:ext cx="4572000" cy="1552575"/>
          </a:xfrm>
          <a:prstGeom prst="rect">
            <a:avLst/>
          </a:prstGeom>
          <a:noFill/>
          <a:ln w="9525">
            <a:noFill/>
          </a:ln>
        </p:spPr>
        <p:txBody>
          <a:bodyPr>
            <a:spAutoFit/>
          </a:bodyPr>
          <a:p>
            <a:pPr marL="342900" indent="-342900"/>
            <a:r>
              <a:rPr lang="zh-CN" altLang="en-US" dirty="0">
                <a:solidFill>
                  <a:schemeClr val="bg1"/>
                </a:solidFill>
                <a:effectLst>
                  <a:outerShdw blurRad="38100" dist="38100" dir="2700000">
                    <a:srgbClr val="C0C0C0"/>
                  </a:outerShdw>
                </a:effectLst>
                <a:latin typeface="华文中宋" panose="02010600040101010101" pitchFamily="2" charset="-122"/>
                <a:ea typeface="华文中宋" panose="02010600040101010101" pitchFamily="2" charset="-122"/>
              </a:rPr>
              <a:t>交通银行太平洋信用卡中心</a:t>
            </a:r>
            <a:endParaRPr lang="zh-CN" altLang="en-US" dirty="0">
              <a:solidFill>
                <a:schemeClr val="bg1"/>
              </a:solidFill>
              <a:effectLst>
                <a:outerShdw blurRad="38100" dist="38100" dir="2700000">
                  <a:srgbClr val="C0C0C0"/>
                </a:outerShdw>
              </a:effectLst>
              <a:latin typeface="华文中宋" panose="02010600040101010101" pitchFamily="2" charset="-122"/>
              <a:ea typeface="华文中宋" panose="02010600040101010101" pitchFamily="2" charset="-122"/>
            </a:endParaRPr>
          </a:p>
          <a:p>
            <a:pPr marL="342900" indent="-342900"/>
            <a:r>
              <a:rPr lang="zh-CN" altLang="en-US" dirty="0">
                <a:solidFill>
                  <a:schemeClr val="bg1"/>
                </a:solidFill>
                <a:effectLst>
                  <a:outerShdw blurRad="38100" dist="38100" dir="2700000">
                    <a:srgbClr val="C0C0C0"/>
                  </a:outerShdw>
                </a:effectLst>
                <a:latin typeface="华文中宋" panose="02010600040101010101" pitchFamily="2" charset="-122"/>
                <a:ea typeface="华文中宋" panose="02010600040101010101" pitchFamily="2" charset="-122"/>
              </a:rPr>
              <a:t>人力资源部</a:t>
            </a:r>
            <a:endParaRPr lang="zh-CN" altLang="en-US" dirty="0">
              <a:solidFill>
                <a:schemeClr val="bg1"/>
              </a:solidFill>
              <a:effectLst>
                <a:outerShdw blurRad="38100" dist="38100" dir="2700000">
                  <a:srgbClr val="C0C0C0"/>
                </a:outerShdw>
              </a:effectLst>
              <a:latin typeface="华文中宋" panose="02010600040101010101" pitchFamily="2" charset="-122"/>
              <a:ea typeface="华文中宋" panose="02010600040101010101" pitchFamily="2" charset="-122"/>
            </a:endParaRPr>
          </a:p>
          <a:p>
            <a:pPr marL="342900" indent="-342900"/>
            <a:r>
              <a:rPr lang="zh-CN" altLang="en-US" dirty="0">
                <a:solidFill>
                  <a:schemeClr val="bg1"/>
                </a:solidFill>
                <a:effectLst>
                  <a:outerShdw blurRad="38100" dist="38100" dir="2700000">
                    <a:srgbClr val="C0C0C0"/>
                  </a:outerShdw>
                </a:effectLst>
                <a:latin typeface="华文中宋" panose="02010600040101010101" pitchFamily="2" charset="-122"/>
                <a:ea typeface="华文中宋" panose="02010600040101010101" pitchFamily="2" charset="-122"/>
              </a:rPr>
              <a:t>培训与发展</a:t>
            </a:r>
            <a:endParaRPr lang="zh-CN" altLang="en-US" dirty="0">
              <a:solidFill>
                <a:schemeClr val="bg1"/>
              </a:solidFill>
              <a:effectLst>
                <a:outerShdw blurRad="38100" dist="38100" dir="2700000">
                  <a:srgbClr val="C0C0C0"/>
                </a:outerShdw>
              </a:effectLst>
              <a:latin typeface="华文中宋" panose="02010600040101010101" pitchFamily="2" charset="-122"/>
              <a:ea typeface="华文中宋" panose="02010600040101010101" pitchFamily="2" charset="-122"/>
            </a:endParaRPr>
          </a:p>
          <a:p>
            <a:pPr marL="342900" indent="-342900"/>
            <a:endParaRPr lang="en-US" altLang="zh-CN" dirty="0">
              <a:solidFill>
                <a:schemeClr val="bg1"/>
              </a:solidFill>
              <a:effectLst>
                <a:outerShdw blurRad="38100" dist="38100" dir="2700000">
                  <a:srgbClr val="C0C0C0"/>
                </a:outerShdw>
              </a:effectLst>
              <a:latin typeface="华文中宋" panose="02010600040101010101" pitchFamily="2" charset="-122"/>
              <a:ea typeface="华文中宋" panose="0201060004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Rectangle 2"/>
          <p:cNvSpPr>
            <a:spLocks noGrp="1"/>
          </p:cNvSpPr>
          <p:nvPr>
            <p:ph type="title" idx="4294967295"/>
          </p:nvPr>
        </p:nvSpPr>
        <p:spPr>
          <a:xfrm>
            <a:off x="900113" y="620713"/>
            <a:ext cx="7354887" cy="879475"/>
          </a:xfrm>
          <a:ln/>
        </p:spPr>
        <p:txBody>
          <a:bodyPr vert="horz" wrap="square" anchor="ctr" anchorCtr="0"/>
          <a:p>
            <a:pPr eaLnBrk="1" hangingPunct="1"/>
            <a:r>
              <a:rPr lang="zh-TW" altLang="en-US" sz="4000" dirty="0">
                <a:solidFill>
                  <a:srgbClr val="FF3300"/>
                </a:solidFill>
                <a:latin typeface="Arial" panose="020B0604020202020204" pitchFamily="34" charset="0"/>
              </a:rPr>
              <a:t>课程目标</a:t>
            </a:r>
            <a:endParaRPr lang="zh-TW" altLang="en-US" sz="4000" dirty="0">
              <a:solidFill>
                <a:srgbClr val="FF3300"/>
              </a:solidFill>
              <a:latin typeface="Arial" panose="020B0604020202020204" pitchFamily="34" charset="0"/>
            </a:endParaRPr>
          </a:p>
        </p:txBody>
      </p:sp>
      <p:sp>
        <p:nvSpPr>
          <p:cNvPr id="4099" name="Rectangle 3"/>
          <p:cNvSpPr>
            <a:spLocks noGrp="1"/>
          </p:cNvSpPr>
          <p:nvPr>
            <p:ph type="body" idx="4294967295"/>
          </p:nvPr>
        </p:nvSpPr>
        <p:spPr>
          <a:xfrm>
            <a:off x="539750" y="1916113"/>
            <a:ext cx="7993063" cy="2376487"/>
          </a:xfrm>
          <a:ln/>
        </p:spPr>
        <p:txBody>
          <a:bodyPr vert="horz" wrap="square" anchor="t" anchorCtr="0"/>
          <a:p>
            <a:pPr eaLnBrk="1" hangingPunct="1">
              <a:lnSpc>
                <a:spcPct val="120000"/>
              </a:lnSpc>
              <a:buNone/>
            </a:pPr>
            <a:r>
              <a:rPr lang="zh-TW" altLang="en-US" sz="2400" b="1" dirty="0">
                <a:latin typeface="华文楷体" panose="02010600040101010101" pitchFamily="2" charset="-122"/>
                <a:ea typeface="华文楷体" panose="02010600040101010101" pitchFamily="2" charset="-122"/>
              </a:rPr>
              <a:t>       </a:t>
            </a:r>
            <a:r>
              <a:rPr lang="zh-TW" altLang="en-US" sz="2800" dirty="0">
                <a:latin typeface="华文楷体" panose="02010600040101010101" pitchFamily="2" charset="-122"/>
                <a:ea typeface="华文楷体" panose="02010600040101010101" pitchFamily="2" charset="-122"/>
              </a:rPr>
              <a:t>通过对本课程的学习，使新员工掌握信用卡销售的流程，并掌握基本的接触面谈、需求分析、产品介绍和促成成交的话术，能正确应对客户的异议，从而完成信用卡的销售。</a:t>
            </a:r>
            <a:endParaRPr lang="zh-TW" altLang="en-US" sz="2800" dirty="0">
              <a:latin typeface="华文楷体" panose="02010600040101010101" pitchFamily="2" charset="-122"/>
              <a:ea typeface="华文楷体" panose="02010600040101010101" pitchFamily="2" charset="-122"/>
            </a:endParaRPr>
          </a:p>
        </p:txBody>
      </p:sp>
      <p:pic>
        <p:nvPicPr>
          <p:cNvPr id="4100" name="Picture 4" descr="1082"/>
          <p:cNvPicPr>
            <a:picLocks noChangeAspect="1"/>
          </p:cNvPicPr>
          <p:nvPr/>
        </p:nvPicPr>
        <p:blipFill>
          <a:blip r:embed="rId1">
            <a:clrChange>
              <a:clrFrom>
                <a:srgbClr val="FFFFFF"/>
              </a:clrFrom>
              <a:clrTo>
                <a:srgbClr val="FFFFFF">
                  <a:alpha val="0"/>
                </a:srgbClr>
              </a:clrTo>
            </a:clrChange>
          </a:blip>
          <a:stretch>
            <a:fillRect/>
          </a:stretch>
        </p:blipFill>
        <p:spPr>
          <a:xfrm>
            <a:off x="6156325" y="4292600"/>
            <a:ext cx="2133600" cy="1895475"/>
          </a:xfrm>
          <a:prstGeom prst="rect">
            <a:avLst/>
          </a:prstGeom>
          <a:noFill/>
          <a:ln w="9525">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Rectangle 4" descr="新闻纸"/>
          <p:cNvSpPr/>
          <p:nvPr/>
        </p:nvSpPr>
        <p:spPr>
          <a:xfrm>
            <a:off x="1476375" y="1557338"/>
            <a:ext cx="5688013" cy="4176712"/>
          </a:xfrm>
          <a:prstGeom prst="rect">
            <a:avLst/>
          </a:prstGeom>
          <a:blipFill rotWithShape="0">
            <a:blip r:embed="rId1"/>
          </a:blipFill>
          <a:ln w="9525">
            <a:noFill/>
          </a:ln>
        </p:spPr>
        <p:txBody>
          <a:bodyPr wrap="none" anchor="ctr" anchorCtr="0"/>
          <a:p>
            <a:endParaRPr lang="zh-CN" altLang="en-US" b="0" dirty="0">
              <a:latin typeface="Times New Roman" panose="02020603050405020304" pitchFamily="18" charset="0"/>
              <a:ea typeface="宋体" panose="02010600030101010101" pitchFamily="2" charset="-122"/>
            </a:endParaRPr>
          </a:p>
        </p:txBody>
      </p:sp>
      <p:sp>
        <p:nvSpPr>
          <p:cNvPr id="6147" name="Rectangle 3"/>
          <p:cNvSpPr>
            <a:spLocks noGrp="1"/>
          </p:cNvSpPr>
          <p:nvPr>
            <p:ph type="body" idx="4294967295"/>
          </p:nvPr>
        </p:nvSpPr>
        <p:spPr>
          <a:xfrm>
            <a:off x="1836738" y="1700213"/>
            <a:ext cx="6515100" cy="3816350"/>
          </a:xfrm>
          <a:ln/>
        </p:spPr>
        <p:txBody>
          <a:bodyPr vert="horz" wrap="square" anchor="t" anchorCtr="0"/>
          <a:p>
            <a:pPr eaLnBrk="1" hangingPunct="1">
              <a:buNone/>
            </a:pPr>
            <a:r>
              <a:rPr lang="zh-TW" altLang="en-US" sz="2800" dirty="0">
                <a:solidFill>
                  <a:srgbClr val="FF0000"/>
                </a:solidFill>
                <a:latin typeface="华文中宋" panose="02010600040101010101" pitchFamily="2" charset="-122"/>
              </a:rPr>
              <a:t>销售的概念</a:t>
            </a:r>
            <a:endParaRPr lang="zh-TW" altLang="en-US" sz="2800" dirty="0">
              <a:solidFill>
                <a:srgbClr val="FF0000"/>
              </a:solidFill>
              <a:latin typeface="华文中宋" panose="02010600040101010101" pitchFamily="2" charset="-122"/>
            </a:endParaRPr>
          </a:p>
          <a:p>
            <a:pPr eaLnBrk="1" hangingPunct="1">
              <a:buNone/>
            </a:pPr>
            <a:endParaRPr lang="zh-TW" altLang="en-US" sz="2800" dirty="0">
              <a:solidFill>
                <a:srgbClr val="FF0000"/>
              </a:solidFill>
              <a:latin typeface="华文中宋" panose="02010600040101010101" pitchFamily="2" charset="-122"/>
            </a:endParaRPr>
          </a:p>
          <a:p>
            <a:pPr eaLnBrk="1" hangingPunct="1">
              <a:buNone/>
            </a:pPr>
            <a:r>
              <a:rPr lang="zh-TW" altLang="en-US" sz="2800" dirty="0">
                <a:latin typeface="华文中宋" panose="02010600040101010101" pitchFamily="2" charset="-122"/>
              </a:rPr>
              <a:t>信用卡市场的开拓方法</a:t>
            </a:r>
            <a:endParaRPr lang="zh-TW" altLang="en-US" sz="2800" dirty="0">
              <a:latin typeface="华文中宋" panose="02010600040101010101" pitchFamily="2" charset="-122"/>
            </a:endParaRPr>
          </a:p>
          <a:p>
            <a:pPr eaLnBrk="1" hangingPunct="1">
              <a:buNone/>
            </a:pPr>
            <a:endParaRPr lang="zh-TW" altLang="en-US" sz="2800" dirty="0">
              <a:latin typeface="华文中宋" panose="02010600040101010101" pitchFamily="2" charset="-122"/>
            </a:endParaRPr>
          </a:p>
          <a:p>
            <a:pPr eaLnBrk="1" hangingPunct="1">
              <a:buNone/>
            </a:pPr>
            <a:r>
              <a:rPr lang="zh-TW" altLang="en-US" sz="2800" dirty="0">
                <a:latin typeface="华文中宋" panose="02010600040101010101" pitchFamily="2" charset="-122"/>
              </a:rPr>
              <a:t>信用卡销售流程与话术</a:t>
            </a:r>
            <a:endParaRPr lang="zh-TW" altLang="en-US" sz="2800" dirty="0">
              <a:latin typeface="华文中宋" panose="02010600040101010101" pitchFamily="2" charset="-122"/>
            </a:endParaRPr>
          </a:p>
          <a:p>
            <a:pPr eaLnBrk="1" hangingPunct="1">
              <a:buNone/>
            </a:pPr>
            <a:endParaRPr lang="zh-TW" altLang="en-US" sz="2800" dirty="0">
              <a:solidFill>
                <a:srgbClr val="FF0000"/>
              </a:solidFill>
              <a:latin typeface="华文中宋" panose="02010600040101010101" pitchFamily="2" charset="-122"/>
            </a:endParaRPr>
          </a:p>
          <a:p>
            <a:pPr eaLnBrk="1" hangingPunct="1">
              <a:buNone/>
            </a:pPr>
            <a:r>
              <a:rPr lang="zh-TW" altLang="en-US" sz="2800" dirty="0">
                <a:latin typeface="华文中宋" panose="02010600040101010101" pitchFamily="2" charset="-122"/>
              </a:rPr>
              <a:t>信用卡销售异议处理话术</a:t>
            </a:r>
            <a:endParaRPr lang="zh-TW" altLang="en-US" sz="2800" dirty="0">
              <a:latin typeface="华文中宋" panose="02010600040101010101" pitchFamily="2" charset="-122"/>
            </a:endParaRPr>
          </a:p>
          <a:p>
            <a:pPr eaLnBrk="1" hangingPunct="1">
              <a:buNone/>
            </a:pPr>
            <a:endParaRPr lang="zh-TW" altLang="en-US" sz="2800" dirty="0">
              <a:solidFill>
                <a:srgbClr val="000066"/>
              </a:solidFill>
              <a:latin typeface="楷体_GB2312" pitchFamily="49" charset="-122"/>
              <a:ea typeface="楷体_GB2312" pitchFamily="49" charset="-122"/>
            </a:endParaRPr>
          </a:p>
        </p:txBody>
      </p:sp>
      <p:sp>
        <p:nvSpPr>
          <p:cNvPr id="6148" name="Rectangle 4"/>
          <p:cNvSpPr/>
          <p:nvPr/>
        </p:nvSpPr>
        <p:spPr>
          <a:xfrm>
            <a:off x="755650" y="549275"/>
            <a:ext cx="7773988" cy="792163"/>
          </a:xfrm>
          <a:prstGeom prst="rect">
            <a:avLst/>
          </a:prstGeom>
          <a:noFill/>
          <a:ln w="9525">
            <a:noFill/>
          </a:ln>
        </p:spPr>
        <p:txBody>
          <a:bodyPr anchor="ctr" anchorCtr="0"/>
          <a:p>
            <a:r>
              <a:rPr lang="zh-TW" altLang="en-US" sz="3600" b="0">
                <a:solidFill>
                  <a:srgbClr val="FF3300"/>
                </a:solidFill>
                <a:latin typeface="Times New Roman" panose="02020603050405020304" pitchFamily="18" charset="0"/>
                <a:ea typeface="华文新魏" panose="02010800040101010101" pitchFamily="2" charset="-122"/>
              </a:rPr>
              <a:t>信用卡销售宝典之话术篇</a:t>
            </a:r>
            <a:endParaRPr lang="zh-TW" altLang="en-US" sz="3600" b="0">
              <a:solidFill>
                <a:srgbClr val="FF3300"/>
              </a:solidFill>
              <a:latin typeface="Times New Roman" panose="02020603050405020304" pitchFamily="18" charset="0"/>
              <a:ea typeface="华文新魏" panose="02010800040101010101" pitchFamily="2" charset="-122"/>
            </a:endParaRPr>
          </a:p>
        </p:txBody>
      </p:sp>
      <p:pic>
        <p:nvPicPr>
          <p:cNvPr id="6149" name="Picture 5" descr="j0237968[1]"/>
          <p:cNvPicPr>
            <a:picLocks noChangeAspect="1"/>
          </p:cNvPicPr>
          <p:nvPr/>
        </p:nvPicPr>
        <p:blipFill>
          <a:blip r:embed="rId2"/>
          <a:stretch>
            <a:fillRect/>
          </a:stretch>
        </p:blipFill>
        <p:spPr>
          <a:xfrm>
            <a:off x="6877050" y="4652963"/>
            <a:ext cx="1573213" cy="1319212"/>
          </a:xfrm>
          <a:prstGeom prst="rect">
            <a:avLst/>
          </a:prstGeom>
          <a:noFill/>
          <a:ln w="9525">
            <a:noFill/>
          </a:ln>
        </p:spPr>
      </p:pic>
      <p:sp>
        <p:nvSpPr>
          <p:cNvPr id="6150" name="AutoShape 9"/>
          <p:cNvSpPr/>
          <p:nvPr/>
        </p:nvSpPr>
        <p:spPr>
          <a:xfrm>
            <a:off x="900113" y="1700213"/>
            <a:ext cx="685800" cy="533400"/>
          </a:xfrm>
          <a:custGeom>
            <a:avLst/>
            <a:gdLst>
              <a:gd name="txL" fmla="*/ 3375 w 21600"/>
              <a:gd name="txT" fmla="*/ 5400 h 21600"/>
              <a:gd name="txR" fmla="*/ 18900 w 21600"/>
              <a:gd name="txB" fmla="*/ 16200 h 21600"/>
            </a:gdLst>
            <a:ahLst/>
            <a:cxnLst>
              <a:cxn ang="17694720">
                <a:pos x="2147483647" y="0"/>
              </a:cxn>
              <a:cxn ang="11796480">
                <a:pos x="0" y="2147483647"/>
              </a:cxn>
              <a:cxn ang="5898240">
                <a:pos x="2147483647" y="2147483647"/>
              </a:cxn>
              <a:cxn ang="0">
                <a:pos x="2147483647" y="2147483647"/>
              </a:cxn>
            </a:cxnLst>
            <a:rect l="txL" t="txT" r="txR" b="txB"/>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33CCCC"/>
          </a:solidFill>
          <a:ln w="9525" cap="flat" cmpd="sng">
            <a:solidFill>
              <a:schemeClr val="tx1"/>
            </a:solidFill>
            <a:prstDash val="solid"/>
            <a:miter/>
            <a:headEnd type="none" w="med" len="med"/>
            <a:tailEnd type="none" w="med" len="med"/>
          </a:ln>
        </p:spPr>
        <p:txBody>
          <a:bodyPr wrap="none" anchor="ctr" anchorCtr="0"/>
          <a:p>
            <a:endParaRPr lang="zh-CN" altLang="en-US" b="0"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150"/>
                                        </p:tgtEl>
                                        <p:attrNameLst>
                                          <p:attrName>style.visibility</p:attrName>
                                        </p:attrNameLst>
                                      </p:cBhvr>
                                      <p:to>
                                        <p:strVal val="visible"/>
                                      </p:to>
                                    </p:set>
                                    <p:anim calcmode="lin" valueType="num">
                                      <p:cBhvr additive="base">
                                        <p:cTn id="7" dur="500" fill="hold"/>
                                        <p:tgtEl>
                                          <p:spTgt spid="6150"/>
                                        </p:tgtEl>
                                        <p:attrNameLst>
                                          <p:attrName>ppt_x</p:attrName>
                                        </p:attrNameLst>
                                      </p:cBhvr>
                                      <p:tavLst>
                                        <p:tav tm="0">
                                          <p:val>
                                            <p:strVal val="0-#ppt_w/2"/>
                                          </p:val>
                                        </p:tav>
                                        <p:tav tm="100000">
                                          <p:val>
                                            <p:strVal val="#ppt_x"/>
                                          </p:val>
                                        </p:tav>
                                      </p:tavLst>
                                    </p:anim>
                                    <p:anim calcmode="lin" valueType="num">
                                      <p:cBhvr additive="base">
                                        <p:cTn id="8" dur="500" fill="hold"/>
                                        <p:tgtEl>
                                          <p:spTgt spid="615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Rectangle 2"/>
          <p:cNvSpPr/>
          <p:nvPr/>
        </p:nvSpPr>
        <p:spPr>
          <a:xfrm>
            <a:off x="396875" y="1700213"/>
            <a:ext cx="5761038" cy="4248150"/>
          </a:xfrm>
          <a:prstGeom prst="rect">
            <a:avLst/>
          </a:prstGeom>
          <a:noFill/>
          <a:ln w="9525">
            <a:noFill/>
          </a:ln>
        </p:spPr>
        <p:txBody>
          <a:bodyPr/>
          <a:p>
            <a:pPr marL="342900" indent="-342900" algn="l">
              <a:spcBef>
                <a:spcPct val="20000"/>
              </a:spcBef>
              <a:buClr>
                <a:srgbClr val="FF3300"/>
              </a:buClr>
              <a:buFont typeface="Wingdings" panose="05000000000000000000" pitchFamily="2" charset="2"/>
            </a:pPr>
            <a:r>
              <a:rPr lang="zh-CN" altLang="en-US" b="0" dirty="0">
                <a:solidFill>
                  <a:srgbClr val="000066"/>
                </a:solidFill>
                <a:latin typeface="Times New Roman" panose="02020603050405020304" pitchFamily="18" charset="0"/>
                <a:ea typeface="华文中宋" panose="02010600040101010101" pitchFamily="2" charset="-122"/>
              </a:rPr>
              <a:t>定义</a:t>
            </a:r>
            <a:r>
              <a:rPr lang="zh-CN" altLang="en-US" b="0" dirty="0">
                <a:solidFill>
                  <a:schemeClr val="accent2"/>
                </a:solidFill>
                <a:latin typeface="Times New Roman" panose="02020603050405020304" pitchFamily="18" charset="0"/>
                <a:ea typeface="华文中宋" panose="02010600040101010101" pitchFamily="2" charset="-122"/>
              </a:rPr>
              <a:t>：</a:t>
            </a:r>
            <a:endParaRPr lang="zh-CN" altLang="en-US" b="0" dirty="0">
              <a:solidFill>
                <a:schemeClr val="accent2"/>
              </a:solidFill>
              <a:latin typeface="Times New Roman" panose="02020603050405020304" pitchFamily="18" charset="0"/>
              <a:ea typeface="华文中宋" panose="02010600040101010101" pitchFamily="2" charset="-122"/>
            </a:endParaRPr>
          </a:p>
          <a:p>
            <a:pPr marL="342900" indent="-342900" algn="l">
              <a:spcBef>
                <a:spcPct val="20000"/>
              </a:spcBef>
              <a:buClr>
                <a:srgbClr val="FF3300"/>
              </a:buClr>
              <a:buFont typeface="Wingdings" panose="05000000000000000000" pitchFamily="2" charset="2"/>
            </a:pPr>
            <a:r>
              <a:rPr lang="zh-CN" altLang="en-US" b="0" dirty="0">
                <a:latin typeface="Times New Roman" panose="02020603050405020304" pitchFamily="18" charset="0"/>
                <a:ea typeface="华文中宋" panose="02010600040101010101" pitchFamily="2" charset="-122"/>
              </a:rPr>
              <a:t>    销售就是介绍商品提供的</a:t>
            </a:r>
            <a:r>
              <a:rPr lang="zh-CN" altLang="en-US" b="0" dirty="0">
                <a:solidFill>
                  <a:srgbClr val="FF3300"/>
                </a:solidFill>
                <a:latin typeface="Times New Roman" panose="02020603050405020304" pitchFamily="18" charset="0"/>
                <a:ea typeface="华文中宋" panose="02010600040101010101" pitchFamily="2" charset="-122"/>
              </a:rPr>
              <a:t>利益</a:t>
            </a:r>
            <a:r>
              <a:rPr lang="zh-CN" altLang="en-US" b="0" dirty="0">
                <a:latin typeface="Times New Roman" panose="02020603050405020304" pitchFamily="18" charset="0"/>
                <a:ea typeface="华文中宋" panose="02010600040101010101" pitchFamily="2" charset="-122"/>
              </a:rPr>
              <a:t>，以</a:t>
            </a:r>
            <a:r>
              <a:rPr lang="zh-CN" altLang="en-US" b="0" dirty="0">
                <a:solidFill>
                  <a:srgbClr val="FF3300"/>
                </a:solidFill>
                <a:latin typeface="Times New Roman" panose="02020603050405020304" pitchFamily="18" charset="0"/>
                <a:ea typeface="华文中宋" panose="02010600040101010101" pitchFamily="2" charset="-122"/>
              </a:rPr>
              <a:t>满足客户特定需求</a:t>
            </a:r>
            <a:r>
              <a:rPr lang="zh-CN" altLang="en-US" b="0" dirty="0">
                <a:latin typeface="Times New Roman" panose="02020603050405020304" pitchFamily="18" charset="0"/>
                <a:ea typeface="华文中宋" panose="02010600040101010101" pitchFamily="2" charset="-122"/>
              </a:rPr>
              <a:t>的</a:t>
            </a:r>
            <a:r>
              <a:rPr lang="zh-CN" altLang="en-US" b="0" dirty="0">
                <a:solidFill>
                  <a:srgbClr val="FF3300"/>
                </a:solidFill>
                <a:latin typeface="Times New Roman" panose="02020603050405020304" pitchFamily="18" charset="0"/>
                <a:ea typeface="华文中宋" panose="02010600040101010101" pitchFamily="2" charset="-122"/>
              </a:rPr>
              <a:t>过程</a:t>
            </a:r>
            <a:r>
              <a:rPr lang="zh-CN" altLang="en-US" b="0" dirty="0">
                <a:latin typeface="Times New Roman" panose="02020603050405020304" pitchFamily="18" charset="0"/>
                <a:ea typeface="华文中宋" panose="02010600040101010101" pitchFamily="2" charset="-122"/>
              </a:rPr>
              <a:t>。 </a:t>
            </a:r>
            <a:endParaRPr lang="zh-CN" altLang="en-US" b="0" dirty="0">
              <a:latin typeface="Times New Roman" panose="02020603050405020304" pitchFamily="18" charset="0"/>
              <a:ea typeface="华文中宋" panose="02010600040101010101" pitchFamily="2" charset="-122"/>
            </a:endParaRPr>
          </a:p>
          <a:p>
            <a:pPr marL="342900" indent="-342900" algn="l">
              <a:spcBef>
                <a:spcPct val="20000"/>
              </a:spcBef>
              <a:buClr>
                <a:srgbClr val="FF3300"/>
              </a:buClr>
              <a:buFont typeface="Wingdings" panose="05000000000000000000" pitchFamily="2" charset="2"/>
            </a:pPr>
            <a:endParaRPr lang="zh-CN" altLang="en-US" b="0" dirty="0">
              <a:solidFill>
                <a:srgbClr val="000066"/>
              </a:solidFill>
              <a:latin typeface="宋体" panose="02010600030101010101" pitchFamily="2" charset="-122"/>
              <a:ea typeface="华文中宋" panose="02010600040101010101" pitchFamily="2" charset="-122"/>
            </a:endParaRPr>
          </a:p>
          <a:p>
            <a:pPr marL="342900" indent="-342900" algn="l">
              <a:spcBef>
                <a:spcPct val="20000"/>
              </a:spcBef>
              <a:buClr>
                <a:srgbClr val="FF3300"/>
              </a:buClr>
              <a:buFont typeface="Wingdings" panose="05000000000000000000" pitchFamily="2" charset="2"/>
            </a:pPr>
            <a:r>
              <a:rPr lang="zh-CN" altLang="en-US" b="0" dirty="0">
                <a:solidFill>
                  <a:srgbClr val="000066"/>
                </a:solidFill>
                <a:latin typeface="宋体" panose="02010600030101010101" pitchFamily="2" charset="-122"/>
                <a:ea typeface="华文中宋" panose="02010600040101010101" pitchFamily="2" charset="-122"/>
              </a:rPr>
              <a:t>销售四元素：</a:t>
            </a:r>
            <a:endParaRPr lang="zh-CN" altLang="en-US" b="0" dirty="0">
              <a:solidFill>
                <a:srgbClr val="000066"/>
              </a:solidFill>
              <a:latin typeface="宋体" panose="02010600030101010101" pitchFamily="2" charset="-122"/>
              <a:ea typeface="华文中宋" panose="02010600040101010101" pitchFamily="2" charset="-122"/>
            </a:endParaRPr>
          </a:p>
          <a:p>
            <a:pPr marL="342900" indent="-342900" algn="l">
              <a:spcBef>
                <a:spcPct val="20000"/>
              </a:spcBef>
              <a:buClr>
                <a:srgbClr val="FF3300"/>
              </a:buClr>
              <a:buFont typeface="Wingdings" panose="05000000000000000000" pitchFamily="2" charset="2"/>
            </a:pPr>
            <a:r>
              <a:rPr lang="zh-CN" altLang="en-US" b="0" dirty="0">
                <a:latin typeface="宋体" panose="02010600030101010101" pitchFamily="2" charset="-122"/>
                <a:ea typeface="华文中宋" panose="02010600040101010101" pitchFamily="2" charset="-122"/>
              </a:rPr>
              <a:t>      产品、客户、销售人员、销售过程</a:t>
            </a:r>
            <a:endParaRPr lang="zh-CN" altLang="en-US" b="0" dirty="0">
              <a:latin typeface="宋体" panose="02010600030101010101" pitchFamily="2" charset="-122"/>
              <a:ea typeface="华文中宋" panose="02010600040101010101" pitchFamily="2" charset="-122"/>
            </a:endParaRPr>
          </a:p>
          <a:p>
            <a:pPr marL="342900" indent="-342900" algn="l">
              <a:spcBef>
                <a:spcPct val="20000"/>
              </a:spcBef>
              <a:buClr>
                <a:srgbClr val="FF3300"/>
              </a:buClr>
              <a:buFont typeface="Wingdings" panose="05000000000000000000" pitchFamily="2" charset="2"/>
            </a:pPr>
            <a:endParaRPr lang="zh-CN" altLang="en-US" b="0" dirty="0">
              <a:latin typeface="宋体" panose="02010600030101010101" pitchFamily="2" charset="-122"/>
              <a:ea typeface="华文中宋" panose="02010600040101010101" pitchFamily="2" charset="-122"/>
            </a:endParaRPr>
          </a:p>
          <a:p>
            <a:pPr marL="342900" indent="-342900" algn="l">
              <a:spcBef>
                <a:spcPct val="20000"/>
              </a:spcBef>
              <a:buClr>
                <a:srgbClr val="FF3300"/>
              </a:buClr>
              <a:buFont typeface="Wingdings" panose="05000000000000000000" pitchFamily="2" charset="2"/>
            </a:pPr>
            <a:endParaRPr lang="zh-CN" altLang="en-US" b="0" dirty="0">
              <a:latin typeface="宋体" panose="02010600030101010101" pitchFamily="2" charset="-122"/>
              <a:ea typeface="华文中宋" panose="02010600040101010101" pitchFamily="2" charset="-122"/>
            </a:endParaRPr>
          </a:p>
          <a:p>
            <a:pPr marL="342900" indent="-342900" algn="l">
              <a:spcBef>
                <a:spcPct val="20000"/>
              </a:spcBef>
              <a:buClr>
                <a:srgbClr val="FF3300"/>
              </a:buClr>
              <a:buFont typeface="Wingdings" panose="05000000000000000000" pitchFamily="2" charset="2"/>
              <a:buChar char="Ø"/>
            </a:pPr>
            <a:endParaRPr lang="zh-CN" altLang="en-US" b="0" dirty="0">
              <a:latin typeface="宋体" panose="02010600030101010101" pitchFamily="2" charset="-122"/>
              <a:ea typeface="华文中宋" panose="02010600040101010101" pitchFamily="2" charset="-122"/>
            </a:endParaRPr>
          </a:p>
        </p:txBody>
      </p:sp>
      <p:sp>
        <p:nvSpPr>
          <p:cNvPr id="7171" name="Text Box 3" descr="新闻纸"/>
          <p:cNvSpPr txBox="1"/>
          <p:nvPr/>
        </p:nvSpPr>
        <p:spPr>
          <a:xfrm>
            <a:off x="1547813" y="692150"/>
            <a:ext cx="5113337" cy="641350"/>
          </a:xfrm>
          <a:prstGeom prst="rect">
            <a:avLst/>
          </a:prstGeom>
          <a:noFill/>
          <a:ln w="9525">
            <a:noFill/>
          </a:ln>
        </p:spPr>
        <p:txBody>
          <a:bodyPr>
            <a:spAutoFit/>
          </a:bodyPr>
          <a:p>
            <a:pPr>
              <a:spcBef>
                <a:spcPct val="50000"/>
              </a:spcBef>
            </a:pPr>
            <a:r>
              <a:rPr lang="zh-CN" altLang="en-US" sz="3600" b="0" dirty="0">
                <a:solidFill>
                  <a:srgbClr val="FF3300"/>
                </a:solidFill>
                <a:latin typeface="Frutiger 45 Light" pitchFamily="2" charset="0"/>
                <a:ea typeface="华文新魏" panose="02010800040101010101" pitchFamily="2" charset="-122"/>
              </a:rPr>
              <a:t>销售的概念</a:t>
            </a:r>
            <a:endParaRPr lang="zh-CN" altLang="en-US" sz="3600" b="0" dirty="0">
              <a:solidFill>
                <a:srgbClr val="FF3300"/>
              </a:solidFill>
              <a:latin typeface="Frutiger 45 Light" pitchFamily="2" charset="0"/>
              <a:ea typeface="华文新魏" panose="02010800040101010101" pitchFamily="2" charset="-122"/>
            </a:endParaRPr>
          </a:p>
        </p:txBody>
      </p:sp>
      <p:grpSp>
        <p:nvGrpSpPr>
          <p:cNvPr id="7172" name="组合 7171"/>
          <p:cNvGrpSpPr/>
          <p:nvPr/>
        </p:nvGrpSpPr>
        <p:grpSpPr>
          <a:xfrm>
            <a:off x="6516688" y="3357563"/>
            <a:ext cx="1919287" cy="2143125"/>
            <a:chOff x="0" y="0"/>
            <a:chExt cx="613" cy="696"/>
          </a:xfrm>
        </p:grpSpPr>
        <p:grpSp>
          <p:nvGrpSpPr>
            <p:cNvPr id="7173" name="组合 7172"/>
            <p:cNvGrpSpPr/>
            <p:nvPr/>
          </p:nvGrpSpPr>
          <p:grpSpPr>
            <a:xfrm>
              <a:off x="0" y="188"/>
              <a:ext cx="592" cy="508"/>
              <a:chOff x="0" y="0"/>
              <a:chExt cx="747" cy="781"/>
            </a:xfrm>
          </p:grpSpPr>
          <p:grpSp>
            <p:nvGrpSpPr>
              <p:cNvPr id="7174" name="组合 7173"/>
              <p:cNvGrpSpPr/>
              <p:nvPr/>
            </p:nvGrpSpPr>
            <p:grpSpPr>
              <a:xfrm>
                <a:off x="404" y="334"/>
                <a:ext cx="343" cy="403"/>
                <a:chOff x="0" y="0"/>
                <a:chExt cx="343" cy="403"/>
              </a:xfrm>
            </p:grpSpPr>
            <p:sp>
              <p:nvSpPr>
                <p:cNvPr id="7175" name="Freeform 121"/>
                <p:cNvSpPr/>
                <p:nvPr/>
              </p:nvSpPr>
              <p:spPr>
                <a:xfrm>
                  <a:off x="0" y="0"/>
                  <a:ext cx="343" cy="403"/>
                </a:xfrm>
                <a:custGeom>
                  <a:avLst/>
                  <a:gdLst>
                    <a:gd name="txL" fmla="*/ 0 w 1030"/>
                    <a:gd name="txT" fmla="*/ 0 h 1210"/>
                    <a:gd name="txR" fmla="*/ 1030 w 1030"/>
                    <a:gd name="txB" fmla="*/ 1210 h 1210"/>
                  </a:gdLst>
                  <a:ahLst/>
                  <a:cxnLst>
                    <a:cxn ang="0">
                      <a:pos x="0" y="0"/>
                    </a:cxn>
                    <a:cxn ang="0">
                      <a:pos x="4" y="3"/>
                    </a:cxn>
                    <a:cxn ang="0">
                      <a:pos x="5" y="6"/>
                    </a:cxn>
                    <a:cxn ang="0">
                      <a:pos x="9" y="21"/>
                    </a:cxn>
                    <a:cxn ang="0">
                      <a:pos x="11" y="25"/>
                    </a:cxn>
                    <a:cxn ang="0">
                      <a:pos x="12" y="27"/>
                    </a:cxn>
                    <a:cxn ang="0">
                      <a:pos x="14" y="29"/>
                    </a:cxn>
                    <a:cxn ang="0">
                      <a:pos x="16" y="32"/>
                    </a:cxn>
                    <a:cxn ang="0">
                      <a:pos x="17" y="35"/>
                    </a:cxn>
                    <a:cxn ang="0">
                      <a:pos x="18" y="38"/>
                    </a:cxn>
                    <a:cxn ang="0">
                      <a:pos x="21" y="38"/>
                    </a:cxn>
                    <a:cxn ang="0">
                      <a:pos x="24" y="40"/>
                    </a:cxn>
                    <a:cxn ang="0">
                      <a:pos x="26" y="42"/>
                    </a:cxn>
                    <a:cxn ang="0">
                      <a:pos x="27" y="45"/>
                    </a:cxn>
                    <a:cxn ang="0">
                      <a:pos x="38" y="45"/>
                    </a:cxn>
                    <a:cxn ang="0">
                      <a:pos x="36" y="43"/>
                    </a:cxn>
                    <a:cxn ang="0">
                      <a:pos x="34" y="42"/>
                    </a:cxn>
                    <a:cxn ang="0">
                      <a:pos x="33" y="41"/>
                    </a:cxn>
                    <a:cxn ang="0">
                      <a:pos x="32" y="39"/>
                    </a:cxn>
                    <a:cxn ang="0">
                      <a:pos x="31" y="37"/>
                    </a:cxn>
                    <a:cxn ang="0">
                      <a:pos x="29" y="36"/>
                    </a:cxn>
                    <a:cxn ang="0">
                      <a:pos x="28" y="36"/>
                    </a:cxn>
                    <a:cxn ang="0">
                      <a:pos x="26" y="37"/>
                    </a:cxn>
                    <a:cxn ang="0">
                      <a:pos x="25" y="35"/>
                    </a:cxn>
                    <a:cxn ang="0">
                      <a:pos x="24" y="33"/>
                    </a:cxn>
                    <a:cxn ang="0">
                      <a:pos x="24" y="32"/>
                    </a:cxn>
                    <a:cxn ang="0">
                      <a:pos x="22" y="31"/>
                    </a:cxn>
                    <a:cxn ang="0">
                      <a:pos x="20" y="30"/>
                    </a:cxn>
                    <a:cxn ang="0">
                      <a:pos x="19" y="28"/>
                    </a:cxn>
                    <a:cxn ang="0">
                      <a:pos x="19" y="27"/>
                    </a:cxn>
                    <a:cxn ang="0">
                      <a:pos x="18" y="25"/>
                    </a:cxn>
                    <a:cxn ang="0">
                      <a:pos x="17" y="23"/>
                    </a:cxn>
                    <a:cxn ang="0">
                      <a:pos x="16" y="21"/>
                    </a:cxn>
                    <a:cxn ang="0">
                      <a:pos x="15" y="19"/>
                    </a:cxn>
                    <a:cxn ang="0">
                      <a:pos x="14" y="17"/>
                    </a:cxn>
                    <a:cxn ang="0">
                      <a:pos x="13" y="15"/>
                    </a:cxn>
                    <a:cxn ang="0">
                      <a:pos x="11" y="13"/>
                    </a:cxn>
                    <a:cxn ang="0">
                      <a:pos x="9" y="12"/>
                    </a:cxn>
                    <a:cxn ang="0">
                      <a:pos x="6" y="8"/>
                    </a:cxn>
                    <a:cxn ang="0">
                      <a:pos x="8" y="10"/>
                    </a:cxn>
                    <a:cxn ang="0">
                      <a:pos x="14" y="12"/>
                    </a:cxn>
                    <a:cxn ang="0">
                      <a:pos x="13" y="10"/>
                    </a:cxn>
                    <a:cxn ang="0">
                      <a:pos x="11" y="7"/>
                    </a:cxn>
                    <a:cxn ang="0">
                      <a:pos x="8" y="5"/>
                    </a:cxn>
                    <a:cxn ang="0">
                      <a:pos x="6" y="3"/>
                    </a:cxn>
                    <a:cxn ang="0">
                      <a:pos x="2" y="1"/>
                    </a:cxn>
                    <a:cxn ang="0">
                      <a:pos x="0" y="0"/>
                    </a:cxn>
                  </a:cxnLst>
                  <a:rect l="txL" t="txT" r="txR" b="txB"/>
                  <a:pathLst>
                    <a:path w="1030" h="1210">
                      <a:moveTo>
                        <a:pt x="0" y="0"/>
                      </a:moveTo>
                      <a:lnTo>
                        <a:pt x="112" y="93"/>
                      </a:lnTo>
                      <a:lnTo>
                        <a:pt x="131" y="160"/>
                      </a:lnTo>
                      <a:lnTo>
                        <a:pt x="256" y="578"/>
                      </a:lnTo>
                      <a:lnTo>
                        <a:pt x="301" y="686"/>
                      </a:lnTo>
                      <a:lnTo>
                        <a:pt x="335" y="740"/>
                      </a:lnTo>
                      <a:lnTo>
                        <a:pt x="382" y="794"/>
                      </a:lnTo>
                      <a:lnTo>
                        <a:pt x="436" y="855"/>
                      </a:lnTo>
                      <a:lnTo>
                        <a:pt x="462" y="954"/>
                      </a:lnTo>
                      <a:lnTo>
                        <a:pt x="491" y="1022"/>
                      </a:lnTo>
                      <a:lnTo>
                        <a:pt x="571" y="1034"/>
                      </a:lnTo>
                      <a:lnTo>
                        <a:pt x="644" y="1088"/>
                      </a:lnTo>
                      <a:lnTo>
                        <a:pt x="690" y="1135"/>
                      </a:lnTo>
                      <a:lnTo>
                        <a:pt x="737" y="1210"/>
                      </a:lnTo>
                      <a:lnTo>
                        <a:pt x="1030" y="1210"/>
                      </a:lnTo>
                      <a:lnTo>
                        <a:pt x="970" y="1172"/>
                      </a:lnTo>
                      <a:lnTo>
                        <a:pt x="926" y="1136"/>
                      </a:lnTo>
                      <a:lnTo>
                        <a:pt x="896" y="1102"/>
                      </a:lnTo>
                      <a:lnTo>
                        <a:pt x="868" y="1054"/>
                      </a:lnTo>
                      <a:lnTo>
                        <a:pt x="827" y="1007"/>
                      </a:lnTo>
                      <a:lnTo>
                        <a:pt x="787" y="986"/>
                      </a:lnTo>
                      <a:lnTo>
                        <a:pt x="744" y="985"/>
                      </a:lnTo>
                      <a:lnTo>
                        <a:pt x="697" y="1000"/>
                      </a:lnTo>
                      <a:lnTo>
                        <a:pt x="680" y="952"/>
                      </a:lnTo>
                      <a:lnTo>
                        <a:pt x="662" y="902"/>
                      </a:lnTo>
                      <a:lnTo>
                        <a:pt x="637" y="868"/>
                      </a:lnTo>
                      <a:lnTo>
                        <a:pt x="593" y="837"/>
                      </a:lnTo>
                      <a:lnTo>
                        <a:pt x="543" y="814"/>
                      </a:lnTo>
                      <a:lnTo>
                        <a:pt x="515" y="770"/>
                      </a:lnTo>
                      <a:lnTo>
                        <a:pt x="503" y="726"/>
                      </a:lnTo>
                      <a:lnTo>
                        <a:pt x="482" y="671"/>
                      </a:lnTo>
                      <a:lnTo>
                        <a:pt x="454" y="628"/>
                      </a:lnTo>
                      <a:lnTo>
                        <a:pt x="427" y="578"/>
                      </a:lnTo>
                      <a:lnTo>
                        <a:pt x="412" y="509"/>
                      </a:lnTo>
                      <a:lnTo>
                        <a:pt x="383" y="451"/>
                      </a:lnTo>
                      <a:lnTo>
                        <a:pt x="348" y="410"/>
                      </a:lnTo>
                      <a:lnTo>
                        <a:pt x="297" y="364"/>
                      </a:lnTo>
                      <a:lnTo>
                        <a:pt x="242" y="331"/>
                      </a:lnTo>
                      <a:lnTo>
                        <a:pt x="161" y="221"/>
                      </a:lnTo>
                      <a:lnTo>
                        <a:pt x="219" y="263"/>
                      </a:lnTo>
                      <a:lnTo>
                        <a:pt x="389" y="311"/>
                      </a:lnTo>
                      <a:lnTo>
                        <a:pt x="341" y="261"/>
                      </a:lnTo>
                      <a:lnTo>
                        <a:pt x="291" y="191"/>
                      </a:lnTo>
                      <a:lnTo>
                        <a:pt x="229" y="127"/>
                      </a:lnTo>
                      <a:lnTo>
                        <a:pt x="158" y="83"/>
                      </a:lnTo>
                      <a:lnTo>
                        <a:pt x="61" y="39"/>
                      </a:lnTo>
                      <a:lnTo>
                        <a:pt x="0" y="0"/>
                      </a:lnTo>
                      <a:close/>
                    </a:path>
                  </a:pathLst>
                </a:custGeom>
                <a:solidFill>
                  <a:srgbClr val="4080FF"/>
                </a:solidFill>
                <a:ln w="4763" cap="flat" cmpd="sng">
                  <a:solidFill>
                    <a:srgbClr val="000000"/>
                  </a:solidFill>
                  <a:prstDash val="solid"/>
                  <a:miter/>
                  <a:headEnd type="none" w="med" len="med"/>
                  <a:tailEnd type="none" w="med" len="med"/>
                </a:ln>
              </p:spPr>
              <p:txBody>
                <a:bodyPr/>
                <a:p>
                  <a:endParaRPr lang="zh-CN" altLang="en-US" dirty="0">
                    <a:latin typeface="Frutiger 45 Light" pitchFamily="2" charset="0"/>
                  </a:endParaRPr>
                </a:p>
              </p:txBody>
            </p:sp>
            <p:sp>
              <p:nvSpPr>
                <p:cNvPr id="7176" name="Freeform 122"/>
                <p:cNvSpPr/>
                <p:nvPr/>
              </p:nvSpPr>
              <p:spPr>
                <a:xfrm>
                  <a:off x="36" y="21"/>
                  <a:ext cx="27" cy="44"/>
                </a:xfrm>
                <a:custGeom>
                  <a:avLst/>
                  <a:gdLst>
                    <a:gd name="txL" fmla="*/ 0 w 81"/>
                    <a:gd name="txT" fmla="*/ 0 h 132"/>
                    <a:gd name="txR" fmla="*/ 81 w 81"/>
                    <a:gd name="txB" fmla="*/ 132 h 132"/>
                  </a:gdLst>
                  <a:ahLst/>
                  <a:cxnLst>
                    <a:cxn ang="0">
                      <a:pos x="0" y="0"/>
                    </a:cxn>
                    <a:cxn ang="0">
                      <a:pos x="1" y="1"/>
                    </a:cxn>
                    <a:cxn ang="0">
                      <a:pos x="2" y="1"/>
                    </a:cxn>
                    <a:cxn ang="0">
                      <a:pos x="3" y="3"/>
                    </a:cxn>
                    <a:cxn ang="0">
                      <a:pos x="2" y="3"/>
                    </a:cxn>
                    <a:cxn ang="0">
                      <a:pos x="2" y="5"/>
                    </a:cxn>
                    <a:cxn ang="0">
                      <a:pos x="2" y="4"/>
                    </a:cxn>
                    <a:cxn ang="0">
                      <a:pos x="1" y="3"/>
                    </a:cxn>
                    <a:cxn ang="0">
                      <a:pos x="1" y="2"/>
                    </a:cxn>
                    <a:cxn ang="0">
                      <a:pos x="0" y="0"/>
                    </a:cxn>
                  </a:cxnLst>
                  <a:rect l="txL" t="txT" r="txR" b="txB"/>
                  <a:pathLst>
                    <a:path w="81" h="132">
                      <a:moveTo>
                        <a:pt x="0" y="0"/>
                      </a:moveTo>
                      <a:lnTo>
                        <a:pt x="34" y="20"/>
                      </a:lnTo>
                      <a:lnTo>
                        <a:pt x="62" y="36"/>
                      </a:lnTo>
                      <a:lnTo>
                        <a:pt x="81" y="70"/>
                      </a:lnTo>
                      <a:lnTo>
                        <a:pt x="51" y="78"/>
                      </a:lnTo>
                      <a:lnTo>
                        <a:pt x="44" y="132"/>
                      </a:lnTo>
                      <a:lnTo>
                        <a:pt x="42" y="114"/>
                      </a:lnTo>
                      <a:lnTo>
                        <a:pt x="28" y="74"/>
                      </a:lnTo>
                      <a:lnTo>
                        <a:pt x="17" y="64"/>
                      </a:lnTo>
                      <a:lnTo>
                        <a:pt x="0" y="0"/>
                      </a:lnTo>
                      <a:close/>
                    </a:path>
                  </a:pathLst>
                </a:custGeom>
                <a:solidFill>
                  <a:srgbClr val="0020A0"/>
                </a:solidFill>
                <a:ln w="4763" cap="flat" cmpd="sng">
                  <a:solidFill>
                    <a:srgbClr val="000000"/>
                  </a:solidFill>
                  <a:prstDash val="solid"/>
                  <a:miter/>
                  <a:headEnd type="none" w="med" len="med"/>
                  <a:tailEnd type="none" w="med" len="med"/>
                </a:ln>
              </p:spPr>
              <p:txBody>
                <a:bodyPr/>
                <a:p>
                  <a:endParaRPr lang="zh-CN" altLang="en-US" dirty="0">
                    <a:latin typeface="Frutiger 45 Light" pitchFamily="2" charset="0"/>
                  </a:endParaRPr>
                </a:p>
              </p:txBody>
            </p:sp>
          </p:grpSp>
          <p:grpSp>
            <p:nvGrpSpPr>
              <p:cNvPr id="7177" name="组合 7176"/>
              <p:cNvGrpSpPr/>
              <p:nvPr/>
            </p:nvGrpSpPr>
            <p:grpSpPr>
              <a:xfrm rot="1673466">
                <a:off x="201" y="0"/>
                <a:ext cx="414" cy="430"/>
                <a:chOff x="0" y="0"/>
                <a:chExt cx="414" cy="430"/>
              </a:xfrm>
            </p:grpSpPr>
            <p:sp>
              <p:nvSpPr>
                <p:cNvPr id="7178" name="Freeform 124"/>
                <p:cNvSpPr/>
                <p:nvPr/>
              </p:nvSpPr>
              <p:spPr>
                <a:xfrm>
                  <a:off x="250" y="78"/>
                  <a:ext cx="164" cy="125"/>
                </a:xfrm>
                <a:custGeom>
                  <a:avLst/>
                  <a:gdLst>
                    <a:gd name="txL" fmla="*/ 0 w 490"/>
                    <a:gd name="txT" fmla="*/ 0 h 375"/>
                    <a:gd name="txR" fmla="*/ 490 w 490"/>
                    <a:gd name="txB" fmla="*/ 375 h 375"/>
                  </a:gdLst>
                  <a:ahLst/>
                  <a:cxnLst>
                    <a:cxn ang="0">
                      <a:pos x="0" y="4"/>
                    </a:cxn>
                    <a:cxn ang="0">
                      <a:pos x="3" y="8"/>
                    </a:cxn>
                    <a:cxn ang="0">
                      <a:pos x="4" y="10"/>
                    </a:cxn>
                    <a:cxn ang="0">
                      <a:pos x="4" y="14"/>
                    </a:cxn>
                    <a:cxn ang="0">
                      <a:pos x="5" y="14"/>
                    </a:cxn>
                    <a:cxn ang="0">
                      <a:pos x="6" y="13"/>
                    </a:cxn>
                    <a:cxn ang="0">
                      <a:pos x="7" y="11"/>
                    </a:cxn>
                    <a:cxn ang="0">
                      <a:pos x="7" y="8"/>
                    </a:cxn>
                    <a:cxn ang="0">
                      <a:pos x="7" y="9"/>
                    </a:cxn>
                    <a:cxn ang="0">
                      <a:pos x="7" y="10"/>
                    </a:cxn>
                    <a:cxn ang="0">
                      <a:pos x="7" y="12"/>
                    </a:cxn>
                    <a:cxn ang="0">
                      <a:pos x="8" y="12"/>
                    </a:cxn>
                    <a:cxn ang="0">
                      <a:pos x="9" y="10"/>
                    </a:cxn>
                    <a:cxn ang="0">
                      <a:pos x="9" y="9"/>
                    </a:cxn>
                    <a:cxn ang="0">
                      <a:pos x="10" y="7"/>
                    </a:cxn>
                    <a:cxn ang="0">
                      <a:pos x="10" y="9"/>
                    </a:cxn>
                    <a:cxn ang="0">
                      <a:pos x="11" y="10"/>
                    </a:cxn>
                    <a:cxn ang="0">
                      <a:pos x="12" y="9"/>
                    </a:cxn>
                    <a:cxn ang="0">
                      <a:pos x="12" y="8"/>
                    </a:cxn>
                    <a:cxn ang="0">
                      <a:pos x="12" y="9"/>
                    </a:cxn>
                    <a:cxn ang="0">
                      <a:pos x="14" y="8"/>
                    </a:cxn>
                    <a:cxn ang="0">
                      <a:pos x="15" y="7"/>
                    </a:cxn>
                    <a:cxn ang="0">
                      <a:pos x="14" y="9"/>
                    </a:cxn>
                    <a:cxn ang="0">
                      <a:pos x="14" y="10"/>
                    </a:cxn>
                    <a:cxn ang="0">
                      <a:pos x="15" y="11"/>
                    </a:cxn>
                    <a:cxn ang="0">
                      <a:pos x="15" y="12"/>
                    </a:cxn>
                    <a:cxn ang="0">
                      <a:pos x="17" y="12"/>
                    </a:cxn>
                    <a:cxn ang="0">
                      <a:pos x="18" y="9"/>
                    </a:cxn>
                    <a:cxn ang="0">
                      <a:pos x="18" y="7"/>
                    </a:cxn>
                    <a:cxn ang="0">
                      <a:pos x="18" y="4"/>
                    </a:cxn>
                    <a:cxn ang="0">
                      <a:pos x="16" y="2"/>
                    </a:cxn>
                    <a:cxn ang="0">
                      <a:pos x="15" y="0"/>
                    </a:cxn>
                    <a:cxn ang="0">
                      <a:pos x="13" y="2"/>
                    </a:cxn>
                    <a:cxn ang="0">
                      <a:pos x="12" y="1"/>
                    </a:cxn>
                    <a:cxn ang="0">
                      <a:pos x="11" y="0"/>
                    </a:cxn>
                    <a:cxn ang="0">
                      <a:pos x="11" y="1"/>
                    </a:cxn>
                    <a:cxn ang="0">
                      <a:pos x="10" y="0"/>
                    </a:cxn>
                    <a:cxn ang="0">
                      <a:pos x="9" y="2"/>
                    </a:cxn>
                    <a:cxn ang="0">
                      <a:pos x="9" y="1"/>
                    </a:cxn>
                    <a:cxn ang="0">
                      <a:pos x="8" y="1"/>
                    </a:cxn>
                    <a:cxn ang="0">
                      <a:pos x="7" y="0"/>
                    </a:cxn>
                    <a:cxn ang="0">
                      <a:pos x="6" y="1"/>
                    </a:cxn>
                    <a:cxn ang="0">
                      <a:pos x="5" y="0"/>
                    </a:cxn>
                    <a:cxn ang="0">
                      <a:pos x="4" y="0"/>
                    </a:cxn>
                    <a:cxn ang="0">
                      <a:pos x="3" y="0"/>
                    </a:cxn>
                    <a:cxn ang="0">
                      <a:pos x="3" y="2"/>
                    </a:cxn>
                    <a:cxn ang="0">
                      <a:pos x="3" y="2"/>
                    </a:cxn>
                    <a:cxn ang="0">
                      <a:pos x="3" y="2"/>
                    </a:cxn>
                    <a:cxn ang="0">
                      <a:pos x="0" y="2"/>
                    </a:cxn>
                    <a:cxn ang="0">
                      <a:pos x="0" y="4"/>
                    </a:cxn>
                  </a:cxnLst>
                  <a:rect l="txL" t="txT" r="txR" b="txB"/>
                  <a:pathLst>
                    <a:path w="490" h="375">
                      <a:moveTo>
                        <a:pt x="0" y="118"/>
                      </a:moveTo>
                      <a:lnTo>
                        <a:pt x="94" y="214"/>
                      </a:lnTo>
                      <a:lnTo>
                        <a:pt x="101" y="277"/>
                      </a:lnTo>
                      <a:lnTo>
                        <a:pt x="109" y="375"/>
                      </a:lnTo>
                      <a:lnTo>
                        <a:pt x="135" y="375"/>
                      </a:lnTo>
                      <a:lnTo>
                        <a:pt x="162" y="346"/>
                      </a:lnTo>
                      <a:lnTo>
                        <a:pt x="175" y="290"/>
                      </a:lnTo>
                      <a:lnTo>
                        <a:pt x="175" y="208"/>
                      </a:lnTo>
                      <a:lnTo>
                        <a:pt x="182" y="255"/>
                      </a:lnTo>
                      <a:lnTo>
                        <a:pt x="189" y="283"/>
                      </a:lnTo>
                      <a:lnTo>
                        <a:pt x="196" y="311"/>
                      </a:lnTo>
                      <a:lnTo>
                        <a:pt x="223" y="311"/>
                      </a:lnTo>
                      <a:lnTo>
                        <a:pt x="250" y="283"/>
                      </a:lnTo>
                      <a:lnTo>
                        <a:pt x="250" y="249"/>
                      </a:lnTo>
                      <a:lnTo>
                        <a:pt x="270" y="199"/>
                      </a:lnTo>
                      <a:lnTo>
                        <a:pt x="276" y="235"/>
                      </a:lnTo>
                      <a:lnTo>
                        <a:pt x="289" y="270"/>
                      </a:lnTo>
                      <a:lnTo>
                        <a:pt x="323" y="255"/>
                      </a:lnTo>
                      <a:lnTo>
                        <a:pt x="335" y="227"/>
                      </a:lnTo>
                      <a:lnTo>
                        <a:pt x="335" y="249"/>
                      </a:lnTo>
                      <a:lnTo>
                        <a:pt x="377" y="227"/>
                      </a:lnTo>
                      <a:lnTo>
                        <a:pt x="396" y="179"/>
                      </a:lnTo>
                      <a:lnTo>
                        <a:pt x="384" y="255"/>
                      </a:lnTo>
                      <a:lnTo>
                        <a:pt x="377" y="283"/>
                      </a:lnTo>
                      <a:lnTo>
                        <a:pt x="402" y="290"/>
                      </a:lnTo>
                      <a:lnTo>
                        <a:pt x="410" y="325"/>
                      </a:lnTo>
                      <a:lnTo>
                        <a:pt x="449" y="318"/>
                      </a:lnTo>
                      <a:lnTo>
                        <a:pt x="476" y="255"/>
                      </a:lnTo>
                      <a:lnTo>
                        <a:pt x="490" y="179"/>
                      </a:lnTo>
                      <a:lnTo>
                        <a:pt x="476" y="112"/>
                      </a:lnTo>
                      <a:lnTo>
                        <a:pt x="436" y="56"/>
                      </a:lnTo>
                      <a:lnTo>
                        <a:pt x="388" y="12"/>
                      </a:lnTo>
                      <a:lnTo>
                        <a:pt x="363" y="49"/>
                      </a:lnTo>
                      <a:lnTo>
                        <a:pt x="330" y="21"/>
                      </a:lnTo>
                      <a:lnTo>
                        <a:pt x="309" y="6"/>
                      </a:lnTo>
                      <a:lnTo>
                        <a:pt x="296" y="21"/>
                      </a:lnTo>
                      <a:lnTo>
                        <a:pt x="262" y="12"/>
                      </a:lnTo>
                      <a:lnTo>
                        <a:pt x="255" y="49"/>
                      </a:lnTo>
                      <a:lnTo>
                        <a:pt x="242" y="28"/>
                      </a:lnTo>
                      <a:lnTo>
                        <a:pt x="208" y="21"/>
                      </a:lnTo>
                      <a:lnTo>
                        <a:pt x="175" y="0"/>
                      </a:lnTo>
                      <a:lnTo>
                        <a:pt x="162" y="28"/>
                      </a:lnTo>
                      <a:lnTo>
                        <a:pt x="143" y="12"/>
                      </a:lnTo>
                      <a:lnTo>
                        <a:pt x="115" y="6"/>
                      </a:lnTo>
                      <a:lnTo>
                        <a:pt x="94" y="12"/>
                      </a:lnTo>
                      <a:lnTo>
                        <a:pt x="89" y="56"/>
                      </a:lnTo>
                      <a:lnTo>
                        <a:pt x="94" y="62"/>
                      </a:lnTo>
                      <a:lnTo>
                        <a:pt x="75" y="62"/>
                      </a:lnTo>
                      <a:lnTo>
                        <a:pt x="7" y="56"/>
                      </a:lnTo>
                      <a:lnTo>
                        <a:pt x="0" y="118"/>
                      </a:lnTo>
                      <a:close/>
                    </a:path>
                  </a:pathLst>
                </a:custGeom>
                <a:solidFill>
                  <a:srgbClr val="B07000"/>
                </a:solidFill>
                <a:ln w="4763" cap="flat" cmpd="sng">
                  <a:solidFill>
                    <a:srgbClr val="000000"/>
                  </a:solidFill>
                  <a:prstDash val="solid"/>
                  <a:miter/>
                  <a:headEnd type="none" w="med" len="med"/>
                  <a:tailEnd type="none" w="med" len="med"/>
                </a:ln>
              </p:spPr>
              <p:txBody>
                <a:bodyPr/>
                <a:p>
                  <a:endParaRPr lang="zh-CN" altLang="en-US" dirty="0">
                    <a:latin typeface="Frutiger 45 Light" pitchFamily="2" charset="0"/>
                  </a:endParaRPr>
                </a:p>
              </p:txBody>
            </p:sp>
            <p:grpSp>
              <p:nvGrpSpPr>
                <p:cNvPr id="7179" name="组合 7178"/>
                <p:cNvGrpSpPr/>
                <p:nvPr/>
              </p:nvGrpSpPr>
              <p:grpSpPr>
                <a:xfrm>
                  <a:off x="0" y="0"/>
                  <a:ext cx="409" cy="430"/>
                  <a:chOff x="0" y="0"/>
                  <a:chExt cx="409" cy="430"/>
                </a:xfrm>
              </p:grpSpPr>
              <p:sp>
                <p:nvSpPr>
                  <p:cNvPr id="7180" name="Freeform 126"/>
                  <p:cNvSpPr/>
                  <p:nvPr/>
                </p:nvSpPr>
                <p:spPr>
                  <a:xfrm>
                    <a:off x="11" y="0"/>
                    <a:ext cx="390" cy="430"/>
                  </a:xfrm>
                  <a:custGeom>
                    <a:avLst/>
                    <a:gdLst>
                      <a:gd name="txL" fmla="*/ 0 w 1171"/>
                      <a:gd name="txT" fmla="*/ 0 h 1289"/>
                      <a:gd name="txR" fmla="*/ 1171 w 1171"/>
                      <a:gd name="txB" fmla="*/ 1289 h 1289"/>
                    </a:gdLst>
                    <a:ahLst/>
                    <a:cxnLst>
                      <a:cxn ang="0">
                        <a:pos x="5" y="29"/>
                      </a:cxn>
                      <a:cxn ang="0">
                        <a:pos x="6" y="33"/>
                      </a:cxn>
                      <a:cxn ang="0">
                        <a:pos x="8" y="36"/>
                      </a:cxn>
                      <a:cxn ang="0">
                        <a:pos x="12" y="38"/>
                      </a:cxn>
                      <a:cxn ang="0">
                        <a:pos x="16" y="39"/>
                      </a:cxn>
                      <a:cxn ang="0">
                        <a:pos x="16" y="41"/>
                      </a:cxn>
                      <a:cxn ang="0">
                        <a:pos x="36" y="48"/>
                      </a:cxn>
                      <a:cxn ang="0">
                        <a:pos x="35" y="44"/>
                      </a:cxn>
                      <a:cxn ang="0">
                        <a:pos x="34" y="40"/>
                      </a:cxn>
                      <a:cxn ang="0">
                        <a:pos x="32" y="38"/>
                      </a:cxn>
                      <a:cxn ang="0">
                        <a:pos x="32" y="36"/>
                      </a:cxn>
                      <a:cxn ang="0">
                        <a:pos x="33" y="32"/>
                      </a:cxn>
                      <a:cxn ang="0">
                        <a:pos x="34" y="29"/>
                      </a:cxn>
                      <a:cxn ang="0">
                        <a:pos x="35" y="27"/>
                      </a:cxn>
                      <a:cxn ang="0">
                        <a:pos x="37" y="26"/>
                      </a:cxn>
                      <a:cxn ang="0">
                        <a:pos x="39" y="24"/>
                      </a:cxn>
                      <a:cxn ang="0">
                        <a:pos x="41" y="21"/>
                      </a:cxn>
                      <a:cxn ang="0">
                        <a:pos x="42" y="19"/>
                      </a:cxn>
                      <a:cxn ang="0">
                        <a:pos x="43" y="15"/>
                      </a:cxn>
                      <a:cxn ang="0">
                        <a:pos x="43" y="12"/>
                      </a:cxn>
                      <a:cxn ang="0">
                        <a:pos x="42" y="9"/>
                      </a:cxn>
                      <a:cxn ang="0">
                        <a:pos x="39" y="7"/>
                      </a:cxn>
                      <a:cxn ang="0">
                        <a:pos x="36" y="4"/>
                      </a:cxn>
                      <a:cxn ang="0">
                        <a:pos x="32" y="2"/>
                      </a:cxn>
                      <a:cxn ang="0">
                        <a:pos x="28" y="1"/>
                      </a:cxn>
                      <a:cxn ang="0">
                        <a:pos x="25" y="0"/>
                      </a:cxn>
                      <a:cxn ang="0">
                        <a:pos x="21" y="0"/>
                      </a:cxn>
                      <a:cxn ang="0">
                        <a:pos x="18" y="0"/>
                      </a:cxn>
                      <a:cxn ang="0">
                        <a:pos x="14" y="1"/>
                      </a:cxn>
                      <a:cxn ang="0">
                        <a:pos x="11" y="2"/>
                      </a:cxn>
                      <a:cxn ang="0">
                        <a:pos x="9" y="3"/>
                      </a:cxn>
                      <a:cxn ang="0">
                        <a:pos x="6" y="5"/>
                      </a:cxn>
                      <a:cxn ang="0">
                        <a:pos x="3" y="7"/>
                      </a:cxn>
                      <a:cxn ang="0">
                        <a:pos x="1" y="11"/>
                      </a:cxn>
                      <a:cxn ang="0">
                        <a:pos x="0" y="14"/>
                      </a:cxn>
                      <a:cxn ang="0">
                        <a:pos x="0" y="17"/>
                      </a:cxn>
                      <a:cxn ang="0">
                        <a:pos x="2" y="20"/>
                      </a:cxn>
                      <a:cxn ang="0">
                        <a:pos x="3" y="22"/>
                      </a:cxn>
                      <a:cxn ang="0">
                        <a:pos x="4" y="24"/>
                      </a:cxn>
                      <a:cxn ang="0">
                        <a:pos x="5" y="29"/>
                      </a:cxn>
                    </a:cxnLst>
                    <a:rect l="txL" t="txT" r="txR" b="txB"/>
                    <a:pathLst>
                      <a:path w="1171" h="1289">
                        <a:moveTo>
                          <a:pt x="127" y="783"/>
                        </a:moveTo>
                        <a:lnTo>
                          <a:pt x="161" y="893"/>
                        </a:lnTo>
                        <a:lnTo>
                          <a:pt x="219" y="974"/>
                        </a:lnTo>
                        <a:lnTo>
                          <a:pt x="320" y="1038"/>
                        </a:lnTo>
                        <a:lnTo>
                          <a:pt x="423" y="1065"/>
                        </a:lnTo>
                        <a:lnTo>
                          <a:pt x="430" y="1098"/>
                        </a:lnTo>
                        <a:lnTo>
                          <a:pt x="970" y="1289"/>
                        </a:lnTo>
                        <a:lnTo>
                          <a:pt x="944" y="1179"/>
                        </a:lnTo>
                        <a:lnTo>
                          <a:pt x="907" y="1078"/>
                        </a:lnTo>
                        <a:lnTo>
                          <a:pt x="873" y="1025"/>
                        </a:lnTo>
                        <a:lnTo>
                          <a:pt x="866" y="958"/>
                        </a:lnTo>
                        <a:lnTo>
                          <a:pt x="884" y="850"/>
                        </a:lnTo>
                        <a:lnTo>
                          <a:pt x="911" y="783"/>
                        </a:lnTo>
                        <a:lnTo>
                          <a:pt x="947" y="730"/>
                        </a:lnTo>
                        <a:lnTo>
                          <a:pt x="1007" y="696"/>
                        </a:lnTo>
                        <a:lnTo>
                          <a:pt x="1058" y="645"/>
                        </a:lnTo>
                        <a:lnTo>
                          <a:pt x="1106" y="571"/>
                        </a:lnTo>
                        <a:lnTo>
                          <a:pt x="1133" y="511"/>
                        </a:lnTo>
                        <a:lnTo>
                          <a:pt x="1167" y="417"/>
                        </a:lnTo>
                        <a:lnTo>
                          <a:pt x="1171" y="320"/>
                        </a:lnTo>
                        <a:lnTo>
                          <a:pt x="1128" y="246"/>
                        </a:lnTo>
                        <a:lnTo>
                          <a:pt x="1058" y="181"/>
                        </a:lnTo>
                        <a:lnTo>
                          <a:pt x="960" y="109"/>
                        </a:lnTo>
                        <a:lnTo>
                          <a:pt x="866" y="62"/>
                        </a:lnTo>
                        <a:lnTo>
                          <a:pt x="759" y="32"/>
                        </a:lnTo>
                        <a:lnTo>
                          <a:pt x="668" y="12"/>
                        </a:lnTo>
                        <a:lnTo>
                          <a:pt x="570" y="0"/>
                        </a:lnTo>
                        <a:lnTo>
                          <a:pt x="473" y="2"/>
                        </a:lnTo>
                        <a:lnTo>
                          <a:pt x="382" y="20"/>
                        </a:lnTo>
                        <a:lnTo>
                          <a:pt x="303" y="46"/>
                        </a:lnTo>
                        <a:lnTo>
                          <a:pt x="236" y="85"/>
                        </a:lnTo>
                        <a:lnTo>
                          <a:pt x="158" y="136"/>
                        </a:lnTo>
                        <a:lnTo>
                          <a:pt x="87" y="200"/>
                        </a:lnTo>
                        <a:lnTo>
                          <a:pt x="20" y="288"/>
                        </a:lnTo>
                        <a:lnTo>
                          <a:pt x="0" y="368"/>
                        </a:lnTo>
                        <a:lnTo>
                          <a:pt x="7" y="460"/>
                        </a:lnTo>
                        <a:lnTo>
                          <a:pt x="41" y="534"/>
                        </a:lnTo>
                        <a:lnTo>
                          <a:pt x="81" y="582"/>
                        </a:lnTo>
                        <a:lnTo>
                          <a:pt x="108" y="656"/>
                        </a:lnTo>
                        <a:lnTo>
                          <a:pt x="127" y="783"/>
                        </a:lnTo>
                        <a:close/>
                      </a:path>
                    </a:pathLst>
                  </a:custGeom>
                  <a:solidFill>
                    <a:srgbClr val="E0A080"/>
                  </a:solidFill>
                  <a:ln w="4763" cap="flat" cmpd="sng">
                    <a:solidFill>
                      <a:srgbClr val="000000"/>
                    </a:solidFill>
                    <a:prstDash val="solid"/>
                    <a:miter/>
                    <a:headEnd type="none" w="med" len="med"/>
                    <a:tailEnd type="none" w="med" len="med"/>
                  </a:ln>
                </p:spPr>
                <p:txBody>
                  <a:bodyPr/>
                  <a:p>
                    <a:endParaRPr lang="zh-CN" altLang="en-US" dirty="0">
                      <a:latin typeface="Frutiger 45 Light" pitchFamily="2" charset="0"/>
                    </a:endParaRPr>
                  </a:p>
                </p:txBody>
              </p:sp>
              <p:grpSp>
                <p:nvGrpSpPr>
                  <p:cNvPr id="7181" name="组合 7180"/>
                  <p:cNvGrpSpPr/>
                  <p:nvPr/>
                </p:nvGrpSpPr>
                <p:grpSpPr>
                  <a:xfrm>
                    <a:off x="51" y="9"/>
                    <a:ext cx="358" cy="306"/>
                    <a:chOff x="0" y="0"/>
                    <a:chExt cx="358" cy="306"/>
                  </a:xfrm>
                </p:grpSpPr>
                <p:grpSp>
                  <p:nvGrpSpPr>
                    <p:cNvPr id="7182" name="组合 7181"/>
                    <p:cNvGrpSpPr/>
                    <p:nvPr/>
                  </p:nvGrpSpPr>
                  <p:grpSpPr>
                    <a:xfrm>
                      <a:off x="0" y="65"/>
                      <a:ext cx="358" cy="241"/>
                      <a:chOff x="0" y="0"/>
                      <a:chExt cx="358" cy="241"/>
                    </a:xfrm>
                  </p:grpSpPr>
                  <p:grpSp>
                    <p:nvGrpSpPr>
                      <p:cNvPr id="7183" name="组合 7182"/>
                      <p:cNvGrpSpPr/>
                      <p:nvPr/>
                    </p:nvGrpSpPr>
                    <p:grpSpPr>
                      <a:xfrm>
                        <a:off x="0" y="163"/>
                        <a:ext cx="126" cy="78"/>
                        <a:chOff x="0" y="0"/>
                        <a:chExt cx="126" cy="78"/>
                      </a:xfrm>
                    </p:grpSpPr>
                    <p:sp>
                      <p:nvSpPr>
                        <p:cNvPr id="7184" name="Freeform 130"/>
                        <p:cNvSpPr/>
                        <p:nvPr/>
                      </p:nvSpPr>
                      <p:spPr>
                        <a:xfrm>
                          <a:off x="7" y="0"/>
                          <a:ext cx="119" cy="78"/>
                        </a:xfrm>
                        <a:custGeom>
                          <a:avLst/>
                          <a:gdLst>
                            <a:gd name="txL" fmla="*/ 0 w 357"/>
                            <a:gd name="txT" fmla="*/ 0 h 233"/>
                            <a:gd name="txR" fmla="*/ 357 w 357"/>
                            <a:gd name="txB" fmla="*/ 233 h 233"/>
                          </a:gdLst>
                          <a:ahLst/>
                          <a:cxnLst>
                            <a:cxn ang="0">
                              <a:pos x="0" y="2"/>
                            </a:cxn>
                            <a:cxn ang="0">
                              <a:pos x="4" y="0"/>
                            </a:cxn>
                            <a:cxn ang="0">
                              <a:pos x="6" y="0"/>
                            </a:cxn>
                            <a:cxn ang="0">
                              <a:pos x="9" y="1"/>
                            </a:cxn>
                            <a:cxn ang="0">
                              <a:pos x="12" y="3"/>
                            </a:cxn>
                            <a:cxn ang="0">
                              <a:pos x="13" y="4"/>
                            </a:cxn>
                            <a:cxn ang="0">
                              <a:pos x="13" y="5"/>
                            </a:cxn>
                            <a:cxn ang="0">
                              <a:pos x="12" y="5"/>
                            </a:cxn>
                            <a:cxn ang="0">
                              <a:pos x="10" y="4"/>
                            </a:cxn>
                            <a:cxn ang="0">
                              <a:pos x="8" y="3"/>
                            </a:cxn>
                            <a:cxn ang="0">
                              <a:pos x="10" y="4"/>
                            </a:cxn>
                            <a:cxn ang="0">
                              <a:pos x="11" y="5"/>
                            </a:cxn>
                            <a:cxn ang="0">
                              <a:pos x="11" y="6"/>
                            </a:cxn>
                            <a:cxn ang="0">
                              <a:pos x="9" y="6"/>
                            </a:cxn>
                            <a:cxn ang="0">
                              <a:pos x="9" y="6"/>
                            </a:cxn>
                            <a:cxn ang="0">
                              <a:pos x="8" y="5"/>
                            </a:cxn>
                            <a:cxn ang="0">
                              <a:pos x="8" y="4"/>
                            </a:cxn>
                            <a:cxn ang="0">
                              <a:pos x="6" y="3"/>
                            </a:cxn>
                            <a:cxn ang="0">
                              <a:pos x="7" y="5"/>
                            </a:cxn>
                            <a:cxn ang="0">
                              <a:pos x="7" y="6"/>
                            </a:cxn>
                            <a:cxn ang="0">
                              <a:pos x="7" y="6"/>
                            </a:cxn>
                            <a:cxn ang="0">
                              <a:pos x="7" y="7"/>
                            </a:cxn>
                            <a:cxn ang="0">
                              <a:pos x="6" y="7"/>
                            </a:cxn>
                            <a:cxn ang="0">
                              <a:pos x="5" y="6"/>
                            </a:cxn>
                            <a:cxn ang="0">
                              <a:pos x="3" y="5"/>
                            </a:cxn>
                            <a:cxn ang="0">
                              <a:pos x="3" y="6"/>
                            </a:cxn>
                            <a:cxn ang="0">
                              <a:pos x="4" y="7"/>
                            </a:cxn>
                            <a:cxn ang="0">
                              <a:pos x="4" y="7"/>
                            </a:cxn>
                            <a:cxn ang="0">
                              <a:pos x="3" y="7"/>
                            </a:cxn>
                            <a:cxn ang="0">
                              <a:pos x="2" y="6"/>
                            </a:cxn>
                            <a:cxn ang="0">
                              <a:pos x="2" y="7"/>
                            </a:cxn>
                            <a:cxn ang="0">
                              <a:pos x="2" y="8"/>
                            </a:cxn>
                            <a:cxn ang="0">
                              <a:pos x="1" y="9"/>
                            </a:cxn>
                            <a:cxn ang="0">
                              <a:pos x="0" y="8"/>
                            </a:cxn>
                            <a:cxn ang="0">
                              <a:pos x="0" y="7"/>
                            </a:cxn>
                            <a:cxn ang="0">
                              <a:pos x="0" y="6"/>
                            </a:cxn>
                            <a:cxn ang="0">
                              <a:pos x="0" y="2"/>
                            </a:cxn>
                          </a:cxnLst>
                          <a:rect l="txL" t="txT" r="txR" b="txB"/>
                          <a:pathLst>
                            <a:path w="357" h="233">
                              <a:moveTo>
                                <a:pt x="0" y="67"/>
                              </a:moveTo>
                              <a:lnTo>
                                <a:pt x="104" y="7"/>
                              </a:lnTo>
                              <a:lnTo>
                                <a:pt x="169" y="0"/>
                              </a:lnTo>
                              <a:lnTo>
                                <a:pt x="256" y="27"/>
                              </a:lnTo>
                              <a:lnTo>
                                <a:pt x="317" y="73"/>
                              </a:lnTo>
                              <a:lnTo>
                                <a:pt x="357" y="106"/>
                              </a:lnTo>
                              <a:lnTo>
                                <a:pt x="357" y="133"/>
                              </a:lnTo>
                              <a:lnTo>
                                <a:pt x="329" y="146"/>
                              </a:lnTo>
                              <a:lnTo>
                                <a:pt x="283" y="113"/>
                              </a:lnTo>
                              <a:lnTo>
                                <a:pt x="215" y="79"/>
                              </a:lnTo>
                              <a:lnTo>
                                <a:pt x="276" y="119"/>
                              </a:lnTo>
                              <a:lnTo>
                                <a:pt x="290" y="146"/>
                              </a:lnTo>
                              <a:lnTo>
                                <a:pt x="290" y="167"/>
                              </a:lnTo>
                              <a:lnTo>
                                <a:pt x="249" y="167"/>
                              </a:lnTo>
                              <a:lnTo>
                                <a:pt x="230" y="167"/>
                              </a:lnTo>
                              <a:lnTo>
                                <a:pt x="215" y="140"/>
                              </a:lnTo>
                              <a:lnTo>
                                <a:pt x="203" y="106"/>
                              </a:lnTo>
                              <a:lnTo>
                                <a:pt x="157" y="79"/>
                              </a:lnTo>
                              <a:lnTo>
                                <a:pt x="177" y="126"/>
                              </a:lnTo>
                              <a:lnTo>
                                <a:pt x="189" y="153"/>
                              </a:lnTo>
                              <a:lnTo>
                                <a:pt x="189" y="167"/>
                              </a:lnTo>
                              <a:lnTo>
                                <a:pt x="177" y="186"/>
                              </a:lnTo>
                              <a:lnTo>
                                <a:pt x="157" y="186"/>
                              </a:lnTo>
                              <a:lnTo>
                                <a:pt x="130" y="167"/>
                              </a:lnTo>
                              <a:lnTo>
                                <a:pt x="89" y="133"/>
                              </a:lnTo>
                              <a:lnTo>
                                <a:pt x="89" y="153"/>
                              </a:lnTo>
                              <a:lnTo>
                                <a:pt x="96" y="180"/>
                              </a:lnTo>
                              <a:lnTo>
                                <a:pt x="96" y="186"/>
                              </a:lnTo>
                              <a:lnTo>
                                <a:pt x="76" y="180"/>
                              </a:lnTo>
                              <a:lnTo>
                                <a:pt x="55" y="167"/>
                              </a:lnTo>
                              <a:lnTo>
                                <a:pt x="55" y="194"/>
                              </a:lnTo>
                              <a:lnTo>
                                <a:pt x="50" y="220"/>
                              </a:lnTo>
                              <a:lnTo>
                                <a:pt x="15" y="233"/>
                              </a:lnTo>
                              <a:lnTo>
                                <a:pt x="0" y="227"/>
                              </a:lnTo>
                              <a:lnTo>
                                <a:pt x="0" y="194"/>
                              </a:lnTo>
                              <a:lnTo>
                                <a:pt x="0" y="153"/>
                              </a:lnTo>
                              <a:lnTo>
                                <a:pt x="0" y="67"/>
                              </a:lnTo>
                              <a:close/>
                            </a:path>
                          </a:pathLst>
                        </a:custGeom>
                        <a:solidFill>
                          <a:srgbClr val="B07000"/>
                        </a:solidFill>
                        <a:ln w="4763" cap="flat" cmpd="sng">
                          <a:solidFill>
                            <a:srgbClr val="000000"/>
                          </a:solidFill>
                          <a:prstDash val="solid"/>
                          <a:miter/>
                          <a:headEnd type="none" w="med" len="med"/>
                          <a:tailEnd type="none" w="med" len="med"/>
                        </a:ln>
                      </p:spPr>
                      <p:txBody>
                        <a:bodyPr/>
                        <a:p>
                          <a:endParaRPr lang="zh-CN" altLang="en-US" dirty="0">
                            <a:latin typeface="Frutiger 45 Light" pitchFamily="2" charset="0"/>
                          </a:endParaRPr>
                        </a:p>
                      </p:txBody>
                    </p:sp>
                    <p:sp>
                      <p:nvSpPr>
                        <p:cNvPr id="7185" name="Freeform 131"/>
                        <p:cNvSpPr/>
                        <p:nvPr/>
                      </p:nvSpPr>
                      <p:spPr>
                        <a:xfrm>
                          <a:off x="0" y="0"/>
                          <a:ext cx="119" cy="78"/>
                        </a:xfrm>
                        <a:custGeom>
                          <a:avLst/>
                          <a:gdLst>
                            <a:gd name="txL" fmla="*/ 0 w 356"/>
                            <a:gd name="txT" fmla="*/ 0 h 233"/>
                            <a:gd name="txR" fmla="*/ 356 w 356"/>
                            <a:gd name="txB" fmla="*/ 233 h 233"/>
                          </a:gdLst>
                          <a:ahLst/>
                          <a:cxnLst>
                            <a:cxn ang="0">
                              <a:pos x="0" y="2"/>
                            </a:cxn>
                            <a:cxn ang="0">
                              <a:pos x="4" y="0"/>
                            </a:cxn>
                            <a:cxn ang="0">
                              <a:pos x="6" y="0"/>
                            </a:cxn>
                            <a:cxn ang="0">
                              <a:pos x="9" y="1"/>
                            </a:cxn>
                            <a:cxn ang="0">
                              <a:pos x="12" y="3"/>
                            </a:cxn>
                            <a:cxn ang="0">
                              <a:pos x="13" y="4"/>
                            </a:cxn>
                            <a:cxn ang="0">
                              <a:pos x="13" y="5"/>
                            </a:cxn>
                            <a:cxn ang="0">
                              <a:pos x="12" y="5"/>
                            </a:cxn>
                            <a:cxn ang="0">
                              <a:pos x="11" y="4"/>
                            </a:cxn>
                            <a:cxn ang="0">
                              <a:pos x="8" y="3"/>
                            </a:cxn>
                            <a:cxn ang="0">
                              <a:pos x="10" y="4"/>
                            </a:cxn>
                            <a:cxn ang="0">
                              <a:pos x="11" y="5"/>
                            </a:cxn>
                            <a:cxn ang="0">
                              <a:pos x="11" y="6"/>
                            </a:cxn>
                            <a:cxn ang="0">
                              <a:pos x="9" y="6"/>
                            </a:cxn>
                            <a:cxn ang="0">
                              <a:pos x="9" y="6"/>
                            </a:cxn>
                            <a:cxn ang="0">
                              <a:pos x="8" y="5"/>
                            </a:cxn>
                            <a:cxn ang="0">
                              <a:pos x="8" y="4"/>
                            </a:cxn>
                            <a:cxn ang="0">
                              <a:pos x="6" y="3"/>
                            </a:cxn>
                            <a:cxn ang="0">
                              <a:pos x="7" y="5"/>
                            </a:cxn>
                            <a:cxn ang="0">
                              <a:pos x="7" y="6"/>
                            </a:cxn>
                            <a:cxn ang="0">
                              <a:pos x="7" y="6"/>
                            </a:cxn>
                            <a:cxn ang="0">
                              <a:pos x="7" y="7"/>
                            </a:cxn>
                            <a:cxn ang="0">
                              <a:pos x="6" y="7"/>
                            </a:cxn>
                            <a:cxn ang="0">
                              <a:pos x="5" y="6"/>
                            </a:cxn>
                            <a:cxn ang="0">
                              <a:pos x="3" y="5"/>
                            </a:cxn>
                            <a:cxn ang="0">
                              <a:pos x="3" y="6"/>
                            </a:cxn>
                            <a:cxn ang="0">
                              <a:pos x="4" y="7"/>
                            </a:cxn>
                            <a:cxn ang="0">
                              <a:pos x="4" y="7"/>
                            </a:cxn>
                            <a:cxn ang="0">
                              <a:pos x="3" y="7"/>
                            </a:cxn>
                            <a:cxn ang="0">
                              <a:pos x="2" y="6"/>
                            </a:cxn>
                            <a:cxn ang="0">
                              <a:pos x="2" y="7"/>
                            </a:cxn>
                            <a:cxn ang="0">
                              <a:pos x="2" y="8"/>
                            </a:cxn>
                            <a:cxn ang="0">
                              <a:pos x="1" y="9"/>
                            </a:cxn>
                            <a:cxn ang="0">
                              <a:pos x="0" y="8"/>
                            </a:cxn>
                            <a:cxn ang="0">
                              <a:pos x="0" y="7"/>
                            </a:cxn>
                            <a:cxn ang="0">
                              <a:pos x="0" y="6"/>
                            </a:cxn>
                            <a:cxn ang="0">
                              <a:pos x="0" y="2"/>
                            </a:cxn>
                          </a:cxnLst>
                          <a:rect l="txL" t="txT" r="txR" b="txB"/>
                          <a:pathLst>
                            <a:path w="356" h="233">
                              <a:moveTo>
                                <a:pt x="0" y="67"/>
                              </a:moveTo>
                              <a:lnTo>
                                <a:pt x="102" y="7"/>
                              </a:lnTo>
                              <a:lnTo>
                                <a:pt x="169" y="0"/>
                              </a:lnTo>
                              <a:lnTo>
                                <a:pt x="255" y="27"/>
                              </a:lnTo>
                              <a:lnTo>
                                <a:pt x="314" y="73"/>
                              </a:lnTo>
                              <a:lnTo>
                                <a:pt x="356" y="106"/>
                              </a:lnTo>
                              <a:lnTo>
                                <a:pt x="356" y="133"/>
                              </a:lnTo>
                              <a:lnTo>
                                <a:pt x="329" y="146"/>
                              </a:lnTo>
                              <a:lnTo>
                                <a:pt x="283" y="113"/>
                              </a:lnTo>
                              <a:lnTo>
                                <a:pt x="216" y="79"/>
                              </a:lnTo>
                              <a:lnTo>
                                <a:pt x="275" y="119"/>
                              </a:lnTo>
                              <a:lnTo>
                                <a:pt x="288" y="146"/>
                              </a:lnTo>
                              <a:lnTo>
                                <a:pt x="288" y="167"/>
                              </a:lnTo>
                              <a:lnTo>
                                <a:pt x="249" y="167"/>
                              </a:lnTo>
                              <a:lnTo>
                                <a:pt x="230" y="167"/>
                              </a:lnTo>
                              <a:lnTo>
                                <a:pt x="216" y="140"/>
                              </a:lnTo>
                              <a:lnTo>
                                <a:pt x="203" y="106"/>
                              </a:lnTo>
                              <a:lnTo>
                                <a:pt x="154" y="79"/>
                              </a:lnTo>
                              <a:lnTo>
                                <a:pt x="176" y="126"/>
                              </a:lnTo>
                              <a:lnTo>
                                <a:pt x="188" y="153"/>
                              </a:lnTo>
                              <a:lnTo>
                                <a:pt x="188" y="167"/>
                              </a:lnTo>
                              <a:lnTo>
                                <a:pt x="176" y="186"/>
                              </a:lnTo>
                              <a:lnTo>
                                <a:pt x="154" y="186"/>
                              </a:lnTo>
                              <a:lnTo>
                                <a:pt x="128" y="167"/>
                              </a:lnTo>
                              <a:lnTo>
                                <a:pt x="89" y="133"/>
                              </a:lnTo>
                              <a:lnTo>
                                <a:pt x="89" y="153"/>
                              </a:lnTo>
                              <a:lnTo>
                                <a:pt x="95" y="180"/>
                              </a:lnTo>
                              <a:lnTo>
                                <a:pt x="95" y="186"/>
                              </a:lnTo>
                              <a:lnTo>
                                <a:pt x="74" y="180"/>
                              </a:lnTo>
                              <a:lnTo>
                                <a:pt x="55" y="167"/>
                              </a:lnTo>
                              <a:lnTo>
                                <a:pt x="55" y="194"/>
                              </a:lnTo>
                              <a:lnTo>
                                <a:pt x="48" y="220"/>
                              </a:lnTo>
                              <a:lnTo>
                                <a:pt x="14" y="233"/>
                              </a:lnTo>
                              <a:lnTo>
                                <a:pt x="0" y="227"/>
                              </a:lnTo>
                              <a:lnTo>
                                <a:pt x="0" y="194"/>
                              </a:lnTo>
                              <a:lnTo>
                                <a:pt x="0" y="153"/>
                              </a:lnTo>
                              <a:lnTo>
                                <a:pt x="0" y="67"/>
                              </a:lnTo>
                              <a:close/>
                            </a:path>
                          </a:pathLst>
                        </a:custGeom>
                        <a:solidFill>
                          <a:srgbClr val="C08040"/>
                        </a:solidFill>
                        <a:ln w="4763" cap="flat" cmpd="sng">
                          <a:solidFill>
                            <a:srgbClr val="000000"/>
                          </a:solidFill>
                          <a:prstDash val="solid"/>
                          <a:miter/>
                          <a:headEnd type="none" w="med" len="med"/>
                          <a:tailEnd type="none" w="med" len="med"/>
                        </a:ln>
                      </p:spPr>
                      <p:txBody>
                        <a:bodyPr/>
                        <a:p>
                          <a:endParaRPr lang="zh-CN" altLang="en-US" dirty="0">
                            <a:latin typeface="Frutiger 45 Light" pitchFamily="2" charset="0"/>
                          </a:endParaRPr>
                        </a:p>
                      </p:txBody>
                    </p:sp>
                  </p:grpSp>
                  <p:sp>
                    <p:nvSpPr>
                      <p:cNvPr id="7186" name="Freeform 132"/>
                      <p:cNvSpPr/>
                      <p:nvPr/>
                    </p:nvSpPr>
                    <p:spPr>
                      <a:xfrm>
                        <a:off x="193" y="0"/>
                        <a:ext cx="165" cy="125"/>
                      </a:xfrm>
                      <a:custGeom>
                        <a:avLst/>
                        <a:gdLst>
                          <a:gd name="txL" fmla="*/ 0 w 496"/>
                          <a:gd name="txT" fmla="*/ 0 h 375"/>
                          <a:gd name="txR" fmla="*/ 496 w 496"/>
                          <a:gd name="txB" fmla="*/ 375 h 375"/>
                        </a:gdLst>
                        <a:ahLst/>
                        <a:cxnLst>
                          <a:cxn ang="0">
                            <a:pos x="0" y="4"/>
                          </a:cxn>
                          <a:cxn ang="0">
                            <a:pos x="4" y="8"/>
                          </a:cxn>
                          <a:cxn ang="0">
                            <a:pos x="4" y="10"/>
                          </a:cxn>
                          <a:cxn ang="0">
                            <a:pos x="4" y="14"/>
                          </a:cxn>
                          <a:cxn ang="0">
                            <a:pos x="5" y="14"/>
                          </a:cxn>
                          <a:cxn ang="0">
                            <a:pos x="6" y="13"/>
                          </a:cxn>
                          <a:cxn ang="0">
                            <a:pos x="7" y="11"/>
                          </a:cxn>
                          <a:cxn ang="0">
                            <a:pos x="7" y="8"/>
                          </a:cxn>
                          <a:cxn ang="0">
                            <a:pos x="7" y="9"/>
                          </a:cxn>
                          <a:cxn ang="0">
                            <a:pos x="7" y="10"/>
                          </a:cxn>
                          <a:cxn ang="0">
                            <a:pos x="7" y="11"/>
                          </a:cxn>
                          <a:cxn ang="0">
                            <a:pos x="8" y="11"/>
                          </a:cxn>
                          <a:cxn ang="0">
                            <a:pos x="9" y="10"/>
                          </a:cxn>
                          <a:cxn ang="0">
                            <a:pos x="9" y="9"/>
                          </a:cxn>
                          <a:cxn ang="0">
                            <a:pos x="10" y="7"/>
                          </a:cxn>
                          <a:cxn ang="0">
                            <a:pos x="10" y="9"/>
                          </a:cxn>
                          <a:cxn ang="0">
                            <a:pos x="11" y="10"/>
                          </a:cxn>
                          <a:cxn ang="0">
                            <a:pos x="12" y="9"/>
                          </a:cxn>
                          <a:cxn ang="0">
                            <a:pos x="13" y="8"/>
                          </a:cxn>
                          <a:cxn ang="0">
                            <a:pos x="13" y="9"/>
                          </a:cxn>
                          <a:cxn ang="0">
                            <a:pos x="14" y="8"/>
                          </a:cxn>
                          <a:cxn ang="0">
                            <a:pos x="15" y="7"/>
                          </a:cxn>
                          <a:cxn ang="0">
                            <a:pos x="14" y="9"/>
                          </a:cxn>
                          <a:cxn ang="0">
                            <a:pos x="14" y="10"/>
                          </a:cxn>
                          <a:cxn ang="0">
                            <a:pos x="15" y="11"/>
                          </a:cxn>
                          <a:cxn ang="0">
                            <a:pos x="15" y="12"/>
                          </a:cxn>
                          <a:cxn ang="0">
                            <a:pos x="17" y="12"/>
                          </a:cxn>
                          <a:cxn ang="0">
                            <a:pos x="18" y="9"/>
                          </a:cxn>
                          <a:cxn ang="0">
                            <a:pos x="18" y="7"/>
                          </a:cxn>
                          <a:cxn ang="0">
                            <a:pos x="18" y="4"/>
                          </a:cxn>
                          <a:cxn ang="0">
                            <a:pos x="16" y="2"/>
                          </a:cxn>
                          <a:cxn ang="0">
                            <a:pos x="15" y="0"/>
                          </a:cxn>
                          <a:cxn ang="0">
                            <a:pos x="14" y="2"/>
                          </a:cxn>
                          <a:cxn ang="0">
                            <a:pos x="12" y="1"/>
                          </a:cxn>
                          <a:cxn ang="0">
                            <a:pos x="12" y="0"/>
                          </a:cxn>
                          <a:cxn ang="0">
                            <a:pos x="11" y="1"/>
                          </a:cxn>
                          <a:cxn ang="0">
                            <a:pos x="10" y="0"/>
                          </a:cxn>
                          <a:cxn ang="0">
                            <a:pos x="10" y="2"/>
                          </a:cxn>
                          <a:cxn ang="0">
                            <a:pos x="9" y="1"/>
                          </a:cxn>
                          <a:cxn ang="0">
                            <a:pos x="8" y="1"/>
                          </a:cxn>
                          <a:cxn ang="0">
                            <a:pos x="7" y="0"/>
                          </a:cxn>
                          <a:cxn ang="0">
                            <a:pos x="6" y="1"/>
                          </a:cxn>
                          <a:cxn ang="0">
                            <a:pos x="5" y="0"/>
                          </a:cxn>
                          <a:cxn ang="0">
                            <a:pos x="4" y="0"/>
                          </a:cxn>
                          <a:cxn ang="0">
                            <a:pos x="4" y="0"/>
                          </a:cxn>
                          <a:cxn ang="0">
                            <a:pos x="3" y="2"/>
                          </a:cxn>
                          <a:cxn ang="0">
                            <a:pos x="4" y="2"/>
                          </a:cxn>
                          <a:cxn ang="0">
                            <a:pos x="3" y="2"/>
                          </a:cxn>
                          <a:cxn ang="0">
                            <a:pos x="0" y="2"/>
                          </a:cxn>
                          <a:cxn ang="0">
                            <a:pos x="0" y="4"/>
                          </a:cxn>
                        </a:cxnLst>
                        <a:rect l="txL" t="txT" r="txR" b="txB"/>
                        <a:pathLst>
                          <a:path w="496" h="375">
                            <a:moveTo>
                              <a:pt x="0" y="118"/>
                            </a:moveTo>
                            <a:lnTo>
                              <a:pt x="96" y="214"/>
                            </a:lnTo>
                            <a:lnTo>
                              <a:pt x="102" y="276"/>
                            </a:lnTo>
                            <a:lnTo>
                              <a:pt x="110" y="375"/>
                            </a:lnTo>
                            <a:lnTo>
                              <a:pt x="137" y="375"/>
                            </a:lnTo>
                            <a:lnTo>
                              <a:pt x="165" y="345"/>
                            </a:lnTo>
                            <a:lnTo>
                              <a:pt x="177" y="290"/>
                            </a:lnTo>
                            <a:lnTo>
                              <a:pt x="177" y="207"/>
                            </a:lnTo>
                            <a:lnTo>
                              <a:pt x="184" y="254"/>
                            </a:lnTo>
                            <a:lnTo>
                              <a:pt x="191" y="283"/>
                            </a:lnTo>
                            <a:lnTo>
                              <a:pt x="198" y="310"/>
                            </a:lnTo>
                            <a:lnTo>
                              <a:pt x="225" y="310"/>
                            </a:lnTo>
                            <a:lnTo>
                              <a:pt x="252" y="283"/>
                            </a:lnTo>
                            <a:lnTo>
                              <a:pt x="252" y="249"/>
                            </a:lnTo>
                            <a:lnTo>
                              <a:pt x="273" y="199"/>
                            </a:lnTo>
                            <a:lnTo>
                              <a:pt x="279" y="235"/>
                            </a:lnTo>
                            <a:lnTo>
                              <a:pt x="294" y="270"/>
                            </a:lnTo>
                            <a:lnTo>
                              <a:pt x="328" y="254"/>
                            </a:lnTo>
                            <a:lnTo>
                              <a:pt x="340" y="227"/>
                            </a:lnTo>
                            <a:lnTo>
                              <a:pt x="340" y="249"/>
                            </a:lnTo>
                            <a:lnTo>
                              <a:pt x="383" y="227"/>
                            </a:lnTo>
                            <a:lnTo>
                              <a:pt x="403" y="179"/>
                            </a:lnTo>
                            <a:lnTo>
                              <a:pt x="388" y="254"/>
                            </a:lnTo>
                            <a:lnTo>
                              <a:pt x="383" y="283"/>
                            </a:lnTo>
                            <a:lnTo>
                              <a:pt x="409" y="290"/>
                            </a:lnTo>
                            <a:lnTo>
                              <a:pt x="413" y="325"/>
                            </a:lnTo>
                            <a:lnTo>
                              <a:pt x="456" y="318"/>
                            </a:lnTo>
                            <a:lnTo>
                              <a:pt x="483" y="254"/>
                            </a:lnTo>
                            <a:lnTo>
                              <a:pt x="496" y="179"/>
                            </a:lnTo>
                            <a:lnTo>
                              <a:pt x="483" y="112"/>
                            </a:lnTo>
                            <a:lnTo>
                              <a:pt x="441" y="56"/>
                            </a:lnTo>
                            <a:lnTo>
                              <a:pt x="395" y="12"/>
                            </a:lnTo>
                            <a:lnTo>
                              <a:pt x="367" y="48"/>
                            </a:lnTo>
                            <a:lnTo>
                              <a:pt x="333" y="21"/>
                            </a:lnTo>
                            <a:lnTo>
                              <a:pt x="314" y="6"/>
                            </a:lnTo>
                            <a:lnTo>
                              <a:pt x="301" y="21"/>
                            </a:lnTo>
                            <a:lnTo>
                              <a:pt x="266" y="12"/>
                            </a:lnTo>
                            <a:lnTo>
                              <a:pt x="259" y="48"/>
                            </a:lnTo>
                            <a:lnTo>
                              <a:pt x="246" y="28"/>
                            </a:lnTo>
                            <a:lnTo>
                              <a:pt x="212" y="21"/>
                            </a:lnTo>
                            <a:lnTo>
                              <a:pt x="177" y="0"/>
                            </a:lnTo>
                            <a:lnTo>
                              <a:pt x="165" y="28"/>
                            </a:lnTo>
                            <a:lnTo>
                              <a:pt x="144" y="12"/>
                            </a:lnTo>
                            <a:lnTo>
                              <a:pt x="115" y="6"/>
                            </a:lnTo>
                            <a:lnTo>
                              <a:pt x="96" y="12"/>
                            </a:lnTo>
                            <a:lnTo>
                              <a:pt x="89" y="56"/>
                            </a:lnTo>
                            <a:lnTo>
                              <a:pt x="96" y="62"/>
                            </a:lnTo>
                            <a:lnTo>
                              <a:pt x="76" y="62"/>
                            </a:lnTo>
                            <a:lnTo>
                              <a:pt x="6" y="56"/>
                            </a:lnTo>
                            <a:lnTo>
                              <a:pt x="0" y="118"/>
                            </a:lnTo>
                            <a:close/>
                          </a:path>
                        </a:pathLst>
                      </a:custGeom>
                      <a:solidFill>
                        <a:srgbClr val="C08040"/>
                      </a:solidFill>
                      <a:ln w="4763" cap="flat" cmpd="sng">
                        <a:solidFill>
                          <a:srgbClr val="000000"/>
                        </a:solidFill>
                        <a:prstDash val="solid"/>
                        <a:miter/>
                        <a:headEnd type="none" w="med" len="med"/>
                        <a:tailEnd type="none" w="med" len="med"/>
                      </a:ln>
                    </p:spPr>
                    <p:txBody>
                      <a:bodyPr/>
                      <a:p>
                        <a:endParaRPr lang="zh-CN" altLang="en-US" dirty="0">
                          <a:latin typeface="Frutiger 45 Light" pitchFamily="2" charset="0"/>
                        </a:endParaRPr>
                      </a:p>
                    </p:txBody>
                  </p:sp>
                </p:grpSp>
                <p:grpSp>
                  <p:nvGrpSpPr>
                    <p:cNvPr id="7187" name="组合 7186"/>
                    <p:cNvGrpSpPr/>
                    <p:nvPr/>
                  </p:nvGrpSpPr>
                  <p:grpSpPr>
                    <a:xfrm>
                      <a:off x="49" y="0"/>
                      <a:ext cx="202" cy="49"/>
                      <a:chOff x="0" y="0"/>
                      <a:chExt cx="202" cy="49"/>
                    </a:xfrm>
                  </p:grpSpPr>
                  <p:sp>
                    <p:nvSpPr>
                      <p:cNvPr id="7188" name="Freeform 134"/>
                      <p:cNvSpPr/>
                      <p:nvPr/>
                    </p:nvSpPr>
                    <p:spPr>
                      <a:xfrm>
                        <a:off x="0" y="8"/>
                        <a:ext cx="184" cy="36"/>
                      </a:xfrm>
                      <a:custGeom>
                        <a:avLst/>
                        <a:gdLst>
                          <a:gd name="txL" fmla="*/ 0 w 552"/>
                          <a:gd name="txT" fmla="*/ 0 h 108"/>
                          <a:gd name="txR" fmla="*/ 552 w 552"/>
                          <a:gd name="txB" fmla="*/ 108 h 108"/>
                        </a:gdLst>
                        <a:ahLst/>
                        <a:cxnLst>
                          <a:cxn ang="0">
                            <a:pos x="0" y="0"/>
                          </a:cxn>
                          <a:cxn ang="0">
                            <a:pos x="3" y="0"/>
                          </a:cxn>
                          <a:cxn ang="0">
                            <a:pos x="5" y="1"/>
                          </a:cxn>
                          <a:cxn ang="0">
                            <a:pos x="7" y="1"/>
                          </a:cxn>
                          <a:cxn ang="0">
                            <a:pos x="10" y="3"/>
                          </a:cxn>
                          <a:cxn ang="0">
                            <a:pos x="13" y="3"/>
                          </a:cxn>
                          <a:cxn ang="0">
                            <a:pos x="15" y="3"/>
                          </a:cxn>
                          <a:cxn ang="0">
                            <a:pos x="17" y="3"/>
                          </a:cxn>
                          <a:cxn ang="0">
                            <a:pos x="19" y="3"/>
                          </a:cxn>
                          <a:cxn ang="0">
                            <a:pos x="20" y="4"/>
                          </a:cxn>
                        </a:cxnLst>
                        <a:rect l="txL" t="txT" r="txR" b="txB"/>
                        <a:pathLst>
                          <a:path w="552" h="108">
                            <a:moveTo>
                              <a:pt x="0" y="5"/>
                            </a:moveTo>
                            <a:lnTo>
                              <a:pt x="70" y="0"/>
                            </a:lnTo>
                            <a:lnTo>
                              <a:pt x="142" y="18"/>
                            </a:lnTo>
                            <a:lnTo>
                              <a:pt x="196" y="38"/>
                            </a:lnTo>
                            <a:lnTo>
                              <a:pt x="274" y="72"/>
                            </a:lnTo>
                            <a:lnTo>
                              <a:pt x="340" y="88"/>
                            </a:lnTo>
                            <a:lnTo>
                              <a:pt x="401" y="79"/>
                            </a:lnTo>
                            <a:lnTo>
                              <a:pt x="465" y="88"/>
                            </a:lnTo>
                            <a:lnTo>
                              <a:pt x="515" y="91"/>
                            </a:lnTo>
                            <a:lnTo>
                              <a:pt x="552" y="108"/>
                            </a:lnTo>
                          </a:path>
                        </a:pathLst>
                      </a:custGeom>
                      <a:noFill/>
                      <a:ln w="4763" cap="flat" cmpd="sng">
                        <a:solidFill>
                          <a:srgbClr val="C08040"/>
                        </a:solidFill>
                        <a:prstDash val="solid"/>
                        <a:miter/>
                        <a:headEnd type="none" w="med" len="med"/>
                        <a:tailEnd type="none" w="med" len="med"/>
                      </a:ln>
                    </p:spPr>
                    <p:txBody>
                      <a:bodyPr/>
                      <a:p>
                        <a:endParaRPr lang="zh-CN" altLang="en-US" dirty="0">
                          <a:latin typeface="Frutiger 45 Light" pitchFamily="2" charset="0"/>
                        </a:endParaRPr>
                      </a:p>
                    </p:txBody>
                  </p:sp>
                  <p:sp>
                    <p:nvSpPr>
                      <p:cNvPr id="7189" name="Freeform 135"/>
                      <p:cNvSpPr/>
                      <p:nvPr/>
                    </p:nvSpPr>
                    <p:spPr>
                      <a:xfrm>
                        <a:off x="38" y="0"/>
                        <a:ext cx="164" cy="49"/>
                      </a:xfrm>
                      <a:custGeom>
                        <a:avLst/>
                        <a:gdLst>
                          <a:gd name="txL" fmla="*/ 0 w 491"/>
                          <a:gd name="txT" fmla="*/ 0 h 148"/>
                          <a:gd name="txR" fmla="*/ 491 w 491"/>
                          <a:gd name="txB" fmla="*/ 148 h 148"/>
                        </a:gdLst>
                        <a:ahLst/>
                        <a:cxnLst>
                          <a:cxn ang="0">
                            <a:pos x="0" y="0"/>
                          </a:cxn>
                          <a:cxn ang="0">
                            <a:pos x="1" y="1"/>
                          </a:cxn>
                          <a:cxn ang="0">
                            <a:pos x="4" y="2"/>
                          </a:cxn>
                          <a:cxn ang="0">
                            <a:pos x="5" y="2"/>
                          </a:cxn>
                          <a:cxn ang="0">
                            <a:pos x="7" y="2"/>
                          </a:cxn>
                          <a:cxn ang="0">
                            <a:pos x="9" y="2"/>
                          </a:cxn>
                          <a:cxn ang="0">
                            <a:pos x="12" y="2"/>
                          </a:cxn>
                          <a:cxn ang="0">
                            <a:pos x="14" y="3"/>
                          </a:cxn>
                          <a:cxn ang="0">
                            <a:pos x="16" y="3"/>
                          </a:cxn>
                          <a:cxn ang="0">
                            <a:pos x="18" y="4"/>
                          </a:cxn>
                          <a:cxn ang="0">
                            <a:pos x="18" y="5"/>
                          </a:cxn>
                        </a:cxnLst>
                        <a:rect l="txL" t="txT" r="txR" b="txB"/>
                        <a:pathLst>
                          <a:path w="491" h="148">
                            <a:moveTo>
                              <a:pt x="0" y="0"/>
                            </a:moveTo>
                            <a:lnTo>
                              <a:pt x="37" y="24"/>
                            </a:lnTo>
                            <a:lnTo>
                              <a:pt x="98" y="44"/>
                            </a:lnTo>
                            <a:lnTo>
                              <a:pt x="141" y="57"/>
                            </a:lnTo>
                            <a:lnTo>
                              <a:pt x="191" y="64"/>
                            </a:lnTo>
                            <a:lnTo>
                              <a:pt x="240" y="52"/>
                            </a:lnTo>
                            <a:lnTo>
                              <a:pt x="320" y="64"/>
                            </a:lnTo>
                            <a:lnTo>
                              <a:pt x="373" y="75"/>
                            </a:lnTo>
                            <a:lnTo>
                              <a:pt x="422" y="80"/>
                            </a:lnTo>
                            <a:lnTo>
                              <a:pt x="475" y="105"/>
                            </a:lnTo>
                            <a:lnTo>
                              <a:pt x="491" y="148"/>
                            </a:lnTo>
                          </a:path>
                        </a:pathLst>
                      </a:custGeom>
                      <a:noFill/>
                      <a:ln w="4763" cap="flat" cmpd="sng">
                        <a:solidFill>
                          <a:srgbClr val="C08040"/>
                        </a:solidFill>
                        <a:prstDash val="solid"/>
                        <a:miter/>
                        <a:headEnd type="none" w="med" len="med"/>
                        <a:tailEnd type="none" w="med" len="med"/>
                      </a:ln>
                    </p:spPr>
                    <p:txBody>
                      <a:bodyPr/>
                      <a:p>
                        <a:endParaRPr lang="zh-CN" altLang="en-US" dirty="0">
                          <a:latin typeface="Frutiger 45 Light" pitchFamily="2" charset="0"/>
                        </a:endParaRPr>
                      </a:p>
                    </p:txBody>
                  </p:sp>
                </p:grpSp>
              </p:grpSp>
              <p:grpSp>
                <p:nvGrpSpPr>
                  <p:cNvPr id="7190" name="组合 7189"/>
                  <p:cNvGrpSpPr/>
                  <p:nvPr/>
                </p:nvGrpSpPr>
                <p:grpSpPr>
                  <a:xfrm>
                    <a:off x="0" y="123"/>
                    <a:ext cx="146" cy="142"/>
                    <a:chOff x="0" y="0"/>
                    <a:chExt cx="146" cy="142"/>
                  </a:xfrm>
                </p:grpSpPr>
                <p:grpSp>
                  <p:nvGrpSpPr>
                    <p:cNvPr id="7191" name="组合 7190"/>
                    <p:cNvGrpSpPr/>
                    <p:nvPr/>
                  </p:nvGrpSpPr>
                  <p:grpSpPr>
                    <a:xfrm>
                      <a:off x="0" y="0"/>
                      <a:ext cx="67" cy="69"/>
                      <a:chOff x="0" y="0"/>
                      <a:chExt cx="67" cy="69"/>
                    </a:xfrm>
                  </p:grpSpPr>
                  <p:sp>
                    <p:nvSpPr>
                      <p:cNvPr id="7192" name="Freeform 138"/>
                      <p:cNvSpPr/>
                      <p:nvPr/>
                    </p:nvSpPr>
                    <p:spPr>
                      <a:xfrm>
                        <a:off x="13" y="13"/>
                        <a:ext cx="50" cy="56"/>
                      </a:xfrm>
                      <a:custGeom>
                        <a:avLst/>
                        <a:gdLst>
                          <a:gd name="txL" fmla="*/ 0 w 150"/>
                          <a:gd name="txT" fmla="*/ 0 h 169"/>
                          <a:gd name="txR" fmla="*/ 150 w 150"/>
                          <a:gd name="txB" fmla="*/ 169 h 169"/>
                        </a:gdLst>
                        <a:ahLst/>
                        <a:cxnLst>
                          <a:cxn ang="0">
                            <a:pos x="5" y="0"/>
                          </a:cxn>
                          <a:cxn ang="0">
                            <a:pos x="1" y="3"/>
                          </a:cxn>
                          <a:cxn ang="0">
                            <a:pos x="0" y="4"/>
                          </a:cxn>
                          <a:cxn ang="0">
                            <a:pos x="0" y="5"/>
                          </a:cxn>
                          <a:cxn ang="0">
                            <a:pos x="1" y="6"/>
                          </a:cxn>
                          <a:cxn ang="0">
                            <a:pos x="2" y="6"/>
                          </a:cxn>
                          <a:cxn ang="0">
                            <a:pos x="6" y="3"/>
                          </a:cxn>
                          <a:cxn ang="0">
                            <a:pos x="5" y="0"/>
                          </a:cxn>
                        </a:cxnLst>
                        <a:rect l="txL" t="txT" r="txR" b="txB"/>
                        <a:pathLst>
                          <a:path w="150" h="169">
                            <a:moveTo>
                              <a:pt x="135" y="0"/>
                            </a:moveTo>
                            <a:lnTo>
                              <a:pt x="23" y="82"/>
                            </a:lnTo>
                            <a:lnTo>
                              <a:pt x="0" y="116"/>
                            </a:lnTo>
                            <a:lnTo>
                              <a:pt x="8" y="148"/>
                            </a:lnTo>
                            <a:lnTo>
                              <a:pt x="28" y="169"/>
                            </a:lnTo>
                            <a:lnTo>
                              <a:pt x="66" y="158"/>
                            </a:lnTo>
                            <a:lnTo>
                              <a:pt x="150" y="72"/>
                            </a:lnTo>
                            <a:lnTo>
                              <a:pt x="135" y="0"/>
                            </a:lnTo>
                            <a:close/>
                          </a:path>
                        </a:pathLst>
                      </a:custGeom>
                      <a:solidFill>
                        <a:srgbClr val="F0F0FF"/>
                      </a:solidFill>
                      <a:ln w="4763" cap="flat" cmpd="sng">
                        <a:solidFill>
                          <a:srgbClr val="000000"/>
                        </a:solidFill>
                        <a:prstDash val="solid"/>
                        <a:miter/>
                        <a:headEnd type="none" w="med" len="med"/>
                        <a:tailEnd type="none" w="med" len="med"/>
                      </a:ln>
                    </p:spPr>
                    <p:txBody>
                      <a:bodyPr/>
                      <a:p>
                        <a:endParaRPr lang="zh-CN" altLang="en-US" dirty="0">
                          <a:latin typeface="Frutiger 45 Light" pitchFamily="2" charset="0"/>
                        </a:endParaRPr>
                      </a:p>
                    </p:txBody>
                  </p:sp>
                  <p:sp>
                    <p:nvSpPr>
                      <p:cNvPr id="7193" name="Oval 139"/>
                      <p:cNvSpPr/>
                      <p:nvPr/>
                    </p:nvSpPr>
                    <p:spPr>
                      <a:xfrm>
                        <a:off x="29" y="48"/>
                        <a:ext cx="18" cy="17"/>
                      </a:xfrm>
                      <a:prstGeom prst="ellipse">
                        <a:avLst/>
                      </a:prstGeom>
                      <a:solidFill>
                        <a:srgbClr val="009080"/>
                      </a:solidFill>
                      <a:ln w="4763" cap="flat" cmpd="sng">
                        <a:solidFill>
                          <a:srgbClr val="000000"/>
                        </a:solidFill>
                        <a:prstDash val="solid"/>
                        <a:headEnd type="none" w="med" len="med"/>
                        <a:tailEnd type="none" w="med" len="med"/>
                      </a:ln>
                    </p:spPr>
                    <p:txBody>
                      <a:bodyPr/>
                      <a:p>
                        <a:pPr algn="l"/>
                        <a:endParaRPr lang="zh-CN" altLang="en-US" sz="1800" b="0" dirty="0">
                          <a:latin typeface="Arial" panose="020B0604020202020204" pitchFamily="34" charset="0"/>
                          <a:ea typeface="宋体" panose="02010600030101010101" pitchFamily="2" charset="-122"/>
                        </a:endParaRPr>
                      </a:p>
                    </p:txBody>
                  </p:sp>
                  <p:sp>
                    <p:nvSpPr>
                      <p:cNvPr id="7194" name="Freeform 140"/>
                      <p:cNvSpPr/>
                      <p:nvPr/>
                    </p:nvSpPr>
                    <p:spPr>
                      <a:xfrm>
                        <a:off x="0" y="0"/>
                        <a:ext cx="67" cy="50"/>
                      </a:xfrm>
                      <a:custGeom>
                        <a:avLst/>
                        <a:gdLst>
                          <a:gd name="txL" fmla="*/ 0 w 201"/>
                          <a:gd name="txT" fmla="*/ 0 h 152"/>
                          <a:gd name="txR" fmla="*/ 201 w 201"/>
                          <a:gd name="txB" fmla="*/ 152 h 152"/>
                        </a:gdLst>
                        <a:ahLst/>
                        <a:cxnLst>
                          <a:cxn ang="0">
                            <a:pos x="7" y="1"/>
                          </a:cxn>
                          <a:cxn ang="0">
                            <a:pos x="7" y="0"/>
                          </a:cxn>
                          <a:cxn ang="0">
                            <a:pos x="7" y="0"/>
                          </a:cxn>
                          <a:cxn ang="0">
                            <a:pos x="6" y="0"/>
                          </a:cxn>
                          <a:cxn ang="0">
                            <a:pos x="6" y="0"/>
                          </a:cxn>
                          <a:cxn ang="0">
                            <a:pos x="0" y="4"/>
                          </a:cxn>
                          <a:cxn ang="0">
                            <a:pos x="0" y="4"/>
                          </a:cxn>
                          <a:cxn ang="0">
                            <a:pos x="0" y="5"/>
                          </a:cxn>
                          <a:cxn ang="0">
                            <a:pos x="0" y="5"/>
                          </a:cxn>
                          <a:cxn ang="0">
                            <a:pos x="0" y="5"/>
                          </a:cxn>
                          <a:cxn ang="0">
                            <a:pos x="1" y="5"/>
                          </a:cxn>
                          <a:cxn ang="0">
                            <a:pos x="1" y="5"/>
                          </a:cxn>
                          <a:cxn ang="0">
                            <a:pos x="7" y="2"/>
                          </a:cxn>
                          <a:cxn ang="0">
                            <a:pos x="7" y="1"/>
                          </a:cxn>
                          <a:cxn ang="0">
                            <a:pos x="7" y="1"/>
                          </a:cxn>
                          <a:cxn ang="0">
                            <a:pos x="7" y="1"/>
                          </a:cxn>
                        </a:cxnLst>
                        <a:rect l="txL" t="txT" r="txR" b="txB"/>
                        <a:pathLst>
                          <a:path w="201" h="152">
                            <a:moveTo>
                              <a:pt x="195" y="15"/>
                            </a:moveTo>
                            <a:lnTo>
                              <a:pt x="185" y="4"/>
                            </a:lnTo>
                            <a:lnTo>
                              <a:pt x="176" y="0"/>
                            </a:lnTo>
                            <a:lnTo>
                              <a:pt x="165" y="1"/>
                            </a:lnTo>
                            <a:lnTo>
                              <a:pt x="154" y="9"/>
                            </a:lnTo>
                            <a:lnTo>
                              <a:pt x="7" y="105"/>
                            </a:lnTo>
                            <a:lnTo>
                              <a:pt x="2" y="114"/>
                            </a:lnTo>
                            <a:lnTo>
                              <a:pt x="0" y="127"/>
                            </a:lnTo>
                            <a:lnTo>
                              <a:pt x="5" y="139"/>
                            </a:lnTo>
                            <a:lnTo>
                              <a:pt x="13" y="149"/>
                            </a:lnTo>
                            <a:lnTo>
                              <a:pt x="23" y="152"/>
                            </a:lnTo>
                            <a:lnTo>
                              <a:pt x="37" y="149"/>
                            </a:lnTo>
                            <a:lnTo>
                              <a:pt x="192" y="48"/>
                            </a:lnTo>
                            <a:lnTo>
                              <a:pt x="200" y="39"/>
                            </a:lnTo>
                            <a:lnTo>
                              <a:pt x="201" y="30"/>
                            </a:lnTo>
                            <a:lnTo>
                              <a:pt x="195" y="15"/>
                            </a:lnTo>
                            <a:close/>
                          </a:path>
                        </a:pathLst>
                      </a:custGeom>
                      <a:solidFill>
                        <a:srgbClr val="C08040"/>
                      </a:solidFill>
                      <a:ln w="4763" cap="flat" cmpd="sng">
                        <a:solidFill>
                          <a:srgbClr val="000000"/>
                        </a:solidFill>
                        <a:prstDash val="solid"/>
                        <a:miter/>
                        <a:headEnd type="none" w="med" len="med"/>
                        <a:tailEnd type="none" w="med" len="med"/>
                      </a:ln>
                    </p:spPr>
                    <p:txBody>
                      <a:bodyPr/>
                      <a:p>
                        <a:endParaRPr lang="zh-CN" altLang="en-US" dirty="0">
                          <a:latin typeface="Frutiger 45 Light" pitchFamily="2" charset="0"/>
                        </a:endParaRPr>
                      </a:p>
                    </p:txBody>
                  </p:sp>
                </p:grpSp>
                <p:grpSp>
                  <p:nvGrpSpPr>
                    <p:cNvPr id="7195" name="组合 7194"/>
                    <p:cNvGrpSpPr/>
                    <p:nvPr/>
                  </p:nvGrpSpPr>
                  <p:grpSpPr>
                    <a:xfrm>
                      <a:off x="11" y="1"/>
                      <a:ext cx="135" cy="141"/>
                      <a:chOff x="0" y="0"/>
                      <a:chExt cx="135" cy="141"/>
                    </a:xfrm>
                  </p:grpSpPr>
                  <p:sp>
                    <p:nvSpPr>
                      <p:cNvPr id="7196" name="Freeform 142"/>
                      <p:cNvSpPr/>
                      <p:nvPr/>
                    </p:nvSpPr>
                    <p:spPr>
                      <a:xfrm>
                        <a:off x="0" y="28"/>
                        <a:ext cx="118" cy="113"/>
                      </a:xfrm>
                      <a:custGeom>
                        <a:avLst/>
                        <a:gdLst>
                          <a:gd name="txL" fmla="*/ 0 w 355"/>
                          <a:gd name="txT" fmla="*/ 0 h 339"/>
                          <a:gd name="txR" fmla="*/ 355 w 355"/>
                          <a:gd name="txB" fmla="*/ 339 h 339"/>
                        </a:gdLst>
                        <a:ahLst/>
                        <a:cxnLst>
                          <a:cxn ang="0">
                            <a:pos x="7" y="0"/>
                          </a:cxn>
                          <a:cxn ang="0">
                            <a:pos x="4" y="3"/>
                          </a:cxn>
                          <a:cxn ang="0">
                            <a:pos x="1" y="6"/>
                          </a:cxn>
                          <a:cxn ang="0">
                            <a:pos x="0" y="8"/>
                          </a:cxn>
                          <a:cxn ang="0">
                            <a:pos x="0" y="10"/>
                          </a:cxn>
                          <a:cxn ang="0">
                            <a:pos x="2" y="12"/>
                          </a:cxn>
                          <a:cxn ang="0">
                            <a:pos x="3" y="12"/>
                          </a:cxn>
                          <a:cxn ang="0">
                            <a:pos x="6" y="13"/>
                          </a:cxn>
                          <a:cxn ang="0">
                            <a:pos x="9" y="11"/>
                          </a:cxn>
                          <a:cxn ang="0">
                            <a:pos x="11" y="11"/>
                          </a:cxn>
                          <a:cxn ang="0">
                            <a:pos x="12" y="10"/>
                          </a:cxn>
                          <a:cxn ang="0">
                            <a:pos x="13" y="9"/>
                          </a:cxn>
                          <a:cxn ang="0">
                            <a:pos x="13" y="8"/>
                          </a:cxn>
                          <a:cxn ang="0">
                            <a:pos x="7" y="0"/>
                          </a:cxn>
                        </a:cxnLst>
                        <a:rect l="txL" t="txT" r="txR" b="txB"/>
                        <a:pathLst>
                          <a:path w="355" h="339">
                            <a:moveTo>
                              <a:pt x="182" y="0"/>
                            </a:moveTo>
                            <a:lnTo>
                              <a:pt x="101" y="74"/>
                            </a:lnTo>
                            <a:lnTo>
                              <a:pt x="31" y="155"/>
                            </a:lnTo>
                            <a:lnTo>
                              <a:pt x="0" y="222"/>
                            </a:lnTo>
                            <a:lnTo>
                              <a:pt x="10" y="279"/>
                            </a:lnTo>
                            <a:lnTo>
                              <a:pt x="41" y="316"/>
                            </a:lnTo>
                            <a:lnTo>
                              <a:pt x="87" y="329"/>
                            </a:lnTo>
                            <a:lnTo>
                              <a:pt x="166" y="339"/>
                            </a:lnTo>
                            <a:lnTo>
                              <a:pt x="252" y="295"/>
                            </a:lnTo>
                            <a:lnTo>
                              <a:pt x="297" y="295"/>
                            </a:lnTo>
                            <a:lnTo>
                              <a:pt x="333" y="279"/>
                            </a:lnTo>
                            <a:lnTo>
                              <a:pt x="353" y="249"/>
                            </a:lnTo>
                            <a:lnTo>
                              <a:pt x="355" y="212"/>
                            </a:lnTo>
                            <a:lnTo>
                              <a:pt x="182" y="0"/>
                            </a:lnTo>
                            <a:close/>
                          </a:path>
                        </a:pathLst>
                      </a:custGeom>
                      <a:solidFill>
                        <a:srgbClr val="E0A080"/>
                      </a:solidFill>
                      <a:ln w="4763" cap="flat" cmpd="sng">
                        <a:solidFill>
                          <a:srgbClr val="000000"/>
                        </a:solidFill>
                        <a:prstDash val="solid"/>
                        <a:miter/>
                        <a:headEnd type="none" w="med" len="med"/>
                        <a:tailEnd type="none" w="med" len="med"/>
                      </a:ln>
                    </p:spPr>
                    <p:txBody>
                      <a:bodyPr/>
                      <a:p>
                        <a:endParaRPr lang="zh-CN" altLang="en-US" dirty="0">
                          <a:latin typeface="Frutiger 45 Light" pitchFamily="2" charset="0"/>
                        </a:endParaRPr>
                      </a:p>
                    </p:txBody>
                  </p:sp>
                  <p:grpSp>
                    <p:nvGrpSpPr>
                      <p:cNvPr id="7197" name="组合 7196"/>
                      <p:cNvGrpSpPr/>
                      <p:nvPr/>
                    </p:nvGrpSpPr>
                    <p:grpSpPr>
                      <a:xfrm>
                        <a:off x="67" y="0"/>
                        <a:ext cx="68" cy="77"/>
                        <a:chOff x="0" y="0"/>
                        <a:chExt cx="68" cy="77"/>
                      </a:xfrm>
                    </p:grpSpPr>
                    <p:sp>
                      <p:nvSpPr>
                        <p:cNvPr id="7198" name="Freeform 144"/>
                        <p:cNvSpPr/>
                        <p:nvPr/>
                      </p:nvSpPr>
                      <p:spPr>
                        <a:xfrm>
                          <a:off x="3" y="12"/>
                          <a:ext cx="59" cy="65"/>
                        </a:xfrm>
                        <a:custGeom>
                          <a:avLst/>
                          <a:gdLst>
                            <a:gd name="txL" fmla="*/ 0 w 176"/>
                            <a:gd name="txT" fmla="*/ 0 h 197"/>
                            <a:gd name="txR" fmla="*/ 176 w 176"/>
                            <a:gd name="txB" fmla="*/ 197 h 197"/>
                          </a:gdLst>
                          <a:ahLst/>
                          <a:cxnLst>
                            <a:cxn ang="0">
                              <a:pos x="1" y="0"/>
                            </a:cxn>
                            <a:cxn ang="0">
                              <a:pos x="5" y="2"/>
                            </a:cxn>
                            <a:cxn ang="0">
                              <a:pos x="6" y="3"/>
                            </a:cxn>
                            <a:cxn ang="0">
                              <a:pos x="7" y="5"/>
                            </a:cxn>
                            <a:cxn ang="0">
                              <a:pos x="6" y="6"/>
                            </a:cxn>
                            <a:cxn ang="0">
                              <a:pos x="6" y="7"/>
                            </a:cxn>
                            <a:cxn ang="0">
                              <a:pos x="4" y="7"/>
                            </a:cxn>
                            <a:cxn ang="0">
                              <a:pos x="3" y="7"/>
                            </a:cxn>
                            <a:cxn ang="0">
                              <a:pos x="1" y="5"/>
                            </a:cxn>
                            <a:cxn ang="0">
                              <a:pos x="0" y="4"/>
                            </a:cxn>
                            <a:cxn ang="0">
                              <a:pos x="0" y="3"/>
                            </a:cxn>
                            <a:cxn ang="0">
                              <a:pos x="1" y="0"/>
                            </a:cxn>
                          </a:cxnLst>
                          <a:rect l="txL" t="txT" r="txR" b="txB"/>
                          <a:pathLst>
                            <a:path w="176" h="197">
                              <a:moveTo>
                                <a:pt x="39" y="0"/>
                              </a:moveTo>
                              <a:lnTo>
                                <a:pt x="145" y="62"/>
                              </a:lnTo>
                              <a:lnTo>
                                <a:pt x="166" y="95"/>
                              </a:lnTo>
                              <a:lnTo>
                                <a:pt x="176" y="128"/>
                              </a:lnTo>
                              <a:lnTo>
                                <a:pt x="172" y="169"/>
                              </a:lnTo>
                              <a:lnTo>
                                <a:pt x="152" y="190"/>
                              </a:lnTo>
                              <a:lnTo>
                                <a:pt x="114" y="197"/>
                              </a:lnTo>
                              <a:lnTo>
                                <a:pt x="70" y="182"/>
                              </a:lnTo>
                              <a:lnTo>
                                <a:pt x="34" y="148"/>
                              </a:lnTo>
                              <a:lnTo>
                                <a:pt x="6" y="108"/>
                              </a:lnTo>
                              <a:lnTo>
                                <a:pt x="0" y="74"/>
                              </a:lnTo>
                              <a:lnTo>
                                <a:pt x="39" y="0"/>
                              </a:lnTo>
                              <a:close/>
                            </a:path>
                          </a:pathLst>
                        </a:custGeom>
                        <a:solidFill>
                          <a:srgbClr val="F0F0FF"/>
                        </a:solidFill>
                        <a:ln w="4763" cap="flat" cmpd="sng">
                          <a:solidFill>
                            <a:srgbClr val="000000"/>
                          </a:solidFill>
                          <a:prstDash val="solid"/>
                          <a:miter/>
                          <a:headEnd type="none" w="med" len="med"/>
                          <a:tailEnd type="none" w="med" len="med"/>
                        </a:ln>
                      </p:spPr>
                      <p:txBody>
                        <a:bodyPr/>
                        <a:p>
                          <a:endParaRPr lang="zh-CN" altLang="en-US" dirty="0">
                            <a:latin typeface="Frutiger 45 Light" pitchFamily="2" charset="0"/>
                          </a:endParaRPr>
                        </a:p>
                      </p:txBody>
                    </p:sp>
                    <p:sp>
                      <p:nvSpPr>
                        <p:cNvPr id="7199" name="Oval 145"/>
                        <p:cNvSpPr/>
                        <p:nvPr/>
                      </p:nvSpPr>
                      <p:spPr>
                        <a:xfrm>
                          <a:off x="20" y="54"/>
                          <a:ext cx="17" cy="16"/>
                        </a:xfrm>
                        <a:prstGeom prst="ellipse">
                          <a:avLst/>
                        </a:prstGeom>
                        <a:solidFill>
                          <a:srgbClr val="009080"/>
                        </a:solidFill>
                        <a:ln w="4763" cap="flat" cmpd="sng">
                          <a:solidFill>
                            <a:srgbClr val="000000"/>
                          </a:solidFill>
                          <a:prstDash val="solid"/>
                          <a:headEnd type="none" w="med" len="med"/>
                          <a:tailEnd type="none" w="med" len="med"/>
                        </a:ln>
                      </p:spPr>
                      <p:txBody>
                        <a:bodyPr/>
                        <a:p>
                          <a:pPr algn="l"/>
                          <a:endParaRPr lang="zh-CN" altLang="en-US" sz="1800" b="0" dirty="0">
                            <a:latin typeface="Arial" panose="020B0604020202020204" pitchFamily="34" charset="0"/>
                            <a:ea typeface="宋体" panose="02010600030101010101" pitchFamily="2" charset="-122"/>
                          </a:endParaRPr>
                        </a:p>
                      </p:txBody>
                    </p:sp>
                    <p:sp>
                      <p:nvSpPr>
                        <p:cNvPr id="7200" name="Freeform 146"/>
                        <p:cNvSpPr/>
                        <p:nvPr/>
                      </p:nvSpPr>
                      <p:spPr>
                        <a:xfrm>
                          <a:off x="0" y="0"/>
                          <a:ext cx="68" cy="46"/>
                        </a:xfrm>
                        <a:custGeom>
                          <a:avLst/>
                          <a:gdLst>
                            <a:gd name="txL" fmla="*/ 0 w 206"/>
                            <a:gd name="txT" fmla="*/ 0 h 139"/>
                            <a:gd name="txR" fmla="*/ 206 w 206"/>
                            <a:gd name="txB" fmla="*/ 139 h 139"/>
                          </a:gdLst>
                          <a:ahLst/>
                          <a:cxnLst>
                            <a:cxn ang="0">
                              <a:pos x="0" y="1"/>
                            </a:cxn>
                            <a:cxn ang="0">
                              <a:pos x="1" y="0"/>
                            </a:cxn>
                            <a:cxn ang="0">
                              <a:pos x="1" y="0"/>
                            </a:cxn>
                            <a:cxn ang="0">
                              <a:pos x="1" y="0"/>
                            </a:cxn>
                            <a:cxn ang="0">
                              <a:pos x="2" y="0"/>
                            </a:cxn>
                            <a:cxn ang="0">
                              <a:pos x="7" y="4"/>
                            </a:cxn>
                            <a:cxn ang="0">
                              <a:pos x="7" y="4"/>
                            </a:cxn>
                            <a:cxn ang="0">
                              <a:pos x="7" y="4"/>
                            </a:cxn>
                            <a:cxn ang="0">
                              <a:pos x="7" y="5"/>
                            </a:cxn>
                            <a:cxn ang="0">
                              <a:pos x="7" y="5"/>
                            </a:cxn>
                            <a:cxn ang="0">
                              <a:pos x="7" y="5"/>
                            </a:cxn>
                            <a:cxn ang="0">
                              <a:pos x="6" y="5"/>
                            </a:cxn>
                            <a:cxn ang="0">
                              <a:pos x="0" y="2"/>
                            </a:cxn>
                            <a:cxn ang="0">
                              <a:pos x="0" y="1"/>
                            </a:cxn>
                            <a:cxn ang="0">
                              <a:pos x="0" y="1"/>
                            </a:cxn>
                            <a:cxn ang="0">
                              <a:pos x="0" y="1"/>
                            </a:cxn>
                          </a:cxnLst>
                          <a:rect l="txL" t="txT" r="txR" b="txB"/>
                          <a:pathLst>
                            <a:path w="206" h="139">
                              <a:moveTo>
                                <a:pt x="5" y="15"/>
                              </a:moveTo>
                              <a:lnTo>
                                <a:pt x="15" y="6"/>
                              </a:lnTo>
                              <a:lnTo>
                                <a:pt x="25" y="0"/>
                              </a:lnTo>
                              <a:lnTo>
                                <a:pt x="36" y="2"/>
                              </a:lnTo>
                              <a:lnTo>
                                <a:pt x="47" y="9"/>
                              </a:lnTo>
                              <a:lnTo>
                                <a:pt x="199" y="97"/>
                              </a:lnTo>
                              <a:lnTo>
                                <a:pt x="202" y="104"/>
                              </a:lnTo>
                              <a:lnTo>
                                <a:pt x="206" y="116"/>
                              </a:lnTo>
                              <a:lnTo>
                                <a:pt x="201" y="127"/>
                              </a:lnTo>
                              <a:lnTo>
                                <a:pt x="191" y="136"/>
                              </a:lnTo>
                              <a:lnTo>
                                <a:pt x="182" y="139"/>
                              </a:lnTo>
                              <a:lnTo>
                                <a:pt x="170" y="137"/>
                              </a:lnTo>
                              <a:lnTo>
                                <a:pt x="8" y="44"/>
                              </a:lnTo>
                              <a:lnTo>
                                <a:pt x="2" y="36"/>
                              </a:lnTo>
                              <a:lnTo>
                                <a:pt x="0" y="28"/>
                              </a:lnTo>
                              <a:lnTo>
                                <a:pt x="5" y="15"/>
                              </a:lnTo>
                              <a:close/>
                            </a:path>
                          </a:pathLst>
                        </a:custGeom>
                        <a:solidFill>
                          <a:srgbClr val="C08040"/>
                        </a:solidFill>
                        <a:ln w="4763" cap="flat" cmpd="sng">
                          <a:solidFill>
                            <a:srgbClr val="000000"/>
                          </a:solidFill>
                          <a:prstDash val="solid"/>
                          <a:miter/>
                          <a:headEnd type="none" w="med" len="med"/>
                          <a:tailEnd type="none" w="med" len="med"/>
                        </a:ln>
                      </p:spPr>
                      <p:txBody>
                        <a:bodyPr/>
                        <a:p>
                          <a:endParaRPr lang="zh-CN" altLang="en-US" dirty="0">
                            <a:latin typeface="Frutiger 45 Light" pitchFamily="2" charset="0"/>
                          </a:endParaRPr>
                        </a:p>
                      </p:txBody>
                    </p:sp>
                  </p:grpSp>
                </p:grpSp>
              </p:grpSp>
            </p:grpSp>
            <p:grpSp>
              <p:nvGrpSpPr>
                <p:cNvPr id="7201" name="组合 7200"/>
                <p:cNvGrpSpPr/>
                <p:nvPr/>
              </p:nvGrpSpPr>
              <p:grpSpPr>
                <a:xfrm>
                  <a:off x="331" y="163"/>
                  <a:ext cx="69" cy="76"/>
                  <a:chOff x="0" y="0"/>
                  <a:chExt cx="69" cy="76"/>
                </a:xfrm>
              </p:grpSpPr>
              <p:sp>
                <p:nvSpPr>
                  <p:cNvPr id="7202" name="Freeform 148"/>
                  <p:cNvSpPr/>
                  <p:nvPr/>
                </p:nvSpPr>
                <p:spPr>
                  <a:xfrm>
                    <a:off x="6" y="0"/>
                    <a:ext cx="63" cy="76"/>
                  </a:xfrm>
                  <a:custGeom>
                    <a:avLst/>
                    <a:gdLst>
                      <a:gd name="txL" fmla="*/ 0 w 189"/>
                      <a:gd name="txT" fmla="*/ 0 h 229"/>
                      <a:gd name="txR" fmla="*/ 189 w 189"/>
                      <a:gd name="txB" fmla="*/ 229 h 229"/>
                    </a:gdLst>
                    <a:ahLst/>
                    <a:cxnLst>
                      <a:cxn ang="0">
                        <a:pos x="0" y="7"/>
                      </a:cxn>
                      <a:cxn ang="0">
                        <a:pos x="2" y="8"/>
                      </a:cxn>
                      <a:cxn ang="0">
                        <a:pos x="4" y="8"/>
                      </a:cxn>
                      <a:cxn ang="0">
                        <a:pos x="6" y="6"/>
                      </a:cxn>
                      <a:cxn ang="0">
                        <a:pos x="7" y="3"/>
                      </a:cxn>
                      <a:cxn ang="0">
                        <a:pos x="6" y="1"/>
                      </a:cxn>
                      <a:cxn ang="0">
                        <a:pos x="5" y="0"/>
                      </a:cxn>
                      <a:cxn ang="0">
                        <a:pos x="3" y="1"/>
                      </a:cxn>
                      <a:cxn ang="0">
                        <a:pos x="2" y="2"/>
                      </a:cxn>
                      <a:cxn ang="0">
                        <a:pos x="0" y="7"/>
                      </a:cxn>
                    </a:cxnLst>
                    <a:rect l="txL" t="txT" r="txR" b="txB"/>
                    <a:pathLst>
                      <a:path w="189" h="229">
                        <a:moveTo>
                          <a:pt x="0" y="199"/>
                        </a:moveTo>
                        <a:lnTo>
                          <a:pt x="44" y="229"/>
                        </a:lnTo>
                        <a:lnTo>
                          <a:pt x="102" y="215"/>
                        </a:lnTo>
                        <a:lnTo>
                          <a:pt x="162" y="151"/>
                        </a:lnTo>
                        <a:lnTo>
                          <a:pt x="189" y="83"/>
                        </a:lnTo>
                        <a:lnTo>
                          <a:pt x="175" y="23"/>
                        </a:lnTo>
                        <a:lnTo>
                          <a:pt x="124" y="0"/>
                        </a:lnTo>
                        <a:lnTo>
                          <a:pt x="76" y="19"/>
                        </a:lnTo>
                        <a:lnTo>
                          <a:pt x="41" y="46"/>
                        </a:lnTo>
                        <a:lnTo>
                          <a:pt x="0" y="199"/>
                        </a:lnTo>
                        <a:close/>
                      </a:path>
                    </a:pathLst>
                  </a:custGeom>
                  <a:solidFill>
                    <a:srgbClr val="E0A080"/>
                  </a:solidFill>
                  <a:ln w="4763" cap="flat" cmpd="sng">
                    <a:solidFill>
                      <a:srgbClr val="000000"/>
                    </a:solidFill>
                    <a:prstDash val="solid"/>
                    <a:miter/>
                    <a:headEnd type="none" w="med" len="med"/>
                    <a:tailEnd type="none" w="med" len="med"/>
                  </a:ln>
                </p:spPr>
                <p:txBody>
                  <a:bodyPr/>
                  <a:p>
                    <a:endParaRPr lang="zh-CN" altLang="en-US" dirty="0">
                      <a:latin typeface="Frutiger 45 Light" pitchFamily="2" charset="0"/>
                    </a:endParaRPr>
                  </a:p>
                </p:txBody>
              </p:sp>
              <p:sp>
                <p:nvSpPr>
                  <p:cNvPr id="7203" name="Freeform 149"/>
                  <p:cNvSpPr/>
                  <p:nvPr/>
                </p:nvSpPr>
                <p:spPr>
                  <a:xfrm>
                    <a:off x="0" y="2"/>
                    <a:ext cx="66" cy="73"/>
                  </a:xfrm>
                  <a:custGeom>
                    <a:avLst/>
                    <a:gdLst>
                      <a:gd name="txL" fmla="*/ 0 w 199"/>
                      <a:gd name="txT" fmla="*/ 0 h 219"/>
                      <a:gd name="txR" fmla="*/ 199 w 199"/>
                      <a:gd name="txB" fmla="*/ 219 h 219"/>
                    </a:gdLst>
                    <a:ahLst/>
                    <a:cxnLst>
                      <a:cxn ang="0">
                        <a:pos x="0" y="7"/>
                      </a:cxn>
                      <a:cxn ang="0">
                        <a:pos x="2" y="8"/>
                      </a:cxn>
                      <a:cxn ang="0">
                        <a:pos x="4" y="8"/>
                      </a:cxn>
                      <a:cxn ang="0">
                        <a:pos x="6" y="5"/>
                      </a:cxn>
                      <a:cxn ang="0">
                        <a:pos x="7" y="3"/>
                      </a:cxn>
                      <a:cxn ang="0">
                        <a:pos x="7" y="1"/>
                      </a:cxn>
                      <a:cxn ang="0">
                        <a:pos x="5" y="0"/>
                      </a:cxn>
                      <a:cxn ang="0">
                        <a:pos x="3" y="1"/>
                      </a:cxn>
                      <a:cxn ang="0">
                        <a:pos x="2" y="2"/>
                      </a:cxn>
                      <a:cxn ang="0">
                        <a:pos x="0" y="7"/>
                      </a:cxn>
                    </a:cxnLst>
                    <a:rect l="txL" t="txT" r="txR" b="txB"/>
                    <a:pathLst>
                      <a:path w="199" h="219">
                        <a:moveTo>
                          <a:pt x="0" y="191"/>
                        </a:moveTo>
                        <a:lnTo>
                          <a:pt x="46" y="219"/>
                        </a:lnTo>
                        <a:lnTo>
                          <a:pt x="106" y="207"/>
                        </a:lnTo>
                        <a:lnTo>
                          <a:pt x="170" y="145"/>
                        </a:lnTo>
                        <a:lnTo>
                          <a:pt x="199" y="80"/>
                        </a:lnTo>
                        <a:lnTo>
                          <a:pt x="183" y="22"/>
                        </a:lnTo>
                        <a:lnTo>
                          <a:pt x="129" y="0"/>
                        </a:lnTo>
                        <a:lnTo>
                          <a:pt x="80" y="19"/>
                        </a:lnTo>
                        <a:lnTo>
                          <a:pt x="44" y="44"/>
                        </a:lnTo>
                        <a:lnTo>
                          <a:pt x="0" y="191"/>
                        </a:lnTo>
                        <a:close/>
                      </a:path>
                    </a:pathLst>
                  </a:custGeom>
                  <a:solidFill>
                    <a:srgbClr val="E0A080"/>
                  </a:solidFill>
                  <a:ln w="9525">
                    <a:noFill/>
                  </a:ln>
                </p:spPr>
                <p:txBody>
                  <a:bodyPr/>
                  <a:p>
                    <a:endParaRPr lang="zh-CN" altLang="en-US" dirty="0">
                      <a:latin typeface="Frutiger 45 Light" pitchFamily="2" charset="0"/>
                    </a:endParaRPr>
                  </a:p>
                </p:txBody>
              </p:sp>
            </p:grpSp>
          </p:grpSp>
          <p:grpSp>
            <p:nvGrpSpPr>
              <p:cNvPr id="7204" name="组合 7203"/>
              <p:cNvGrpSpPr/>
              <p:nvPr/>
            </p:nvGrpSpPr>
            <p:grpSpPr>
              <a:xfrm>
                <a:off x="0" y="256"/>
                <a:ext cx="666" cy="525"/>
                <a:chOff x="0" y="0"/>
                <a:chExt cx="666" cy="525"/>
              </a:xfrm>
            </p:grpSpPr>
            <p:grpSp>
              <p:nvGrpSpPr>
                <p:cNvPr id="7205" name="组合 7204"/>
                <p:cNvGrpSpPr/>
                <p:nvPr/>
              </p:nvGrpSpPr>
              <p:grpSpPr>
                <a:xfrm>
                  <a:off x="0" y="79"/>
                  <a:ext cx="666" cy="409"/>
                  <a:chOff x="0" y="0"/>
                  <a:chExt cx="666" cy="409"/>
                </a:xfrm>
              </p:grpSpPr>
              <p:sp>
                <p:nvSpPr>
                  <p:cNvPr id="7206" name="Freeform 152"/>
                  <p:cNvSpPr/>
                  <p:nvPr/>
                </p:nvSpPr>
                <p:spPr>
                  <a:xfrm>
                    <a:off x="0" y="0"/>
                    <a:ext cx="666" cy="409"/>
                  </a:xfrm>
                  <a:custGeom>
                    <a:avLst/>
                    <a:gdLst>
                      <a:gd name="txL" fmla="*/ 0 w 1997"/>
                      <a:gd name="txT" fmla="*/ 0 h 1226"/>
                      <a:gd name="txR" fmla="*/ 1997 w 1997"/>
                      <a:gd name="txB" fmla="*/ 1226 h 1226"/>
                    </a:gdLst>
                    <a:ahLst/>
                    <a:cxnLst>
                      <a:cxn ang="0">
                        <a:pos x="27" y="0"/>
                      </a:cxn>
                      <a:cxn ang="0">
                        <a:pos x="48" y="5"/>
                      </a:cxn>
                      <a:cxn ang="0">
                        <a:pos x="54" y="19"/>
                      </a:cxn>
                      <a:cxn ang="0">
                        <a:pos x="56" y="21"/>
                      </a:cxn>
                      <a:cxn ang="0">
                        <a:pos x="57" y="23"/>
                      </a:cxn>
                      <a:cxn ang="0">
                        <a:pos x="58" y="26"/>
                      </a:cxn>
                      <a:cxn ang="0">
                        <a:pos x="60" y="27"/>
                      </a:cxn>
                      <a:cxn ang="0">
                        <a:pos x="62" y="29"/>
                      </a:cxn>
                      <a:cxn ang="0">
                        <a:pos x="63" y="32"/>
                      </a:cxn>
                      <a:cxn ang="0">
                        <a:pos x="64" y="34"/>
                      </a:cxn>
                      <a:cxn ang="0">
                        <a:pos x="64" y="37"/>
                      </a:cxn>
                      <a:cxn ang="0">
                        <a:pos x="66" y="37"/>
                      </a:cxn>
                      <a:cxn ang="0">
                        <a:pos x="68" y="38"/>
                      </a:cxn>
                      <a:cxn ang="0">
                        <a:pos x="70" y="39"/>
                      </a:cxn>
                      <a:cxn ang="0">
                        <a:pos x="72" y="41"/>
                      </a:cxn>
                      <a:cxn ang="0">
                        <a:pos x="73" y="43"/>
                      </a:cxn>
                      <a:cxn ang="0">
                        <a:pos x="74" y="45"/>
                      </a:cxn>
                      <a:cxn ang="0">
                        <a:pos x="28" y="45"/>
                      </a:cxn>
                      <a:cxn ang="0">
                        <a:pos x="26" y="44"/>
                      </a:cxn>
                      <a:cxn ang="0">
                        <a:pos x="26" y="42"/>
                      </a:cxn>
                      <a:cxn ang="0">
                        <a:pos x="25" y="40"/>
                      </a:cxn>
                      <a:cxn ang="0">
                        <a:pos x="25" y="37"/>
                      </a:cxn>
                      <a:cxn ang="0">
                        <a:pos x="23" y="35"/>
                      </a:cxn>
                      <a:cxn ang="0">
                        <a:pos x="21" y="36"/>
                      </a:cxn>
                      <a:cxn ang="0">
                        <a:pos x="19" y="37"/>
                      </a:cxn>
                      <a:cxn ang="0">
                        <a:pos x="18" y="39"/>
                      </a:cxn>
                      <a:cxn ang="0">
                        <a:pos x="16" y="41"/>
                      </a:cxn>
                      <a:cxn ang="0">
                        <a:pos x="15" y="44"/>
                      </a:cxn>
                      <a:cxn ang="0">
                        <a:pos x="12" y="43"/>
                      </a:cxn>
                      <a:cxn ang="0">
                        <a:pos x="2" y="44"/>
                      </a:cxn>
                      <a:cxn ang="0">
                        <a:pos x="1" y="43"/>
                      </a:cxn>
                      <a:cxn ang="0">
                        <a:pos x="0" y="39"/>
                      </a:cxn>
                      <a:cxn ang="0">
                        <a:pos x="0" y="36"/>
                      </a:cxn>
                      <a:cxn ang="0">
                        <a:pos x="1" y="33"/>
                      </a:cxn>
                      <a:cxn ang="0">
                        <a:pos x="2" y="30"/>
                      </a:cxn>
                      <a:cxn ang="0">
                        <a:pos x="5" y="27"/>
                      </a:cxn>
                      <a:cxn ang="0">
                        <a:pos x="8" y="25"/>
                      </a:cxn>
                      <a:cxn ang="0">
                        <a:pos x="7" y="22"/>
                      </a:cxn>
                      <a:cxn ang="0">
                        <a:pos x="8" y="20"/>
                      </a:cxn>
                      <a:cxn ang="0">
                        <a:pos x="9" y="17"/>
                      </a:cxn>
                      <a:cxn ang="0">
                        <a:pos x="11" y="14"/>
                      </a:cxn>
                      <a:cxn ang="0">
                        <a:pos x="13" y="13"/>
                      </a:cxn>
                      <a:cxn ang="0">
                        <a:pos x="15" y="12"/>
                      </a:cxn>
                      <a:cxn ang="0">
                        <a:pos x="17" y="11"/>
                      </a:cxn>
                      <a:cxn ang="0">
                        <a:pos x="19" y="8"/>
                      </a:cxn>
                      <a:cxn ang="0">
                        <a:pos x="19" y="3"/>
                      </a:cxn>
                      <a:cxn ang="0">
                        <a:pos x="21" y="1"/>
                      </a:cxn>
                      <a:cxn ang="0">
                        <a:pos x="23" y="0"/>
                      </a:cxn>
                      <a:cxn ang="0">
                        <a:pos x="27" y="0"/>
                      </a:cxn>
                    </a:cxnLst>
                    <a:rect l="txL" t="txT" r="txR" b="txB"/>
                    <a:pathLst>
                      <a:path w="1997" h="1226">
                        <a:moveTo>
                          <a:pt x="730" y="7"/>
                        </a:moveTo>
                        <a:lnTo>
                          <a:pt x="1304" y="127"/>
                        </a:lnTo>
                        <a:lnTo>
                          <a:pt x="1461" y="516"/>
                        </a:lnTo>
                        <a:lnTo>
                          <a:pt x="1503" y="562"/>
                        </a:lnTo>
                        <a:lnTo>
                          <a:pt x="1533" y="623"/>
                        </a:lnTo>
                        <a:lnTo>
                          <a:pt x="1575" y="689"/>
                        </a:lnTo>
                        <a:lnTo>
                          <a:pt x="1606" y="740"/>
                        </a:lnTo>
                        <a:lnTo>
                          <a:pt x="1668" y="791"/>
                        </a:lnTo>
                        <a:lnTo>
                          <a:pt x="1703" y="858"/>
                        </a:lnTo>
                        <a:lnTo>
                          <a:pt x="1725" y="920"/>
                        </a:lnTo>
                        <a:lnTo>
                          <a:pt x="1729" y="985"/>
                        </a:lnTo>
                        <a:lnTo>
                          <a:pt x="1786" y="997"/>
                        </a:lnTo>
                        <a:lnTo>
                          <a:pt x="1841" y="1019"/>
                        </a:lnTo>
                        <a:lnTo>
                          <a:pt x="1901" y="1053"/>
                        </a:lnTo>
                        <a:lnTo>
                          <a:pt x="1944" y="1099"/>
                        </a:lnTo>
                        <a:lnTo>
                          <a:pt x="1970" y="1153"/>
                        </a:lnTo>
                        <a:lnTo>
                          <a:pt x="1997" y="1226"/>
                        </a:lnTo>
                        <a:lnTo>
                          <a:pt x="744" y="1226"/>
                        </a:lnTo>
                        <a:lnTo>
                          <a:pt x="710" y="1180"/>
                        </a:lnTo>
                        <a:lnTo>
                          <a:pt x="696" y="1139"/>
                        </a:lnTo>
                        <a:lnTo>
                          <a:pt x="686" y="1073"/>
                        </a:lnTo>
                        <a:lnTo>
                          <a:pt x="668" y="1005"/>
                        </a:lnTo>
                        <a:lnTo>
                          <a:pt x="616" y="945"/>
                        </a:lnTo>
                        <a:lnTo>
                          <a:pt x="569" y="966"/>
                        </a:lnTo>
                        <a:lnTo>
                          <a:pt x="520" y="1005"/>
                        </a:lnTo>
                        <a:lnTo>
                          <a:pt x="474" y="1039"/>
                        </a:lnTo>
                        <a:lnTo>
                          <a:pt x="429" y="1105"/>
                        </a:lnTo>
                        <a:lnTo>
                          <a:pt x="393" y="1192"/>
                        </a:lnTo>
                        <a:lnTo>
                          <a:pt x="314" y="1169"/>
                        </a:lnTo>
                        <a:lnTo>
                          <a:pt x="51" y="1192"/>
                        </a:lnTo>
                        <a:lnTo>
                          <a:pt x="25" y="1150"/>
                        </a:lnTo>
                        <a:lnTo>
                          <a:pt x="2" y="1065"/>
                        </a:lnTo>
                        <a:lnTo>
                          <a:pt x="0" y="978"/>
                        </a:lnTo>
                        <a:lnTo>
                          <a:pt x="19" y="886"/>
                        </a:lnTo>
                        <a:lnTo>
                          <a:pt x="59" y="802"/>
                        </a:lnTo>
                        <a:lnTo>
                          <a:pt x="127" y="730"/>
                        </a:lnTo>
                        <a:lnTo>
                          <a:pt x="210" y="683"/>
                        </a:lnTo>
                        <a:lnTo>
                          <a:pt x="200" y="598"/>
                        </a:lnTo>
                        <a:lnTo>
                          <a:pt x="220" y="529"/>
                        </a:lnTo>
                        <a:lnTo>
                          <a:pt x="250" y="446"/>
                        </a:lnTo>
                        <a:lnTo>
                          <a:pt x="293" y="379"/>
                        </a:lnTo>
                        <a:lnTo>
                          <a:pt x="341" y="342"/>
                        </a:lnTo>
                        <a:lnTo>
                          <a:pt x="410" y="311"/>
                        </a:lnTo>
                        <a:lnTo>
                          <a:pt x="460" y="295"/>
                        </a:lnTo>
                        <a:lnTo>
                          <a:pt x="514" y="215"/>
                        </a:lnTo>
                        <a:lnTo>
                          <a:pt x="507" y="80"/>
                        </a:lnTo>
                        <a:lnTo>
                          <a:pt x="554" y="20"/>
                        </a:lnTo>
                        <a:lnTo>
                          <a:pt x="616" y="0"/>
                        </a:lnTo>
                        <a:lnTo>
                          <a:pt x="730" y="7"/>
                        </a:lnTo>
                        <a:close/>
                      </a:path>
                    </a:pathLst>
                  </a:custGeom>
                  <a:solidFill>
                    <a:srgbClr val="4080FF"/>
                  </a:solidFill>
                  <a:ln w="4763" cap="flat" cmpd="sng">
                    <a:solidFill>
                      <a:srgbClr val="000000"/>
                    </a:solidFill>
                    <a:prstDash val="solid"/>
                    <a:miter/>
                    <a:headEnd type="none" w="med" len="med"/>
                    <a:tailEnd type="none" w="med" len="med"/>
                  </a:ln>
                </p:spPr>
                <p:txBody>
                  <a:bodyPr/>
                  <a:p>
                    <a:endParaRPr lang="zh-CN" altLang="en-US" dirty="0">
                      <a:latin typeface="Frutiger 45 Light" pitchFamily="2" charset="0"/>
                    </a:endParaRPr>
                  </a:p>
                </p:txBody>
              </p:sp>
              <p:sp>
                <p:nvSpPr>
                  <p:cNvPr id="7207" name="Freeform 153"/>
                  <p:cNvSpPr/>
                  <p:nvPr/>
                </p:nvSpPr>
                <p:spPr>
                  <a:xfrm>
                    <a:off x="24" y="275"/>
                    <a:ext cx="27" cy="75"/>
                  </a:xfrm>
                  <a:custGeom>
                    <a:avLst/>
                    <a:gdLst>
                      <a:gd name="txL" fmla="*/ 0 w 80"/>
                      <a:gd name="txT" fmla="*/ 0 h 226"/>
                      <a:gd name="txR" fmla="*/ 80 w 80"/>
                      <a:gd name="txB" fmla="*/ 226 h 226"/>
                    </a:gdLst>
                    <a:ahLst/>
                    <a:cxnLst>
                      <a:cxn ang="0">
                        <a:pos x="3" y="0"/>
                      </a:cxn>
                      <a:cxn ang="0">
                        <a:pos x="0" y="3"/>
                      </a:cxn>
                      <a:cxn ang="0">
                        <a:pos x="0" y="5"/>
                      </a:cxn>
                      <a:cxn ang="0">
                        <a:pos x="0" y="8"/>
                      </a:cxn>
                      <a:cxn ang="0">
                        <a:pos x="1" y="8"/>
                      </a:cxn>
                    </a:cxnLst>
                    <a:rect l="txL" t="txT" r="txR" b="txB"/>
                    <a:pathLst>
                      <a:path w="80" h="226">
                        <a:moveTo>
                          <a:pt x="80" y="0"/>
                        </a:moveTo>
                        <a:lnTo>
                          <a:pt x="6" y="80"/>
                        </a:lnTo>
                        <a:lnTo>
                          <a:pt x="0" y="146"/>
                        </a:lnTo>
                        <a:lnTo>
                          <a:pt x="6" y="206"/>
                        </a:lnTo>
                        <a:lnTo>
                          <a:pt x="20" y="226"/>
                        </a:lnTo>
                      </a:path>
                    </a:pathLst>
                  </a:custGeom>
                  <a:noFill/>
                  <a:ln w="4763" cap="flat" cmpd="sng">
                    <a:solidFill>
                      <a:srgbClr val="0020A0"/>
                    </a:solidFill>
                    <a:prstDash val="solid"/>
                    <a:miter/>
                    <a:headEnd type="none" w="med" len="med"/>
                    <a:tailEnd type="none" w="med" len="med"/>
                  </a:ln>
                </p:spPr>
                <p:txBody>
                  <a:bodyPr/>
                  <a:p>
                    <a:endParaRPr lang="zh-CN" altLang="en-US" dirty="0">
                      <a:latin typeface="Frutiger 45 Light" pitchFamily="2" charset="0"/>
                    </a:endParaRPr>
                  </a:p>
                </p:txBody>
              </p:sp>
              <p:sp>
                <p:nvSpPr>
                  <p:cNvPr id="7208" name="Freeform 154"/>
                  <p:cNvSpPr/>
                  <p:nvPr/>
                </p:nvSpPr>
                <p:spPr>
                  <a:xfrm>
                    <a:off x="188" y="241"/>
                    <a:ext cx="61" cy="84"/>
                  </a:xfrm>
                  <a:custGeom>
                    <a:avLst/>
                    <a:gdLst>
                      <a:gd name="txL" fmla="*/ 0 w 183"/>
                      <a:gd name="txT" fmla="*/ 0 h 251"/>
                      <a:gd name="txR" fmla="*/ 183 w 183"/>
                      <a:gd name="txB" fmla="*/ 251 h 251"/>
                    </a:gdLst>
                    <a:ahLst/>
                    <a:cxnLst>
                      <a:cxn ang="0">
                        <a:pos x="0" y="7"/>
                      </a:cxn>
                      <a:cxn ang="0">
                        <a:pos x="1" y="7"/>
                      </a:cxn>
                      <a:cxn ang="0">
                        <a:pos x="2" y="8"/>
                      </a:cxn>
                      <a:cxn ang="0">
                        <a:pos x="1" y="8"/>
                      </a:cxn>
                      <a:cxn ang="0">
                        <a:pos x="2" y="8"/>
                      </a:cxn>
                      <a:cxn ang="0">
                        <a:pos x="3" y="9"/>
                      </a:cxn>
                      <a:cxn ang="0">
                        <a:pos x="3" y="7"/>
                      </a:cxn>
                      <a:cxn ang="0">
                        <a:pos x="5" y="5"/>
                      </a:cxn>
                      <a:cxn ang="0">
                        <a:pos x="6" y="4"/>
                      </a:cxn>
                      <a:cxn ang="0">
                        <a:pos x="7" y="4"/>
                      </a:cxn>
                      <a:cxn ang="0">
                        <a:pos x="6" y="4"/>
                      </a:cxn>
                      <a:cxn ang="0">
                        <a:pos x="4" y="4"/>
                      </a:cxn>
                      <a:cxn ang="0">
                        <a:pos x="3" y="5"/>
                      </a:cxn>
                      <a:cxn ang="0">
                        <a:pos x="3" y="4"/>
                      </a:cxn>
                      <a:cxn ang="0">
                        <a:pos x="4" y="2"/>
                      </a:cxn>
                      <a:cxn ang="0">
                        <a:pos x="6" y="0"/>
                      </a:cxn>
                      <a:cxn ang="0">
                        <a:pos x="4" y="1"/>
                      </a:cxn>
                      <a:cxn ang="0">
                        <a:pos x="3" y="2"/>
                      </a:cxn>
                      <a:cxn ang="0">
                        <a:pos x="2" y="5"/>
                      </a:cxn>
                      <a:cxn ang="0">
                        <a:pos x="2" y="6"/>
                      </a:cxn>
                      <a:cxn ang="0">
                        <a:pos x="2" y="7"/>
                      </a:cxn>
                      <a:cxn ang="0">
                        <a:pos x="1" y="7"/>
                      </a:cxn>
                      <a:cxn ang="0">
                        <a:pos x="0" y="7"/>
                      </a:cxn>
                    </a:cxnLst>
                    <a:rect l="txL" t="txT" r="txR" b="txB"/>
                    <a:pathLst>
                      <a:path w="183" h="251">
                        <a:moveTo>
                          <a:pt x="0" y="182"/>
                        </a:moveTo>
                        <a:lnTo>
                          <a:pt x="30" y="195"/>
                        </a:lnTo>
                        <a:lnTo>
                          <a:pt x="47" y="210"/>
                        </a:lnTo>
                        <a:lnTo>
                          <a:pt x="23" y="219"/>
                        </a:lnTo>
                        <a:lnTo>
                          <a:pt x="54" y="228"/>
                        </a:lnTo>
                        <a:lnTo>
                          <a:pt x="84" y="251"/>
                        </a:lnTo>
                        <a:lnTo>
                          <a:pt x="77" y="190"/>
                        </a:lnTo>
                        <a:lnTo>
                          <a:pt x="125" y="129"/>
                        </a:lnTo>
                        <a:lnTo>
                          <a:pt x="157" y="106"/>
                        </a:lnTo>
                        <a:lnTo>
                          <a:pt x="183" y="95"/>
                        </a:lnTo>
                        <a:lnTo>
                          <a:pt x="161" y="95"/>
                        </a:lnTo>
                        <a:lnTo>
                          <a:pt x="114" y="106"/>
                        </a:lnTo>
                        <a:lnTo>
                          <a:pt x="80" y="133"/>
                        </a:lnTo>
                        <a:lnTo>
                          <a:pt x="88" y="95"/>
                        </a:lnTo>
                        <a:lnTo>
                          <a:pt x="118" y="41"/>
                        </a:lnTo>
                        <a:lnTo>
                          <a:pt x="155" y="0"/>
                        </a:lnTo>
                        <a:lnTo>
                          <a:pt x="118" y="20"/>
                        </a:lnTo>
                        <a:lnTo>
                          <a:pt x="72" y="65"/>
                        </a:lnTo>
                        <a:lnTo>
                          <a:pt x="54" y="122"/>
                        </a:lnTo>
                        <a:lnTo>
                          <a:pt x="54" y="172"/>
                        </a:lnTo>
                        <a:lnTo>
                          <a:pt x="54" y="199"/>
                        </a:lnTo>
                        <a:lnTo>
                          <a:pt x="38" y="176"/>
                        </a:lnTo>
                        <a:lnTo>
                          <a:pt x="0" y="182"/>
                        </a:lnTo>
                        <a:close/>
                      </a:path>
                    </a:pathLst>
                  </a:custGeom>
                  <a:solidFill>
                    <a:srgbClr val="0020A0"/>
                  </a:solidFill>
                  <a:ln w="4763" cap="flat" cmpd="sng">
                    <a:solidFill>
                      <a:srgbClr val="000000"/>
                    </a:solidFill>
                    <a:prstDash val="solid"/>
                    <a:miter/>
                    <a:headEnd type="none" w="med" len="med"/>
                    <a:tailEnd type="none" w="med" len="med"/>
                  </a:ln>
                </p:spPr>
                <p:txBody>
                  <a:bodyPr/>
                  <a:p>
                    <a:endParaRPr lang="zh-CN" altLang="en-US" dirty="0">
                      <a:latin typeface="Frutiger 45 Light" pitchFamily="2" charset="0"/>
                    </a:endParaRPr>
                  </a:p>
                </p:txBody>
              </p:sp>
              <p:sp>
                <p:nvSpPr>
                  <p:cNvPr id="7209" name="Freeform 155"/>
                  <p:cNvSpPr/>
                  <p:nvPr/>
                </p:nvSpPr>
                <p:spPr>
                  <a:xfrm>
                    <a:off x="70" y="221"/>
                    <a:ext cx="25" cy="8"/>
                  </a:xfrm>
                  <a:custGeom>
                    <a:avLst/>
                    <a:gdLst>
                      <a:gd name="txL" fmla="*/ 0 w 74"/>
                      <a:gd name="txT" fmla="*/ 0 h 23"/>
                      <a:gd name="txR" fmla="*/ 74 w 74"/>
                      <a:gd name="txB" fmla="*/ 23 h 23"/>
                    </a:gdLst>
                    <a:ahLst/>
                    <a:cxnLst>
                      <a:cxn ang="0">
                        <a:pos x="0" y="1"/>
                      </a:cxn>
                      <a:cxn ang="0">
                        <a:pos x="1" y="1"/>
                      </a:cxn>
                      <a:cxn ang="0">
                        <a:pos x="2" y="0"/>
                      </a:cxn>
                      <a:cxn ang="0">
                        <a:pos x="3" y="0"/>
                      </a:cxn>
                    </a:cxnLst>
                    <a:rect l="txL" t="txT" r="txR" b="txB"/>
                    <a:pathLst>
                      <a:path w="74" h="23">
                        <a:moveTo>
                          <a:pt x="0" y="23"/>
                        </a:moveTo>
                        <a:lnTo>
                          <a:pt x="23" y="20"/>
                        </a:lnTo>
                        <a:lnTo>
                          <a:pt x="44" y="3"/>
                        </a:lnTo>
                        <a:lnTo>
                          <a:pt x="74" y="0"/>
                        </a:lnTo>
                      </a:path>
                    </a:pathLst>
                  </a:custGeom>
                  <a:noFill/>
                  <a:ln w="4763" cap="flat" cmpd="sng">
                    <a:solidFill>
                      <a:srgbClr val="000000"/>
                    </a:solidFill>
                    <a:prstDash val="solid"/>
                    <a:miter/>
                    <a:headEnd type="none" w="med" len="med"/>
                    <a:tailEnd type="none" w="med" len="med"/>
                  </a:ln>
                </p:spPr>
                <p:txBody>
                  <a:bodyPr/>
                  <a:p>
                    <a:endParaRPr lang="zh-CN" altLang="en-US" dirty="0">
                      <a:latin typeface="Frutiger 45 Light" pitchFamily="2" charset="0"/>
                    </a:endParaRPr>
                  </a:p>
                </p:txBody>
              </p:sp>
              <p:sp>
                <p:nvSpPr>
                  <p:cNvPr id="7210" name="Freeform 156"/>
                  <p:cNvSpPr/>
                  <p:nvPr/>
                </p:nvSpPr>
                <p:spPr>
                  <a:xfrm>
                    <a:off x="201" y="41"/>
                    <a:ext cx="298" cy="180"/>
                  </a:xfrm>
                  <a:custGeom>
                    <a:avLst/>
                    <a:gdLst>
                      <a:gd name="txL" fmla="*/ 0 w 893"/>
                      <a:gd name="txT" fmla="*/ 0 h 539"/>
                      <a:gd name="txR" fmla="*/ 893 w 893"/>
                      <a:gd name="txB" fmla="*/ 539 h 539"/>
                    </a:gdLst>
                    <a:ahLst/>
                    <a:cxnLst>
                      <a:cxn ang="0">
                        <a:pos x="0" y="1"/>
                      </a:cxn>
                      <a:cxn ang="0">
                        <a:pos x="1" y="2"/>
                      </a:cxn>
                      <a:cxn ang="0">
                        <a:pos x="2" y="3"/>
                      </a:cxn>
                      <a:cxn ang="0">
                        <a:pos x="4" y="4"/>
                      </a:cxn>
                      <a:cxn ang="0">
                        <a:pos x="6" y="4"/>
                      </a:cxn>
                      <a:cxn ang="0">
                        <a:pos x="7" y="5"/>
                      </a:cxn>
                      <a:cxn ang="0">
                        <a:pos x="10" y="5"/>
                      </a:cxn>
                      <a:cxn ang="0">
                        <a:pos x="13" y="6"/>
                      </a:cxn>
                      <a:cxn ang="0">
                        <a:pos x="16" y="7"/>
                      </a:cxn>
                      <a:cxn ang="0">
                        <a:pos x="18" y="8"/>
                      </a:cxn>
                      <a:cxn ang="0">
                        <a:pos x="20" y="9"/>
                      </a:cxn>
                      <a:cxn ang="0">
                        <a:pos x="21" y="11"/>
                      </a:cxn>
                      <a:cxn ang="0">
                        <a:pos x="23" y="14"/>
                      </a:cxn>
                      <a:cxn ang="0">
                        <a:pos x="24" y="17"/>
                      </a:cxn>
                      <a:cxn ang="0">
                        <a:pos x="24" y="20"/>
                      </a:cxn>
                      <a:cxn ang="0">
                        <a:pos x="25" y="18"/>
                      </a:cxn>
                      <a:cxn ang="0">
                        <a:pos x="25" y="16"/>
                      </a:cxn>
                      <a:cxn ang="0">
                        <a:pos x="25" y="14"/>
                      </a:cxn>
                      <a:cxn ang="0">
                        <a:pos x="26" y="11"/>
                      </a:cxn>
                      <a:cxn ang="0">
                        <a:pos x="26" y="8"/>
                      </a:cxn>
                      <a:cxn ang="0">
                        <a:pos x="26" y="5"/>
                      </a:cxn>
                      <a:cxn ang="0">
                        <a:pos x="28" y="7"/>
                      </a:cxn>
                      <a:cxn ang="0">
                        <a:pos x="29" y="9"/>
                      </a:cxn>
                      <a:cxn ang="0">
                        <a:pos x="29" y="11"/>
                      </a:cxn>
                      <a:cxn ang="0">
                        <a:pos x="30" y="13"/>
                      </a:cxn>
                      <a:cxn ang="0">
                        <a:pos x="30" y="14"/>
                      </a:cxn>
                      <a:cxn ang="0">
                        <a:pos x="33" y="17"/>
                      </a:cxn>
                      <a:cxn ang="0">
                        <a:pos x="31" y="14"/>
                      </a:cxn>
                      <a:cxn ang="0">
                        <a:pos x="30" y="12"/>
                      </a:cxn>
                      <a:cxn ang="0">
                        <a:pos x="29" y="8"/>
                      </a:cxn>
                      <a:cxn ang="0">
                        <a:pos x="26" y="4"/>
                      </a:cxn>
                      <a:cxn ang="0">
                        <a:pos x="25" y="2"/>
                      </a:cxn>
                      <a:cxn ang="0">
                        <a:pos x="23" y="2"/>
                      </a:cxn>
                      <a:cxn ang="0">
                        <a:pos x="21" y="2"/>
                      </a:cxn>
                      <a:cxn ang="0">
                        <a:pos x="19" y="2"/>
                      </a:cxn>
                      <a:cxn ang="0">
                        <a:pos x="17" y="1"/>
                      </a:cxn>
                      <a:cxn ang="0">
                        <a:pos x="15" y="1"/>
                      </a:cxn>
                      <a:cxn ang="0">
                        <a:pos x="13" y="1"/>
                      </a:cxn>
                      <a:cxn ang="0">
                        <a:pos x="11" y="0"/>
                      </a:cxn>
                      <a:cxn ang="0">
                        <a:pos x="7" y="0"/>
                      </a:cxn>
                      <a:cxn ang="0">
                        <a:pos x="3" y="0"/>
                      </a:cxn>
                      <a:cxn ang="0">
                        <a:pos x="0" y="1"/>
                      </a:cxn>
                    </a:cxnLst>
                    <a:rect l="txL" t="txT" r="txR" b="txB"/>
                    <a:pathLst>
                      <a:path w="893" h="539">
                        <a:moveTo>
                          <a:pt x="0" y="17"/>
                        </a:moveTo>
                        <a:lnTo>
                          <a:pt x="16" y="57"/>
                        </a:lnTo>
                        <a:lnTo>
                          <a:pt x="57" y="94"/>
                        </a:lnTo>
                        <a:lnTo>
                          <a:pt x="96" y="107"/>
                        </a:lnTo>
                        <a:lnTo>
                          <a:pt x="152" y="120"/>
                        </a:lnTo>
                        <a:lnTo>
                          <a:pt x="197" y="134"/>
                        </a:lnTo>
                        <a:lnTo>
                          <a:pt x="270" y="148"/>
                        </a:lnTo>
                        <a:lnTo>
                          <a:pt x="354" y="164"/>
                        </a:lnTo>
                        <a:lnTo>
                          <a:pt x="428" y="187"/>
                        </a:lnTo>
                        <a:lnTo>
                          <a:pt x="476" y="207"/>
                        </a:lnTo>
                        <a:lnTo>
                          <a:pt x="532" y="244"/>
                        </a:lnTo>
                        <a:lnTo>
                          <a:pt x="572" y="295"/>
                        </a:lnTo>
                        <a:lnTo>
                          <a:pt x="609" y="371"/>
                        </a:lnTo>
                        <a:lnTo>
                          <a:pt x="635" y="455"/>
                        </a:lnTo>
                        <a:lnTo>
                          <a:pt x="649" y="539"/>
                        </a:lnTo>
                        <a:lnTo>
                          <a:pt x="663" y="482"/>
                        </a:lnTo>
                        <a:lnTo>
                          <a:pt x="677" y="434"/>
                        </a:lnTo>
                        <a:lnTo>
                          <a:pt x="687" y="364"/>
                        </a:lnTo>
                        <a:lnTo>
                          <a:pt x="689" y="288"/>
                        </a:lnTo>
                        <a:lnTo>
                          <a:pt x="698" y="218"/>
                        </a:lnTo>
                        <a:lnTo>
                          <a:pt x="699" y="128"/>
                        </a:lnTo>
                        <a:lnTo>
                          <a:pt x="750" y="192"/>
                        </a:lnTo>
                        <a:lnTo>
                          <a:pt x="773" y="252"/>
                        </a:lnTo>
                        <a:lnTo>
                          <a:pt x="794" y="306"/>
                        </a:lnTo>
                        <a:lnTo>
                          <a:pt x="807" y="357"/>
                        </a:lnTo>
                        <a:lnTo>
                          <a:pt x="814" y="389"/>
                        </a:lnTo>
                        <a:lnTo>
                          <a:pt x="893" y="450"/>
                        </a:lnTo>
                        <a:lnTo>
                          <a:pt x="828" y="379"/>
                        </a:lnTo>
                        <a:lnTo>
                          <a:pt x="814" y="325"/>
                        </a:lnTo>
                        <a:lnTo>
                          <a:pt x="778" y="210"/>
                        </a:lnTo>
                        <a:lnTo>
                          <a:pt x="706" y="107"/>
                        </a:lnTo>
                        <a:lnTo>
                          <a:pt x="670" y="46"/>
                        </a:lnTo>
                        <a:lnTo>
                          <a:pt x="620" y="50"/>
                        </a:lnTo>
                        <a:lnTo>
                          <a:pt x="579" y="50"/>
                        </a:lnTo>
                        <a:lnTo>
                          <a:pt x="522" y="50"/>
                        </a:lnTo>
                        <a:lnTo>
                          <a:pt x="458" y="40"/>
                        </a:lnTo>
                        <a:lnTo>
                          <a:pt x="401" y="40"/>
                        </a:lnTo>
                        <a:lnTo>
                          <a:pt x="358" y="20"/>
                        </a:lnTo>
                        <a:lnTo>
                          <a:pt x="290" y="3"/>
                        </a:lnTo>
                        <a:lnTo>
                          <a:pt x="197" y="0"/>
                        </a:lnTo>
                        <a:lnTo>
                          <a:pt x="70" y="10"/>
                        </a:lnTo>
                        <a:lnTo>
                          <a:pt x="0" y="17"/>
                        </a:lnTo>
                        <a:close/>
                      </a:path>
                    </a:pathLst>
                  </a:custGeom>
                  <a:solidFill>
                    <a:srgbClr val="0020A0"/>
                  </a:solidFill>
                  <a:ln w="4763" cap="flat" cmpd="sng">
                    <a:solidFill>
                      <a:srgbClr val="0020A0"/>
                    </a:solidFill>
                    <a:prstDash val="solid"/>
                    <a:miter/>
                    <a:headEnd type="none" w="med" len="med"/>
                    <a:tailEnd type="none" w="med" len="med"/>
                  </a:ln>
                </p:spPr>
                <p:txBody>
                  <a:bodyPr/>
                  <a:p>
                    <a:endParaRPr lang="zh-CN" altLang="en-US" dirty="0">
                      <a:latin typeface="Frutiger 45 Light" pitchFamily="2" charset="0"/>
                    </a:endParaRPr>
                  </a:p>
                </p:txBody>
              </p:sp>
              <p:sp>
                <p:nvSpPr>
                  <p:cNvPr id="7211" name="Freeform 157"/>
                  <p:cNvSpPr/>
                  <p:nvPr/>
                </p:nvSpPr>
                <p:spPr>
                  <a:xfrm>
                    <a:off x="198" y="14"/>
                    <a:ext cx="321" cy="208"/>
                  </a:xfrm>
                  <a:custGeom>
                    <a:avLst/>
                    <a:gdLst>
                      <a:gd name="txL" fmla="*/ 0 w 962"/>
                      <a:gd name="txT" fmla="*/ 0 h 623"/>
                      <a:gd name="txR" fmla="*/ 962 w 962"/>
                      <a:gd name="txB" fmla="*/ 623 h 623"/>
                    </a:gdLst>
                    <a:ahLst/>
                    <a:cxnLst>
                      <a:cxn ang="0">
                        <a:pos x="0" y="1"/>
                      </a:cxn>
                      <a:cxn ang="0">
                        <a:pos x="1" y="2"/>
                      </a:cxn>
                      <a:cxn ang="0">
                        <a:pos x="2" y="4"/>
                      </a:cxn>
                      <a:cxn ang="0">
                        <a:pos x="4" y="4"/>
                      </a:cxn>
                      <a:cxn ang="0">
                        <a:pos x="6" y="4"/>
                      </a:cxn>
                      <a:cxn ang="0">
                        <a:pos x="7" y="5"/>
                      </a:cxn>
                      <a:cxn ang="0">
                        <a:pos x="10" y="6"/>
                      </a:cxn>
                      <a:cxn ang="0">
                        <a:pos x="13" y="6"/>
                      </a:cxn>
                      <a:cxn ang="0">
                        <a:pos x="16" y="7"/>
                      </a:cxn>
                      <a:cxn ang="0">
                        <a:pos x="18" y="8"/>
                      </a:cxn>
                      <a:cxn ang="0">
                        <a:pos x="19" y="10"/>
                      </a:cxn>
                      <a:cxn ang="0">
                        <a:pos x="21" y="11"/>
                      </a:cxn>
                      <a:cxn ang="0">
                        <a:pos x="23" y="14"/>
                      </a:cxn>
                      <a:cxn ang="0">
                        <a:pos x="24" y="17"/>
                      </a:cxn>
                      <a:cxn ang="0">
                        <a:pos x="25" y="20"/>
                      </a:cxn>
                      <a:cxn ang="0">
                        <a:pos x="25" y="18"/>
                      </a:cxn>
                      <a:cxn ang="0">
                        <a:pos x="26" y="16"/>
                      </a:cxn>
                      <a:cxn ang="0">
                        <a:pos x="26" y="13"/>
                      </a:cxn>
                      <a:cxn ang="0">
                        <a:pos x="26" y="10"/>
                      </a:cxn>
                      <a:cxn ang="0">
                        <a:pos x="26" y="8"/>
                      </a:cxn>
                      <a:cxn ang="0">
                        <a:pos x="26" y="7"/>
                      </a:cxn>
                      <a:cxn ang="0">
                        <a:pos x="27" y="8"/>
                      </a:cxn>
                      <a:cxn ang="0">
                        <a:pos x="29" y="10"/>
                      </a:cxn>
                      <a:cxn ang="0">
                        <a:pos x="31" y="17"/>
                      </a:cxn>
                      <a:cxn ang="0">
                        <a:pos x="34" y="20"/>
                      </a:cxn>
                      <a:cxn ang="0">
                        <a:pos x="36" y="23"/>
                      </a:cxn>
                      <a:cxn ang="0">
                        <a:pos x="34" y="19"/>
                      </a:cxn>
                      <a:cxn ang="0">
                        <a:pos x="32" y="18"/>
                      </a:cxn>
                      <a:cxn ang="0">
                        <a:pos x="30" y="12"/>
                      </a:cxn>
                      <a:cxn ang="0">
                        <a:pos x="29" y="8"/>
                      </a:cxn>
                      <a:cxn ang="0">
                        <a:pos x="26" y="4"/>
                      </a:cxn>
                      <a:cxn ang="0">
                        <a:pos x="25" y="2"/>
                      </a:cxn>
                      <a:cxn ang="0">
                        <a:pos x="23" y="2"/>
                      </a:cxn>
                      <a:cxn ang="0">
                        <a:pos x="22" y="2"/>
                      </a:cxn>
                      <a:cxn ang="0">
                        <a:pos x="19" y="2"/>
                      </a:cxn>
                      <a:cxn ang="0">
                        <a:pos x="17" y="2"/>
                      </a:cxn>
                      <a:cxn ang="0">
                        <a:pos x="15" y="2"/>
                      </a:cxn>
                      <a:cxn ang="0">
                        <a:pos x="13" y="1"/>
                      </a:cxn>
                      <a:cxn ang="0">
                        <a:pos x="11" y="0"/>
                      </a:cxn>
                      <a:cxn ang="0">
                        <a:pos x="7" y="0"/>
                      </a:cxn>
                      <a:cxn ang="0">
                        <a:pos x="3" y="0"/>
                      </a:cxn>
                      <a:cxn ang="0">
                        <a:pos x="0" y="1"/>
                      </a:cxn>
                    </a:cxnLst>
                    <a:rect l="txL" t="txT" r="txR" b="txB"/>
                    <a:pathLst>
                      <a:path w="962" h="623">
                        <a:moveTo>
                          <a:pt x="0" y="17"/>
                        </a:moveTo>
                        <a:lnTo>
                          <a:pt x="17" y="57"/>
                        </a:lnTo>
                        <a:lnTo>
                          <a:pt x="58" y="95"/>
                        </a:lnTo>
                        <a:lnTo>
                          <a:pt x="98" y="107"/>
                        </a:lnTo>
                        <a:lnTo>
                          <a:pt x="153" y="121"/>
                        </a:lnTo>
                        <a:lnTo>
                          <a:pt x="197" y="135"/>
                        </a:lnTo>
                        <a:lnTo>
                          <a:pt x="271" y="149"/>
                        </a:lnTo>
                        <a:lnTo>
                          <a:pt x="355" y="164"/>
                        </a:lnTo>
                        <a:lnTo>
                          <a:pt x="428" y="188"/>
                        </a:lnTo>
                        <a:lnTo>
                          <a:pt x="475" y="215"/>
                        </a:lnTo>
                        <a:lnTo>
                          <a:pt x="525" y="262"/>
                        </a:lnTo>
                        <a:lnTo>
                          <a:pt x="570" y="306"/>
                        </a:lnTo>
                        <a:lnTo>
                          <a:pt x="610" y="372"/>
                        </a:lnTo>
                        <a:lnTo>
                          <a:pt x="641" y="452"/>
                        </a:lnTo>
                        <a:lnTo>
                          <a:pt x="661" y="543"/>
                        </a:lnTo>
                        <a:lnTo>
                          <a:pt x="678" y="480"/>
                        </a:lnTo>
                        <a:lnTo>
                          <a:pt x="688" y="424"/>
                        </a:lnTo>
                        <a:lnTo>
                          <a:pt x="689" y="356"/>
                        </a:lnTo>
                        <a:lnTo>
                          <a:pt x="701" y="279"/>
                        </a:lnTo>
                        <a:lnTo>
                          <a:pt x="698" y="215"/>
                        </a:lnTo>
                        <a:lnTo>
                          <a:pt x="712" y="201"/>
                        </a:lnTo>
                        <a:lnTo>
                          <a:pt x="735" y="229"/>
                        </a:lnTo>
                        <a:lnTo>
                          <a:pt x="771" y="268"/>
                        </a:lnTo>
                        <a:lnTo>
                          <a:pt x="836" y="449"/>
                        </a:lnTo>
                        <a:lnTo>
                          <a:pt x="912" y="550"/>
                        </a:lnTo>
                        <a:lnTo>
                          <a:pt x="962" y="623"/>
                        </a:lnTo>
                        <a:lnTo>
                          <a:pt x="908" y="523"/>
                        </a:lnTo>
                        <a:lnTo>
                          <a:pt x="873" y="491"/>
                        </a:lnTo>
                        <a:lnTo>
                          <a:pt x="815" y="325"/>
                        </a:lnTo>
                        <a:lnTo>
                          <a:pt x="778" y="211"/>
                        </a:lnTo>
                        <a:lnTo>
                          <a:pt x="709" y="107"/>
                        </a:lnTo>
                        <a:lnTo>
                          <a:pt x="671" y="47"/>
                        </a:lnTo>
                        <a:lnTo>
                          <a:pt x="621" y="50"/>
                        </a:lnTo>
                        <a:lnTo>
                          <a:pt x="580" y="50"/>
                        </a:lnTo>
                        <a:lnTo>
                          <a:pt x="523" y="50"/>
                        </a:lnTo>
                        <a:lnTo>
                          <a:pt x="459" y="41"/>
                        </a:lnTo>
                        <a:lnTo>
                          <a:pt x="402" y="41"/>
                        </a:lnTo>
                        <a:lnTo>
                          <a:pt x="358" y="19"/>
                        </a:lnTo>
                        <a:lnTo>
                          <a:pt x="291" y="3"/>
                        </a:lnTo>
                        <a:lnTo>
                          <a:pt x="197" y="0"/>
                        </a:lnTo>
                        <a:lnTo>
                          <a:pt x="71" y="11"/>
                        </a:lnTo>
                        <a:lnTo>
                          <a:pt x="0" y="17"/>
                        </a:lnTo>
                        <a:close/>
                      </a:path>
                    </a:pathLst>
                  </a:custGeom>
                  <a:solidFill>
                    <a:srgbClr val="4080FF"/>
                  </a:solidFill>
                  <a:ln w="4763" cap="flat" cmpd="sng">
                    <a:solidFill>
                      <a:srgbClr val="000000"/>
                    </a:solidFill>
                    <a:prstDash val="solid"/>
                    <a:miter/>
                    <a:headEnd type="none" w="med" len="med"/>
                    <a:tailEnd type="none" w="med" len="med"/>
                  </a:ln>
                </p:spPr>
                <p:txBody>
                  <a:bodyPr/>
                  <a:p>
                    <a:endParaRPr lang="zh-CN" altLang="en-US" dirty="0">
                      <a:latin typeface="Frutiger 45 Light" pitchFamily="2" charset="0"/>
                    </a:endParaRPr>
                  </a:p>
                </p:txBody>
              </p:sp>
            </p:grpSp>
            <p:sp>
              <p:nvSpPr>
                <p:cNvPr id="7212" name="Freeform 158"/>
                <p:cNvSpPr/>
                <p:nvPr/>
              </p:nvSpPr>
              <p:spPr>
                <a:xfrm>
                  <a:off x="19" y="0"/>
                  <a:ext cx="326" cy="525"/>
                </a:xfrm>
                <a:custGeom>
                  <a:avLst/>
                  <a:gdLst>
                    <a:gd name="txL" fmla="*/ 0 w 978"/>
                    <a:gd name="txT" fmla="*/ 0 h 1575"/>
                    <a:gd name="txR" fmla="*/ 978 w 978"/>
                    <a:gd name="txB" fmla="*/ 1575 h 1575"/>
                  </a:gdLst>
                  <a:ahLst/>
                  <a:cxnLst>
                    <a:cxn ang="0">
                      <a:pos x="19" y="41"/>
                    </a:cxn>
                    <a:cxn ang="0">
                      <a:pos x="21" y="34"/>
                    </a:cxn>
                    <a:cxn ang="0">
                      <a:pos x="23" y="25"/>
                    </a:cxn>
                    <a:cxn ang="0">
                      <a:pos x="22" y="19"/>
                    </a:cxn>
                    <a:cxn ang="0">
                      <a:pos x="25" y="18"/>
                    </a:cxn>
                    <a:cxn ang="0">
                      <a:pos x="26" y="15"/>
                    </a:cxn>
                    <a:cxn ang="0">
                      <a:pos x="27" y="13"/>
                    </a:cxn>
                    <a:cxn ang="0">
                      <a:pos x="28" y="14"/>
                    </a:cxn>
                    <a:cxn ang="0">
                      <a:pos x="30" y="14"/>
                    </a:cxn>
                    <a:cxn ang="0">
                      <a:pos x="29" y="15"/>
                    </a:cxn>
                    <a:cxn ang="0">
                      <a:pos x="30" y="16"/>
                    </a:cxn>
                    <a:cxn ang="0">
                      <a:pos x="31" y="15"/>
                    </a:cxn>
                    <a:cxn ang="0">
                      <a:pos x="30" y="12"/>
                    </a:cxn>
                    <a:cxn ang="0">
                      <a:pos x="31" y="11"/>
                    </a:cxn>
                    <a:cxn ang="0">
                      <a:pos x="34" y="14"/>
                    </a:cxn>
                    <a:cxn ang="0">
                      <a:pos x="35" y="12"/>
                    </a:cxn>
                    <a:cxn ang="0">
                      <a:pos x="33" y="10"/>
                    </a:cxn>
                    <a:cxn ang="0">
                      <a:pos x="28" y="7"/>
                    </a:cxn>
                    <a:cxn ang="0">
                      <a:pos x="33" y="8"/>
                    </a:cxn>
                    <a:cxn ang="0">
                      <a:pos x="36" y="10"/>
                    </a:cxn>
                    <a:cxn ang="0">
                      <a:pos x="36" y="8"/>
                    </a:cxn>
                    <a:cxn ang="0">
                      <a:pos x="34" y="6"/>
                    </a:cxn>
                    <a:cxn ang="0">
                      <a:pos x="29" y="5"/>
                    </a:cxn>
                    <a:cxn ang="0">
                      <a:pos x="28" y="4"/>
                    </a:cxn>
                    <a:cxn ang="0">
                      <a:pos x="32" y="4"/>
                    </a:cxn>
                    <a:cxn ang="0">
                      <a:pos x="34" y="6"/>
                    </a:cxn>
                    <a:cxn ang="0">
                      <a:pos x="36" y="5"/>
                    </a:cxn>
                    <a:cxn ang="0">
                      <a:pos x="35" y="4"/>
                    </a:cxn>
                    <a:cxn ang="0">
                      <a:pos x="30" y="1"/>
                    </a:cxn>
                    <a:cxn ang="0">
                      <a:pos x="24" y="2"/>
                    </a:cxn>
                    <a:cxn ang="0">
                      <a:pos x="20" y="4"/>
                    </a:cxn>
                    <a:cxn ang="0">
                      <a:pos x="18" y="0"/>
                    </a:cxn>
                    <a:cxn ang="0">
                      <a:pos x="14" y="0"/>
                    </a:cxn>
                    <a:cxn ang="0">
                      <a:pos x="15" y="2"/>
                    </a:cxn>
                    <a:cxn ang="0">
                      <a:pos x="16" y="5"/>
                    </a:cxn>
                    <a:cxn ang="0">
                      <a:pos x="16" y="9"/>
                    </a:cxn>
                    <a:cxn ang="0">
                      <a:pos x="15" y="11"/>
                    </a:cxn>
                    <a:cxn ang="0">
                      <a:pos x="14" y="14"/>
                    </a:cxn>
                    <a:cxn ang="0">
                      <a:pos x="15" y="18"/>
                    </a:cxn>
                    <a:cxn ang="0">
                      <a:pos x="14" y="24"/>
                    </a:cxn>
                    <a:cxn ang="0">
                      <a:pos x="12" y="30"/>
                    </a:cxn>
                    <a:cxn ang="0">
                      <a:pos x="9" y="33"/>
                    </a:cxn>
                    <a:cxn ang="0">
                      <a:pos x="5" y="37"/>
                    </a:cxn>
                    <a:cxn ang="0">
                      <a:pos x="1" y="43"/>
                    </a:cxn>
                    <a:cxn ang="0">
                      <a:pos x="0" y="48"/>
                    </a:cxn>
                    <a:cxn ang="0">
                      <a:pos x="0" y="51"/>
                    </a:cxn>
                    <a:cxn ang="0">
                      <a:pos x="1" y="56"/>
                    </a:cxn>
                    <a:cxn ang="0">
                      <a:pos x="3" y="58"/>
                    </a:cxn>
                    <a:cxn ang="0">
                      <a:pos x="6" y="58"/>
                    </a:cxn>
                    <a:cxn ang="0">
                      <a:pos x="9" y="56"/>
                    </a:cxn>
                    <a:cxn ang="0">
                      <a:pos x="11" y="52"/>
                    </a:cxn>
                    <a:cxn ang="0">
                      <a:pos x="14" y="48"/>
                    </a:cxn>
                  </a:cxnLst>
                  <a:rect l="txL" t="txT" r="txR" b="txB"/>
                  <a:pathLst>
                    <a:path w="978" h="1575">
                      <a:moveTo>
                        <a:pt x="430" y="1212"/>
                      </a:moveTo>
                      <a:lnTo>
                        <a:pt x="503" y="1103"/>
                      </a:lnTo>
                      <a:lnTo>
                        <a:pt x="530" y="1029"/>
                      </a:lnTo>
                      <a:lnTo>
                        <a:pt x="566" y="908"/>
                      </a:lnTo>
                      <a:lnTo>
                        <a:pt x="589" y="794"/>
                      </a:lnTo>
                      <a:lnTo>
                        <a:pt x="610" y="673"/>
                      </a:lnTo>
                      <a:lnTo>
                        <a:pt x="607" y="593"/>
                      </a:lnTo>
                      <a:lnTo>
                        <a:pt x="600" y="520"/>
                      </a:lnTo>
                      <a:lnTo>
                        <a:pt x="637" y="507"/>
                      </a:lnTo>
                      <a:lnTo>
                        <a:pt x="669" y="485"/>
                      </a:lnTo>
                      <a:lnTo>
                        <a:pt x="691" y="452"/>
                      </a:lnTo>
                      <a:lnTo>
                        <a:pt x="710" y="409"/>
                      </a:lnTo>
                      <a:lnTo>
                        <a:pt x="717" y="376"/>
                      </a:lnTo>
                      <a:lnTo>
                        <a:pt x="719" y="354"/>
                      </a:lnTo>
                      <a:lnTo>
                        <a:pt x="734" y="369"/>
                      </a:lnTo>
                      <a:lnTo>
                        <a:pt x="750" y="376"/>
                      </a:lnTo>
                      <a:lnTo>
                        <a:pt x="773" y="384"/>
                      </a:lnTo>
                      <a:lnTo>
                        <a:pt x="801" y="379"/>
                      </a:lnTo>
                      <a:lnTo>
                        <a:pt x="774" y="393"/>
                      </a:lnTo>
                      <a:lnTo>
                        <a:pt x="770" y="416"/>
                      </a:lnTo>
                      <a:lnTo>
                        <a:pt x="781" y="433"/>
                      </a:lnTo>
                      <a:lnTo>
                        <a:pt x="805" y="438"/>
                      </a:lnTo>
                      <a:lnTo>
                        <a:pt x="834" y="423"/>
                      </a:lnTo>
                      <a:lnTo>
                        <a:pt x="850" y="394"/>
                      </a:lnTo>
                      <a:lnTo>
                        <a:pt x="840" y="350"/>
                      </a:lnTo>
                      <a:lnTo>
                        <a:pt x="821" y="318"/>
                      </a:lnTo>
                      <a:lnTo>
                        <a:pt x="744" y="272"/>
                      </a:lnTo>
                      <a:lnTo>
                        <a:pt x="844" y="301"/>
                      </a:lnTo>
                      <a:lnTo>
                        <a:pt x="894" y="359"/>
                      </a:lnTo>
                      <a:lnTo>
                        <a:pt x="916" y="365"/>
                      </a:lnTo>
                      <a:lnTo>
                        <a:pt x="934" y="353"/>
                      </a:lnTo>
                      <a:lnTo>
                        <a:pt x="941" y="326"/>
                      </a:lnTo>
                      <a:lnTo>
                        <a:pt x="928" y="298"/>
                      </a:lnTo>
                      <a:lnTo>
                        <a:pt x="894" y="258"/>
                      </a:lnTo>
                      <a:lnTo>
                        <a:pt x="834" y="224"/>
                      </a:lnTo>
                      <a:lnTo>
                        <a:pt x="756" y="201"/>
                      </a:lnTo>
                      <a:lnTo>
                        <a:pt x="826" y="199"/>
                      </a:lnTo>
                      <a:lnTo>
                        <a:pt x="883" y="227"/>
                      </a:lnTo>
                      <a:lnTo>
                        <a:pt x="941" y="272"/>
                      </a:lnTo>
                      <a:lnTo>
                        <a:pt x="961" y="272"/>
                      </a:lnTo>
                      <a:lnTo>
                        <a:pt x="978" y="253"/>
                      </a:lnTo>
                      <a:lnTo>
                        <a:pt x="975" y="224"/>
                      </a:lnTo>
                      <a:lnTo>
                        <a:pt x="943" y="190"/>
                      </a:lnTo>
                      <a:lnTo>
                        <a:pt x="906" y="165"/>
                      </a:lnTo>
                      <a:lnTo>
                        <a:pt x="839" y="132"/>
                      </a:lnTo>
                      <a:lnTo>
                        <a:pt x="787" y="127"/>
                      </a:lnTo>
                      <a:lnTo>
                        <a:pt x="719" y="144"/>
                      </a:lnTo>
                      <a:lnTo>
                        <a:pt x="760" y="116"/>
                      </a:lnTo>
                      <a:lnTo>
                        <a:pt x="805" y="113"/>
                      </a:lnTo>
                      <a:lnTo>
                        <a:pt x="853" y="116"/>
                      </a:lnTo>
                      <a:lnTo>
                        <a:pt x="874" y="139"/>
                      </a:lnTo>
                      <a:lnTo>
                        <a:pt x="917" y="161"/>
                      </a:lnTo>
                      <a:lnTo>
                        <a:pt x="951" y="161"/>
                      </a:lnTo>
                      <a:lnTo>
                        <a:pt x="961" y="144"/>
                      </a:lnTo>
                      <a:lnTo>
                        <a:pt x="959" y="120"/>
                      </a:lnTo>
                      <a:lnTo>
                        <a:pt x="937" y="97"/>
                      </a:lnTo>
                      <a:lnTo>
                        <a:pt x="880" y="57"/>
                      </a:lnTo>
                      <a:lnTo>
                        <a:pt x="821" y="36"/>
                      </a:lnTo>
                      <a:lnTo>
                        <a:pt x="736" y="40"/>
                      </a:lnTo>
                      <a:lnTo>
                        <a:pt x="657" y="57"/>
                      </a:lnTo>
                      <a:lnTo>
                        <a:pt x="600" y="86"/>
                      </a:lnTo>
                      <a:lnTo>
                        <a:pt x="547" y="116"/>
                      </a:lnTo>
                      <a:lnTo>
                        <a:pt x="513" y="66"/>
                      </a:lnTo>
                      <a:lnTo>
                        <a:pt x="477" y="12"/>
                      </a:lnTo>
                      <a:lnTo>
                        <a:pt x="435" y="0"/>
                      </a:lnTo>
                      <a:lnTo>
                        <a:pt x="391" y="6"/>
                      </a:lnTo>
                      <a:lnTo>
                        <a:pt x="370" y="30"/>
                      </a:lnTo>
                      <a:lnTo>
                        <a:pt x="404" y="63"/>
                      </a:lnTo>
                      <a:lnTo>
                        <a:pt x="424" y="97"/>
                      </a:lnTo>
                      <a:lnTo>
                        <a:pt x="430" y="131"/>
                      </a:lnTo>
                      <a:lnTo>
                        <a:pt x="441" y="191"/>
                      </a:lnTo>
                      <a:lnTo>
                        <a:pt x="430" y="232"/>
                      </a:lnTo>
                      <a:lnTo>
                        <a:pt x="418" y="269"/>
                      </a:lnTo>
                      <a:lnTo>
                        <a:pt x="397" y="298"/>
                      </a:lnTo>
                      <a:lnTo>
                        <a:pt x="388" y="335"/>
                      </a:lnTo>
                      <a:lnTo>
                        <a:pt x="388" y="385"/>
                      </a:lnTo>
                      <a:lnTo>
                        <a:pt x="397" y="439"/>
                      </a:lnTo>
                      <a:lnTo>
                        <a:pt x="411" y="479"/>
                      </a:lnTo>
                      <a:lnTo>
                        <a:pt x="391" y="566"/>
                      </a:lnTo>
                      <a:lnTo>
                        <a:pt x="365" y="660"/>
                      </a:lnTo>
                      <a:lnTo>
                        <a:pt x="337" y="735"/>
                      </a:lnTo>
                      <a:lnTo>
                        <a:pt x="312" y="807"/>
                      </a:lnTo>
                      <a:lnTo>
                        <a:pt x="285" y="854"/>
                      </a:lnTo>
                      <a:lnTo>
                        <a:pt x="252" y="904"/>
                      </a:lnTo>
                      <a:lnTo>
                        <a:pt x="205" y="947"/>
                      </a:lnTo>
                      <a:lnTo>
                        <a:pt x="140" y="995"/>
                      </a:lnTo>
                      <a:lnTo>
                        <a:pt x="86" y="1070"/>
                      </a:lnTo>
                      <a:lnTo>
                        <a:pt x="37" y="1167"/>
                      </a:lnTo>
                      <a:lnTo>
                        <a:pt x="17" y="1235"/>
                      </a:lnTo>
                      <a:lnTo>
                        <a:pt x="3" y="1286"/>
                      </a:lnTo>
                      <a:lnTo>
                        <a:pt x="3" y="1334"/>
                      </a:lnTo>
                      <a:lnTo>
                        <a:pt x="0" y="1384"/>
                      </a:lnTo>
                      <a:lnTo>
                        <a:pt x="3" y="1445"/>
                      </a:lnTo>
                      <a:lnTo>
                        <a:pt x="20" y="1501"/>
                      </a:lnTo>
                      <a:lnTo>
                        <a:pt x="49" y="1536"/>
                      </a:lnTo>
                      <a:lnTo>
                        <a:pt x="76" y="1555"/>
                      </a:lnTo>
                      <a:lnTo>
                        <a:pt x="110" y="1570"/>
                      </a:lnTo>
                      <a:lnTo>
                        <a:pt x="164" y="1575"/>
                      </a:lnTo>
                      <a:lnTo>
                        <a:pt x="208" y="1563"/>
                      </a:lnTo>
                      <a:lnTo>
                        <a:pt x="247" y="1523"/>
                      </a:lnTo>
                      <a:lnTo>
                        <a:pt x="275" y="1468"/>
                      </a:lnTo>
                      <a:lnTo>
                        <a:pt x="285" y="1404"/>
                      </a:lnTo>
                      <a:lnTo>
                        <a:pt x="327" y="1340"/>
                      </a:lnTo>
                      <a:lnTo>
                        <a:pt x="378" y="1284"/>
                      </a:lnTo>
                      <a:lnTo>
                        <a:pt x="430" y="1212"/>
                      </a:lnTo>
                      <a:close/>
                    </a:path>
                  </a:pathLst>
                </a:custGeom>
                <a:solidFill>
                  <a:srgbClr val="E0A080"/>
                </a:solidFill>
                <a:ln w="4763" cap="flat" cmpd="sng">
                  <a:solidFill>
                    <a:srgbClr val="000000"/>
                  </a:solidFill>
                  <a:prstDash val="solid"/>
                  <a:miter/>
                  <a:headEnd type="none" w="med" len="med"/>
                  <a:tailEnd type="none" w="med" len="med"/>
                </a:ln>
              </p:spPr>
              <p:txBody>
                <a:bodyPr/>
                <a:p>
                  <a:endParaRPr lang="zh-CN" altLang="en-US" dirty="0">
                    <a:latin typeface="Frutiger 45 Light" pitchFamily="2" charset="0"/>
                  </a:endParaRPr>
                </a:p>
              </p:txBody>
            </p:sp>
          </p:grpSp>
        </p:grpSp>
        <p:sp>
          <p:nvSpPr>
            <p:cNvPr id="7213" name="Text Box 159"/>
            <p:cNvSpPr txBox="1"/>
            <p:nvPr/>
          </p:nvSpPr>
          <p:spPr>
            <a:xfrm rot="1794649">
              <a:off x="352" y="0"/>
              <a:ext cx="159" cy="119"/>
            </a:xfrm>
            <a:prstGeom prst="rect">
              <a:avLst/>
            </a:prstGeom>
            <a:noFill/>
            <a:ln w="9525">
              <a:noFill/>
            </a:ln>
          </p:spPr>
          <p:txBody>
            <a:bodyPr>
              <a:spAutoFit/>
            </a:bodyPr>
            <a:p>
              <a:pPr algn="l">
                <a:spcBef>
                  <a:spcPct val="50000"/>
                </a:spcBef>
              </a:pPr>
              <a:r>
                <a:rPr lang="en-US" altLang="zh-CN" sz="1800" dirty="0">
                  <a:solidFill>
                    <a:srgbClr val="FF0000"/>
                  </a:solidFill>
                  <a:latin typeface="Book Antiqua" panose="02040602050305030304" pitchFamily="18" charset="0"/>
                  <a:ea typeface="楷体" panose="02010609060101010101" pitchFamily="1" charset="-122"/>
                </a:rPr>
                <a:t>?</a:t>
              </a:r>
              <a:endParaRPr lang="en-US" altLang="zh-CN" sz="1800" dirty="0">
                <a:solidFill>
                  <a:srgbClr val="FF0000"/>
                </a:solidFill>
                <a:latin typeface="Book Antiqua" panose="02040602050305030304" pitchFamily="18" charset="0"/>
                <a:ea typeface="楷体" panose="02010609060101010101" pitchFamily="1" charset="-122"/>
              </a:endParaRPr>
            </a:p>
          </p:txBody>
        </p:sp>
        <p:sp>
          <p:nvSpPr>
            <p:cNvPr id="7214" name="Text Box 160"/>
            <p:cNvSpPr txBox="1"/>
            <p:nvPr/>
          </p:nvSpPr>
          <p:spPr>
            <a:xfrm rot="3621998">
              <a:off x="472" y="105"/>
              <a:ext cx="159" cy="117"/>
            </a:xfrm>
            <a:prstGeom prst="rect">
              <a:avLst/>
            </a:prstGeom>
            <a:noFill/>
            <a:ln w="9525">
              <a:noFill/>
            </a:ln>
          </p:spPr>
          <p:txBody>
            <a:bodyPr>
              <a:spAutoFit/>
            </a:bodyPr>
            <a:p>
              <a:pPr algn="l">
                <a:spcBef>
                  <a:spcPct val="50000"/>
                </a:spcBef>
              </a:pPr>
              <a:r>
                <a:rPr lang="en-US" altLang="zh-CN" sz="1800" dirty="0">
                  <a:solidFill>
                    <a:srgbClr val="FF0000"/>
                  </a:solidFill>
                  <a:latin typeface="Book Antiqua" panose="02040602050305030304" pitchFamily="18" charset="0"/>
                  <a:ea typeface="楷体" panose="02010609060101010101" pitchFamily="1" charset="-122"/>
                </a:rPr>
                <a:t>?</a:t>
              </a:r>
              <a:endParaRPr lang="en-US" altLang="zh-CN" sz="1800" dirty="0">
                <a:solidFill>
                  <a:srgbClr val="FF0000"/>
                </a:solidFill>
                <a:latin typeface="Book Antiqua" panose="02040602050305030304" pitchFamily="18" charset="0"/>
                <a:ea typeface="楷体" panose="02010609060101010101" pitchFamily="1" charset="-122"/>
              </a:endParaRPr>
            </a:p>
          </p:txBody>
        </p:sp>
        <p:sp>
          <p:nvSpPr>
            <p:cNvPr id="7215" name="Text Box 161"/>
            <p:cNvSpPr txBox="1"/>
            <p:nvPr/>
          </p:nvSpPr>
          <p:spPr>
            <a:xfrm rot="19854470">
              <a:off x="130" y="13"/>
              <a:ext cx="159" cy="119"/>
            </a:xfrm>
            <a:prstGeom prst="rect">
              <a:avLst/>
            </a:prstGeom>
            <a:noFill/>
            <a:ln w="9525">
              <a:noFill/>
            </a:ln>
          </p:spPr>
          <p:txBody>
            <a:bodyPr>
              <a:spAutoFit/>
            </a:bodyPr>
            <a:p>
              <a:pPr algn="l">
                <a:spcBef>
                  <a:spcPct val="50000"/>
                </a:spcBef>
              </a:pPr>
              <a:r>
                <a:rPr lang="en-US" altLang="zh-CN" sz="1800" dirty="0">
                  <a:solidFill>
                    <a:srgbClr val="FF0000"/>
                  </a:solidFill>
                  <a:latin typeface="Book Antiqua" panose="02040602050305030304" pitchFamily="18" charset="0"/>
                  <a:ea typeface="楷体" panose="02010609060101010101" pitchFamily="1" charset="-122"/>
                </a:rPr>
                <a:t>?</a:t>
              </a:r>
              <a:endParaRPr lang="en-US" altLang="zh-CN" sz="1800" dirty="0">
                <a:solidFill>
                  <a:srgbClr val="FF0000"/>
                </a:solidFill>
                <a:latin typeface="Book Antiqua" panose="02040602050305030304" pitchFamily="18" charset="0"/>
                <a:ea typeface="楷体" panose="02010609060101010101" pitchFamily="1"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170">
                                            <p:txEl>
                                              <p:charRg st="0" end="4"/>
                                            </p:txEl>
                                          </p:spTgt>
                                        </p:tgtEl>
                                        <p:attrNameLst>
                                          <p:attrName>style.visibility</p:attrName>
                                        </p:attrNameLst>
                                      </p:cBhvr>
                                      <p:to>
                                        <p:strVal val="visible"/>
                                      </p:to>
                                    </p:set>
                                    <p:animEffect transition="in" filter="blinds(horizontal)">
                                      <p:cBhvr>
                                        <p:cTn id="7" dur="500"/>
                                        <p:tgtEl>
                                          <p:spTgt spid="7170">
                                            <p:txEl>
                                              <p:charRg st="0" end="4"/>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7170">
                                            <p:txEl>
                                              <p:charRg st="4" end="37"/>
                                            </p:txEl>
                                          </p:spTgt>
                                        </p:tgtEl>
                                        <p:attrNameLst>
                                          <p:attrName>style.visibility</p:attrName>
                                        </p:attrNameLst>
                                      </p:cBhvr>
                                      <p:to>
                                        <p:strVal val="visible"/>
                                      </p:to>
                                    </p:set>
                                    <p:animEffect transition="in" filter="blinds(horizontal)">
                                      <p:cBhvr>
                                        <p:cTn id="10" dur="500"/>
                                        <p:tgtEl>
                                          <p:spTgt spid="7170">
                                            <p:txEl>
                                              <p:charRg st="4" end="37"/>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7170">
                                            <p:txEl>
                                              <p:charRg st="38" end="45"/>
                                            </p:txEl>
                                          </p:spTgt>
                                        </p:tgtEl>
                                        <p:attrNameLst>
                                          <p:attrName>style.visibility</p:attrName>
                                        </p:attrNameLst>
                                      </p:cBhvr>
                                      <p:to>
                                        <p:strVal val="visible"/>
                                      </p:to>
                                    </p:set>
                                    <p:animEffect transition="in" filter="blinds(horizontal)">
                                      <p:cBhvr>
                                        <p:cTn id="15" dur="500"/>
                                        <p:tgtEl>
                                          <p:spTgt spid="7170">
                                            <p:txEl>
                                              <p:charRg st="38" end="45"/>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7170">
                                            <p:txEl>
                                              <p:charRg st="45" end="67"/>
                                            </p:txEl>
                                          </p:spTgt>
                                        </p:tgtEl>
                                        <p:attrNameLst>
                                          <p:attrName>style.visibility</p:attrName>
                                        </p:attrNameLst>
                                      </p:cBhvr>
                                      <p:to>
                                        <p:strVal val="visible"/>
                                      </p:to>
                                    </p:set>
                                    <p:animEffect transition="in" filter="blinds(horizontal)">
                                      <p:cBhvr>
                                        <p:cTn id="18" dur="500"/>
                                        <p:tgtEl>
                                          <p:spTgt spid="7170">
                                            <p:txEl>
                                              <p:charRg st="45" end="6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Rectangle 2"/>
          <p:cNvSpPr>
            <a:spLocks noGrp="1"/>
          </p:cNvSpPr>
          <p:nvPr>
            <p:ph type="title" idx="4294967295"/>
          </p:nvPr>
        </p:nvSpPr>
        <p:spPr>
          <a:ln/>
        </p:spPr>
        <p:txBody>
          <a:bodyPr vert="horz" wrap="square" anchor="ctr" anchorCtr="0"/>
          <a:p>
            <a:pPr eaLnBrk="1" hangingPunct="1"/>
            <a:r>
              <a:rPr lang="zh-TW" altLang="en-US" dirty="0">
                <a:solidFill>
                  <a:srgbClr val="000066"/>
                </a:solidFill>
              </a:rPr>
              <a:t>信用卡销售的特点</a:t>
            </a:r>
            <a:endParaRPr lang="zh-TW" altLang="en-US" dirty="0">
              <a:solidFill>
                <a:srgbClr val="000066"/>
              </a:solidFill>
            </a:endParaRPr>
          </a:p>
        </p:txBody>
      </p:sp>
      <p:sp>
        <p:nvSpPr>
          <p:cNvPr id="9219" name="Rectangle 3"/>
          <p:cNvSpPr>
            <a:spLocks noGrp="1"/>
          </p:cNvSpPr>
          <p:nvPr>
            <p:ph type="body" sz="half" idx="4294967295"/>
          </p:nvPr>
        </p:nvSpPr>
        <p:spPr>
          <a:xfrm>
            <a:off x="1116013" y="1989138"/>
            <a:ext cx="5111750" cy="4114800"/>
          </a:xfrm>
          <a:ln/>
        </p:spPr>
        <p:txBody>
          <a:bodyPr vert="horz" wrap="square" anchor="t" anchorCtr="0"/>
          <a:lstStyle>
            <a:lvl1pPr lvl="0">
              <a:buClr>
                <a:srgbClr val="FF3300"/>
              </a:buClr>
              <a:buSzTx/>
              <a:buFont typeface="Wingdings" panose="05000000000000000000" pitchFamily="2" charset="2"/>
              <a:defRPr sz="2800"/>
            </a:lvl1pPr>
            <a:lvl2pPr lvl="1">
              <a:buClr>
                <a:srgbClr val="FF3300"/>
              </a:buClr>
              <a:buSzTx/>
              <a:buFont typeface="Wingdings" panose="05000000000000000000" pitchFamily="2" charset="2"/>
              <a:defRPr sz="2400"/>
            </a:lvl2pPr>
            <a:lvl3pPr lvl="2">
              <a:buClr>
                <a:srgbClr val="FF3300"/>
              </a:buClr>
              <a:buSzTx/>
              <a:buFont typeface="Wingdings" panose="05000000000000000000" pitchFamily="2" charset="2"/>
              <a:defRPr sz="2000"/>
            </a:lvl3pPr>
            <a:lvl4pPr lvl="3">
              <a:buClr>
                <a:srgbClr val="FF3300"/>
              </a:buClr>
              <a:buSzTx/>
              <a:buFont typeface="Wingdings" panose="05000000000000000000" pitchFamily="2" charset="2"/>
              <a:defRPr sz="1800"/>
            </a:lvl4pPr>
            <a:lvl5pPr lvl="4">
              <a:buClr>
                <a:srgbClr val="FF3300"/>
              </a:buClr>
              <a:buSzTx/>
              <a:buFont typeface="Wingdings" panose="05000000000000000000" pitchFamily="2" charset="2"/>
              <a:defRPr sz="1800"/>
            </a:lvl5pPr>
          </a:lstStyle>
          <a:p>
            <a:pPr lvl="0" eaLnBrk="1" hangingPunct="1">
              <a:buNone/>
            </a:pPr>
            <a:r>
              <a:rPr lang="zh-TW" altLang="en-US" sz="2400" dirty="0">
                <a:solidFill>
                  <a:srgbClr val="000066"/>
                </a:solidFill>
              </a:rPr>
              <a:t>客户对信用卡营销的接受习惯</a:t>
            </a:r>
            <a:endParaRPr lang="zh-TW" altLang="en-US" sz="2400" dirty="0">
              <a:solidFill>
                <a:srgbClr val="000066"/>
              </a:solidFill>
            </a:endParaRPr>
          </a:p>
          <a:p>
            <a:pPr lvl="0" eaLnBrk="1" hangingPunct="1"/>
            <a:r>
              <a:rPr lang="zh-TW" altLang="en-US" sz="2400" dirty="0"/>
              <a:t>简单、迅速、冲动、感性</a:t>
            </a:r>
            <a:endParaRPr lang="zh-TW" altLang="en-US" sz="2400" dirty="0"/>
          </a:p>
          <a:p>
            <a:pPr lvl="0" eaLnBrk="1" hangingPunct="1">
              <a:buNone/>
            </a:pPr>
            <a:endParaRPr lang="zh-TW" altLang="en-US" sz="2400" dirty="0"/>
          </a:p>
          <a:p>
            <a:pPr lvl="0" eaLnBrk="1" hangingPunct="1">
              <a:buNone/>
            </a:pPr>
            <a:r>
              <a:rPr lang="zh-TW" altLang="en-US" sz="2400" dirty="0">
                <a:solidFill>
                  <a:srgbClr val="000066"/>
                </a:solidFill>
              </a:rPr>
              <a:t>信用卡销售渠道分析</a:t>
            </a:r>
            <a:endParaRPr lang="zh-TW" altLang="en-US" sz="2400" dirty="0">
              <a:solidFill>
                <a:srgbClr val="000066"/>
              </a:solidFill>
            </a:endParaRPr>
          </a:p>
          <a:p>
            <a:pPr lvl="0" eaLnBrk="1" hangingPunct="1"/>
            <a:r>
              <a:rPr lang="zh-TW" altLang="en-US" sz="2400" dirty="0"/>
              <a:t>直销、分行</a:t>
            </a:r>
            <a:endParaRPr lang="zh-TW" altLang="en-US" sz="2400" dirty="0"/>
          </a:p>
          <a:p>
            <a:pPr lvl="0" eaLnBrk="1" hangingPunct="1"/>
            <a:endParaRPr lang="zh-TW" altLang="en-US" sz="2400" dirty="0"/>
          </a:p>
          <a:p>
            <a:pPr lvl="0" eaLnBrk="1" hangingPunct="1">
              <a:buNone/>
            </a:pPr>
            <a:r>
              <a:rPr lang="zh-TW" altLang="en-US" sz="2400" dirty="0">
                <a:solidFill>
                  <a:srgbClr val="000066"/>
                </a:solidFill>
              </a:rPr>
              <a:t>影响业务人员业绩的三大因素</a:t>
            </a:r>
            <a:endParaRPr lang="zh-TW" altLang="en-US" sz="2400" dirty="0">
              <a:solidFill>
                <a:srgbClr val="000066"/>
              </a:solidFill>
            </a:endParaRPr>
          </a:p>
          <a:p>
            <a:pPr lvl="0" eaLnBrk="1" hangingPunct="1"/>
            <a:r>
              <a:rPr lang="zh-TW" altLang="en-US" sz="2400" dirty="0"/>
              <a:t>拜访量、成功率和批核率</a:t>
            </a:r>
            <a:endParaRPr lang="zh-TW" altLang="en-US" sz="2400" dirty="0"/>
          </a:p>
        </p:txBody>
      </p:sp>
      <p:graphicFrame>
        <p:nvGraphicFramePr>
          <p:cNvPr id="9220" name="Object 4">
            <a:hlinkClick r:id="" action="ppaction://ole?verb="/>
          </p:cNvPr>
          <p:cNvGraphicFramePr/>
          <p:nvPr>
            <p:ph sz="half" idx="1"/>
          </p:nvPr>
        </p:nvGraphicFramePr>
        <p:xfrm>
          <a:off x="6300788" y="3573463"/>
          <a:ext cx="1727200" cy="1920875"/>
        </p:xfrm>
        <a:graphic>
          <a:graphicData uri="http://schemas.openxmlformats.org/presentationml/2006/ole">
            <mc:AlternateContent xmlns:mc="http://schemas.openxmlformats.org/markup-compatibility/2006">
              <mc:Choice xmlns:v="urn:schemas-microsoft-com:vml" Requires="v">
                <p:oleObj spid="_x0000_s3076" name="" r:id="rId1" imgW="2304415" imgH="2689860" progId="">
                  <p:embed/>
                </p:oleObj>
              </mc:Choice>
              <mc:Fallback>
                <p:oleObj name="" r:id="rId1" imgW="2304415" imgH="2689860" progId="">
                  <p:embed/>
                  <p:pic>
                    <p:nvPicPr>
                      <p:cNvPr id="0" name="图片 3075"/>
                      <p:cNvPicPr/>
                      <p:nvPr/>
                    </p:nvPicPr>
                    <p:blipFill>
                      <a:blip r:embed="rId2"/>
                      <a:stretch>
                        <a:fillRect/>
                      </a:stretch>
                    </p:blipFill>
                    <p:spPr>
                      <a:xfrm>
                        <a:off x="6300788" y="3573463"/>
                        <a:ext cx="1727200" cy="1920875"/>
                      </a:xfrm>
                      <a:prstGeom prst="rect">
                        <a:avLst/>
                      </a:prstGeom>
                      <a:noFill/>
                      <a:ln w="38100">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219">
                                            <p:txEl>
                                              <p:charRg st="0" end="14"/>
                                            </p:txEl>
                                          </p:spTgt>
                                        </p:tgtEl>
                                        <p:attrNameLst>
                                          <p:attrName>style.visibility</p:attrName>
                                        </p:attrNameLst>
                                      </p:cBhvr>
                                      <p:to>
                                        <p:strVal val="visible"/>
                                      </p:to>
                                    </p:set>
                                    <p:animEffect transition="in" filter="blinds(horizontal)">
                                      <p:cBhvr>
                                        <p:cTn id="7" dur="500"/>
                                        <p:tgtEl>
                                          <p:spTgt spid="9219">
                                            <p:txEl>
                                              <p:charRg st="0" end="14"/>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9219">
                                            <p:txEl>
                                              <p:charRg st="14" end="26"/>
                                            </p:txEl>
                                          </p:spTgt>
                                        </p:tgtEl>
                                        <p:attrNameLst>
                                          <p:attrName>style.visibility</p:attrName>
                                        </p:attrNameLst>
                                      </p:cBhvr>
                                      <p:to>
                                        <p:strVal val="visible"/>
                                      </p:to>
                                    </p:set>
                                    <p:animEffect transition="in" filter="blinds(horizontal)">
                                      <p:cBhvr>
                                        <p:cTn id="10" dur="500"/>
                                        <p:tgtEl>
                                          <p:spTgt spid="9219">
                                            <p:txEl>
                                              <p:charRg st="14" end="26"/>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9219">
                                            <p:txEl>
                                              <p:charRg st="27" end="37"/>
                                            </p:txEl>
                                          </p:spTgt>
                                        </p:tgtEl>
                                        <p:attrNameLst>
                                          <p:attrName>style.visibility</p:attrName>
                                        </p:attrNameLst>
                                      </p:cBhvr>
                                      <p:to>
                                        <p:strVal val="visible"/>
                                      </p:to>
                                    </p:set>
                                    <p:animEffect transition="in" filter="blinds(horizontal)">
                                      <p:cBhvr>
                                        <p:cTn id="15" dur="500"/>
                                        <p:tgtEl>
                                          <p:spTgt spid="9219">
                                            <p:txEl>
                                              <p:charRg st="27" end="37"/>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9219">
                                            <p:txEl>
                                              <p:charRg st="37" end="43"/>
                                            </p:txEl>
                                          </p:spTgt>
                                        </p:tgtEl>
                                        <p:attrNameLst>
                                          <p:attrName>style.visibility</p:attrName>
                                        </p:attrNameLst>
                                      </p:cBhvr>
                                      <p:to>
                                        <p:strVal val="visible"/>
                                      </p:to>
                                    </p:set>
                                    <p:animEffect transition="in" filter="blinds(horizontal)">
                                      <p:cBhvr>
                                        <p:cTn id="18" dur="500"/>
                                        <p:tgtEl>
                                          <p:spTgt spid="9219">
                                            <p:txEl>
                                              <p:charRg st="37" end="4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9219">
                                            <p:txEl>
                                              <p:charRg st="44" end="58"/>
                                            </p:txEl>
                                          </p:spTgt>
                                        </p:tgtEl>
                                        <p:attrNameLst>
                                          <p:attrName>style.visibility</p:attrName>
                                        </p:attrNameLst>
                                      </p:cBhvr>
                                      <p:to>
                                        <p:strVal val="visible"/>
                                      </p:to>
                                    </p:set>
                                    <p:animEffect transition="in" filter="blinds(horizontal)">
                                      <p:cBhvr>
                                        <p:cTn id="23" dur="500"/>
                                        <p:tgtEl>
                                          <p:spTgt spid="9219">
                                            <p:txEl>
                                              <p:charRg st="44" end="58"/>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9219">
                                            <p:txEl>
                                              <p:charRg st="58" end="70"/>
                                            </p:txEl>
                                          </p:spTgt>
                                        </p:tgtEl>
                                        <p:attrNameLst>
                                          <p:attrName>style.visibility</p:attrName>
                                        </p:attrNameLst>
                                      </p:cBhvr>
                                      <p:to>
                                        <p:strVal val="visible"/>
                                      </p:to>
                                    </p:set>
                                    <p:animEffect transition="in" filter="blinds(horizontal)">
                                      <p:cBhvr>
                                        <p:cTn id="26" dur="500"/>
                                        <p:tgtEl>
                                          <p:spTgt spid="9219">
                                            <p:txEl>
                                              <p:charRg st="58" end="7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Rectangle 2"/>
          <p:cNvSpPr>
            <a:spLocks noGrp="1"/>
          </p:cNvSpPr>
          <p:nvPr>
            <p:ph type="title" idx="4294967295"/>
          </p:nvPr>
        </p:nvSpPr>
        <p:spPr>
          <a:xfrm>
            <a:off x="684213" y="692150"/>
            <a:ext cx="7773987" cy="792163"/>
          </a:xfrm>
          <a:ln/>
        </p:spPr>
        <p:txBody>
          <a:bodyPr vert="horz" wrap="square" anchor="ctr" anchorCtr="0"/>
          <a:p>
            <a:pPr algn="l" eaLnBrk="1" hangingPunct="1"/>
            <a:r>
              <a:rPr lang="zh-TW" altLang="en-US" dirty="0">
                <a:solidFill>
                  <a:srgbClr val="000066"/>
                </a:solidFill>
              </a:rPr>
              <a:t>每日成功公式</a:t>
            </a:r>
            <a:endParaRPr lang="zh-TW" altLang="en-US" dirty="0">
              <a:solidFill>
                <a:srgbClr val="000066"/>
              </a:solidFill>
            </a:endParaRPr>
          </a:p>
        </p:txBody>
      </p:sp>
      <p:grpSp>
        <p:nvGrpSpPr>
          <p:cNvPr id="11267" name="组合 11266"/>
          <p:cNvGrpSpPr/>
          <p:nvPr/>
        </p:nvGrpSpPr>
        <p:grpSpPr>
          <a:xfrm>
            <a:off x="1143000" y="2044700"/>
            <a:ext cx="6815138" cy="4264025"/>
            <a:chOff x="0" y="0"/>
            <a:chExt cx="8280" cy="6552"/>
          </a:xfrm>
        </p:grpSpPr>
        <p:sp>
          <p:nvSpPr>
            <p:cNvPr id="11268" name="AutoShape 4"/>
            <p:cNvSpPr>
              <a:spLocks noChangeAspect="1"/>
            </p:cNvSpPr>
            <p:nvPr/>
          </p:nvSpPr>
          <p:spPr>
            <a:xfrm>
              <a:off x="0" y="0"/>
              <a:ext cx="8280" cy="6552"/>
            </a:xfrm>
            <a:prstGeom prst="rect">
              <a:avLst/>
            </a:prstGeom>
            <a:noFill/>
            <a:ln w="9525">
              <a:noFill/>
            </a:ln>
          </p:spPr>
          <p:txBody>
            <a:bodyPr/>
            <a:p>
              <a:endParaRPr lang="zh-CN" altLang="en-US" dirty="0">
                <a:latin typeface="Frutiger 45 Light" pitchFamily="2" charset="0"/>
              </a:endParaRPr>
            </a:p>
          </p:txBody>
        </p:sp>
        <p:sp>
          <p:nvSpPr>
            <p:cNvPr id="11269" name="Oval 5"/>
            <p:cNvSpPr/>
            <p:nvPr/>
          </p:nvSpPr>
          <p:spPr>
            <a:xfrm>
              <a:off x="2218" y="468"/>
              <a:ext cx="4270" cy="800"/>
            </a:xfrm>
            <a:prstGeom prst="ellipse">
              <a:avLst/>
            </a:prstGeom>
            <a:solidFill>
              <a:srgbClr val="0066FF"/>
            </a:solidFill>
            <a:ln w="9525" cap="flat" cmpd="sng">
              <a:solidFill>
                <a:srgbClr val="FF6600"/>
              </a:solidFill>
              <a:prstDash val="solid"/>
              <a:headEnd type="none" w="med" len="med"/>
              <a:tailEnd type="none" w="med" len="med"/>
            </a:ln>
          </p:spPr>
          <p:txBody>
            <a:bodyPr wrap="none" anchor="ctr" anchorCtr="0"/>
            <a:p>
              <a:endParaRPr lang="zh-CN" altLang="en-US" dirty="0">
                <a:latin typeface="Frutiger 45 Light" pitchFamily="2" charset="0"/>
              </a:endParaRPr>
            </a:p>
          </p:txBody>
        </p:sp>
        <p:sp>
          <p:nvSpPr>
            <p:cNvPr id="11270" name="Oval 6"/>
            <p:cNvSpPr/>
            <p:nvPr/>
          </p:nvSpPr>
          <p:spPr>
            <a:xfrm>
              <a:off x="3611" y="2222"/>
              <a:ext cx="1667" cy="602"/>
            </a:xfrm>
            <a:prstGeom prst="ellipse">
              <a:avLst/>
            </a:prstGeom>
            <a:solidFill>
              <a:srgbClr val="C0C0C0"/>
            </a:solidFill>
            <a:ln w="9525" cap="flat" cmpd="sng">
              <a:solidFill>
                <a:srgbClr val="000000"/>
              </a:solidFill>
              <a:prstDash val="solid"/>
              <a:headEnd type="none" w="med" len="med"/>
              <a:tailEnd type="none" w="med" len="med"/>
            </a:ln>
          </p:spPr>
          <p:txBody>
            <a:bodyPr wrap="none" anchor="ctr" anchorCtr="0"/>
            <a:p>
              <a:endParaRPr lang="zh-CN" altLang="en-US" dirty="0">
                <a:latin typeface="Frutiger 45 Light" pitchFamily="2" charset="0"/>
              </a:endParaRPr>
            </a:p>
          </p:txBody>
        </p:sp>
        <p:sp>
          <p:nvSpPr>
            <p:cNvPr id="11271" name="Oval 7"/>
            <p:cNvSpPr/>
            <p:nvPr/>
          </p:nvSpPr>
          <p:spPr>
            <a:xfrm>
              <a:off x="4012" y="3489"/>
              <a:ext cx="1002" cy="535"/>
            </a:xfrm>
            <a:prstGeom prst="ellipse">
              <a:avLst/>
            </a:prstGeom>
            <a:solidFill>
              <a:srgbClr val="C0C0C0"/>
            </a:solidFill>
            <a:ln w="9525" cap="flat" cmpd="sng">
              <a:solidFill>
                <a:srgbClr val="000000"/>
              </a:solidFill>
              <a:prstDash val="solid"/>
              <a:headEnd type="none" w="med" len="med"/>
              <a:tailEnd type="none" w="med" len="med"/>
            </a:ln>
          </p:spPr>
          <p:txBody>
            <a:bodyPr wrap="none" anchor="ctr" anchorCtr="0"/>
            <a:p>
              <a:endParaRPr lang="zh-CN" altLang="en-US" dirty="0">
                <a:latin typeface="Frutiger 45 Light" pitchFamily="2" charset="0"/>
              </a:endParaRPr>
            </a:p>
          </p:txBody>
        </p:sp>
        <p:sp>
          <p:nvSpPr>
            <p:cNvPr id="11272" name="Oval 8"/>
            <p:cNvSpPr/>
            <p:nvPr/>
          </p:nvSpPr>
          <p:spPr>
            <a:xfrm>
              <a:off x="3878" y="4290"/>
              <a:ext cx="1534" cy="866"/>
            </a:xfrm>
            <a:prstGeom prst="ellipse">
              <a:avLst/>
            </a:prstGeom>
            <a:solidFill>
              <a:srgbClr val="CC0000"/>
            </a:solidFill>
            <a:ln w="9525" cap="flat" cmpd="sng">
              <a:solidFill>
                <a:srgbClr val="000000"/>
              </a:solidFill>
              <a:prstDash val="solid"/>
              <a:headEnd type="none" w="med" len="med"/>
              <a:tailEnd type="none" w="med" len="med"/>
            </a:ln>
          </p:spPr>
          <p:txBody>
            <a:bodyPr wrap="none" anchor="ctr" anchorCtr="0"/>
            <a:p>
              <a:endParaRPr lang="zh-CN" altLang="en-US" dirty="0">
                <a:latin typeface="Frutiger 45 Light" pitchFamily="2" charset="0"/>
              </a:endParaRPr>
            </a:p>
          </p:txBody>
        </p:sp>
        <p:sp>
          <p:nvSpPr>
            <p:cNvPr id="11273" name="AutoShape 9"/>
            <p:cNvSpPr/>
            <p:nvPr/>
          </p:nvSpPr>
          <p:spPr>
            <a:xfrm rot="3655105">
              <a:off x="506" y="2252"/>
              <a:ext cx="4670" cy="199"/>
            </a:xfrm>
            <a:prstGeom prst="homePlate">
              <a:avLst>
                <a:gd name="adj" fmla="val 586683"/>
              </a:avLst>
            </a:prstGeom>
            <a:solidFill>
              <a:srgbClr val="C0C0C0"/>
            </a:solidFill>
            <a:ln w="9525" cap="flat" cmpd="sng">
              <a:solidFill>
                <a:srgbClr val="000000"/>
              </a:solidFill>
              <a:prstDash val="solid"/>
              <a:miter/>
              <a:headEnd type="none" w="med" len="med"/>
              <a:tailEnd type="none" w="med" len="med"/>
            </a:ln>
          </p:spPr>
          <p:txBody>
            <a:bodyPr wrap="none" anchor="ctr" anchorCtr="0"/>
            <a:p>
              <a:endParaRPr lang="zh-CN" altLang="en-US" dirty="0">
                <a:latin typeface="Frutiger 45 Light" pitchFamily="2" charset="0"/>
              </a:endParaRPr>
            </a:p>
          </p:txBody>
        </p:sp>
        <p:sp>
          <p:nvSpPr>
            <p:cNvPr id="11274" name="AutoShape 10"/>
            <p:cNvSpPr/>
            <p:nvPr/>
          </p:nvSpPr>
          <p:spPr>
            <a:xfrm rot="-4023832" flipH="1">
              <a:off x="3803" y="2145"/>
              <a:ext cx="4470" cy="180"/>
            </a:xfrm>
            <a:prstGeom prst="homePlate">
              <a:avLst>
                <a:gd name="adj" fmla="val 620833"/>
              </a:avLst>
            </a:prstGeom>
            <a:solidFill>
              <a:srgbClr val="C0C0C0"/>
            </a:solidFill>
            <a:ln w="9525" cap="flat" cmpd="sng">
              <a:solidFill>
                <a:srgbClr val="000000"/>
              </a:solidFill>
              <a:prstDash val="solid"/>
              <a:miter/>
              <a:headEnd type="none" w="med" len="med"/>
              <a:tailEnd type="none" w="med" len="med"/>
            </a:ln>
          </p:spPr>
          <p:txBody>
            <a:bodyPr wrap="none" anchor="ctr" anchorCtr="0"/>
            <a:p>
              <a:endParaRPr lang="zh-CN" altLang="en-US" dirty="0">
                <a:latin typeface="Frutiger 45 Light" pitchFamily="2" charset="0"/>
              </a:endParaRPr>
            </a:p>
          </p:txBody>
        </p:sp>
        <p:sp>
          <p:nvSpPr>
            <p:cNvPr id="11275" name="WordArt 11"/>
            <p:cNvSpPr/>
            <p:nvPr/>
          </p:nvSpPr>
          <p:spPr>
            <a:xfrm>
              <a:off x="3428" y="618"/>
              <a:ext cx="2205" cy="630"/>
            </a:xfrm>
            <a:prstGeom prst="rect">
              <a:avLst/>
            </a:prstGeom>
          </p:spPr>
          <p:txBody>
            <a:bodyPr wrap="none" fromWordArt="1">
              <a:prstTxWarp prst="textPlain">
                <a:avLst>
                  <a:gd name="adj" fmla="val 50000"/>
                </a:avLst>
              </a:prstTxWarp>
              <a:normAutofit/>
            </a:bodyPr>
            <a:p>
              <a:pPr algn="ctr"/>
              <a:r>
                <a:rPr lang="zh-CN" altLang="en-US" sz="1600" b="1" spc="320">
                  <a:solidFill>
                    <a:srgbClr val="000000"/>
                  </a:solidFill>
                  <a:effectLst>
                    <a:outerShdw dist="45791" dir="3378595" algn="ctr" rotWithShape="0">
                      <a:srgbClr val="4D4D4D">
                        <a:alpha val="78000"/>
                      </a:srgbClr>
                    </a:outerShdw>
                  </a:effectLst>
                  <a:latin typeface="华文新魏" panose="02010800040101010101" pitchFamily="2" charset="-122"/>
                  <a:ea typeface="华文新魏" panose="02010800040101010101" pitchFamily="2" charset="-122"/>
                </a:rPr>
                <a:t>日工作量（人）</a:t>
              </a:r>
              <a:endParaRPr lang="zh-CN" altLang="en-US" sz="1600" b="1" spc="320">
                <a:solidFill>
                  <a:srgbClr val="000000"/>
                </a:solidFill>
                <a:effectLst>
                  <a:outerShdw dist="45791" dir="3378595" algn="ctr" rotWithShape="0">
                    <a:srgbClr val="4D4D4D">
                      <a:alpha val="78000"/>
                    </a:srgbClr>
                  </a:outerShdw>
                </a:effectLst>
                <a:latin typeface="华文新魏" panose="02010800040101010101" pitchFamily="2" charset="-122"/>
                <a:ea typeface="华文新魏" panose="02010800040101010101" pitchFamily="2" charset="-122"/>
              </a:endParaRPr>
            </a:p>
          </p:txBody>
        </p:sp>
        <p:sp>
          <p:nvSpPr>
            <p:cNvPr id="11276" name="WordArt 12"/>
            <p:cNvSpPr/>
            <p:nvPr/>
          </p:nvSpPr>
          <p:spPr>
            <a:xfrm>
              <a:off x="3788" y="2422"/>
              <a:ext cx="1365" cy="195"/>
            </a:xfrm>
            <a:prstGeom prst="rect">
              <a:avLst/>
            </a:prstGeom>
          </p:spPr>
          <p:txBody>
            <a:bodyPr wrap="none" fromWordArt="1">
              <a:prstTxWarp prst="textPlain">
                <a:avLst>
                  <a:gd name="adj" fmla="val 50000"/>
                </a:avLst>
              </a:prstTxWarp>
              <a:normAutofit/>
            </a:bodyPr>
            <a:p>
              <a:pPr algn="ctr"/>
              <a:r>
                <a:rPr lang="zh-CN" altLang="en-US" sz="1000" b="1" spc="200">
                  <a:solidFill>
                    <a:srgbClr val="000000"/>
                  </a:solidFill>
                  <a:effectLst>
                    <a:outerShdw dist="45791" dir="3378595" algn="ctr" rotWithShape="0">
                      <a:srgbClr val="4D4D4D">
                        <a:alpha val="78000"/>
                      </a:srgbClr>
                    </a:outerShdw>
                  </a:effectLst>
                  <a:latin typeface="华文新魏" panose="02010800040101010101" pitchFamily="2" charset="-122"/>
                  <a:ea typeface="华文新魏" panose="02010800040101010101" pitchFamily="2" charset="-122"/>
                </a:rPr>
                <a:t>日工作量（卡）</a:t>
              </a:r>
              <a:endParaRPr lang="zh-CN" altLang="en-US" sz="1000" b="1" spc="200">
                <a:solidFill>
                  <a:srgbClr val="000000"/>
                </a:solidFill>
                <a:effectLst>
                  <a:outerShdw dist="45791" dir="3378595" algn="ctr" rotWithShape="0">
                    <a:srgbClr val="4D4D4D">
                      <a:alpha val="78000"/>
                    </a:srgbClr>
                  </a:outerShdw>
                </a:effectLst>
                <a:latin typeface="华文新魏" panose="02010800040101010101" pitchFamily="2" charset="-122"/>
                <a:ea typeface="华文新魏" panose="02010800040101010101" pitchFamily="2" charset="-122"/>
              </a:endParaRPr>
            </a:p>
          </p:txBody>
        </p:sp>
        <p:sp>
          <p:nvSpPr>
            <p:cNvPr id="11277" name="WordArt 13"/>
            <p:cNvSpPr/>
            <p:nvPr/>
          </p:nvSpPr>
          <p:spPr>
            <a:xfrm>
              <a:off x="4144" y="3690"/>
              <a:ext cx="682" cy="200"/>
            </a:xfrm>
            <a:prstGeom prst="rect">
              <a:avLst/>
            </a:prstGeom>
          </p:spPr>
          <p:txBody>
            <a:bodyPr wrap="none" fromWordArt="1">
              <a:prstTxWarp prst="textPlain">
                <a:avLst>
                  <a:gd name="adj" fmla="val 50000"/>
                </a:avLst>
              </a:prstTxWarp>
              <a:normAutofit/>
            </a:bodyPr>
            <a:p>
              <a:pPr algn="ctr"/>
              <a:r>
                <a:rPr lang="zh-CN" altLang="en-US" sz="1800" b="1" spc="360">
                  <a:solidFill>
                    <a:srgbClr val="000000"/>
                  </a:solidFill>
                  <a:effectLst>
                    <a:outerShdw dist="45791" dir="3378595" algn="ctr" rotWithShape="0">
                      <a:srgbClr val="4D4D4D">
                        <a:alpha val="78000"/>
                      </a:srgbClr>
                    </a:outerShdw>
                  </a:effectLst>
                  <a:latin typeface="华文新魏" panose="02010800040101010101" pitchFamily="2" charset="-122"/>
                  <a:ea typeface="华文新魏" panose="02010800040101010101" pitchFamily="2" charset="-122"/>
                </a:rPr>
                <a:t>批核卡数</a:t>
              </a:r>
              <a:endParaRPr lang="zh-CN" altLang="en-US" sz="1800" b="1" spc="360">
                <a:solidFill>
                  <a:srgbClr val="000000"/>
                </a:solidFill>
                <a:effectLst>
                  <a:outerShdw dist="45791" dir="3378595" algn="ctr" rotWithShape="0">
                    <a:srgbClr val="4D4D4D">
                      <a:alpha val="78000"/>
                    </a:srgbClr>
                  </a:outerShdw>
                </a:effectLst>
                <a:latin typeface="华文新魏" panose="02010800040101010101" pitchFamily="2" charset="-122"/>
                <a:ea typeface="华文新魏" panose="02010800040101010101" pitchFamily="2" charset="-122"/>
              </a:endParaRPr>
            </a:p>
          </p:txBody>
        </p:sp>
        <p:sp>
          <p:nvSpPr>
            <p:cNvPr id="11278" name="WordArt 14"/>
            <p:cNvSpPr/>
            <p:nvPr/>
          </p:nvSpPr>
          <p:spPr>
            <a:xfrm>
              <a:off x="4345" y="4490"/>
              <a:ext cx="609" cy="380"/>
            </a:xfrm>
            <a:prstGeom prst="rect">
              <a:avLst/>
            </a:prstGeom>
          </p:spPr>
          <p:txBody>
            <a:bodyPr wrap="none" fromWordArt="1">
              <a:prstTxWarp prst="textPlain">
                <a:avLst>
                  <a:gd name="adj" fmla="val 50000"/>
                </a:avLst>
              </a:prstTxWarp>
              <a:normAutofit/>
            </a:bodyPr>
            <a:p>
              <a:pPr algn="ctr"/>
              <a:r>
                <a:rPr lang="zh-CN" altLang="en-US" sz="3200" b="1" spc="640">
                  <a:solidFill>
                    <a:srgbClr val="000000"/>
                  </a:solidFill>
                  <a:effectLst>
                    <a:outerShdw dist="45791" dir="3378595" algn="ctr" rotWithShape="0">
                      <a:srgbClr val="4D4D4D">
                        <a:alpha val="78000"/>
                      </a:srgbClr>
                    </a:outerShdw>
                  </a:effectLst>
                  <a:latin typeface="华文新魏" panose="02010800040101010101" pitchFamily="2" charset="-122"/>
                  <a:ea typeface="华文新魏" panose="02010800040101010101" pitchFamily="2" charset="-122"/>
                </a:rPr>
                <a:t>奖金</a:t>
              </a:r>
              <a:endParaRPr lang="zh-CN" altLang="en-US" sz="3200" b="1" spc="640">
                <a:solidFill>
                  <a:srgbClr val="000000"/>
                </a:solidFill>
                <a:effectLst>
                  <a:outerShdw dist="45791" dir="3378595" algn="ctr" rotWithShape="0">
                    <a:srgbClr val="4D4D4D">
                      <a:alpha val="78000"/>
                    </a:srgbClr>
                  </a:outerShdw>
                </a:effectLst>
                <a:latin typeface="华文新魏" panose="02010800040101010101" pitchFamily="2" charset="-122"/>
                <a:ea typeface="华文新魏" panose="02010800040101010101" pitchFamily="2" charset="-122"/>
              </a:endParaRPr>
            </a:p>
          </p:txBody>
        </p:sp>
        <p:sp>
          <p:nvSpPr>
            <p:cNvPr id="11279" name="Line 15"/>
            <p:cNvSpPr/>
            <p:nvPr/>
          </p:nvSpPr>
          <p:spPr>
            <a:xfrm>
              <a:off x="1076" y="954"/>
              <a:ext cx="734" cy="0"/>
            </a:xfrm>
            <a:prstGeom prst="line">
              <a:avLst/>
            </a:prstGeom>
            <a:ln w="9525" cap="flat" cmpd="sng">
              <a:solidFill>
                <a:srgbClr val="000000"/>
              </a:solidFill>
              <a:prstDash val="solid"/>
              <a:headEnd type="none" w="med" len="med"/>
              <a:tailEnd type="none" w="med" len="med"/>
            </a:ln>
          </p:spPr>
        </p:sp>
        <p:sp>
          <p:nvSpPr>
            <p:cNvPr id="11280" name="Line 16"/>
            <p:cNvSpPr/>
            <p:nvPr/>
          </p:nvSpPr>
          <p:spPr>
            <a:xfrm flipV="1">
              <a:off x="2344" y="2890"/>
              <a:ext cx="734" cy="0"/>
            </a:xfrm>
            <a:prstGeom prst="line">
              <a:avLst/>
            </a:prstGeom>
            <a:ln w="9525" cap="flat" cmpd="sng">
              <a:solidFill>
                <a:srgbClr val="000000"/>
              </a:solidFill>
              <a:prstDash val="solid"/>
              <a:headEnd type="none" w="med" len="med"/>
              <a:tailEnd type="none" w="med" len="med"/>
            </a:ln>
          </p:spPr>
        </p:sp>
        <p:sp>
          <p:nvSpPr>
            <p:cNvPr id="11281" name="Line 17"/>
            <p:cNvSpPr/>
            <p:nvPr/>
          </p:nvSpPr>
          <p:spPr>
            <a:xfrm>
              <a:off x="3078" y="4224"/>
              <a:ext cx="600" cy="0"/>
            </a:xfrm>
            <a:prstGeom prst="line">
              <a:avLst/>
            </a:prstGeom>
            <a:ln w="9525" cap="flat" cmpd="sng">
              <a:solidFill>
                <a:srgbClr val="000000"/>
              </a:solidFill>
              <a:prstDash val="solid"/>
              <a:headEnd type="none" w="med" len="med"/>
              <a:tailEnd type="none" w="med" len="med"/>
            </a:ln>
          </p:spPr>
        </p:sp>
        <p:sp>
          <p:nvSpPr>
            <p:cNvPr id="11282" name="Line 18"/>
            <p:cNvSpPr/>
            <p:nvPr/>
          </p:nvSpPr>
          <p:spPr>
            <a:xfrm>
              <a:off x="6814" y="1020"/>
              <a:ext cx="600" cy="0"/>
            </a:xfrm>
            <a:prstGeom prst="line">
              <a:avLst/>
            </a:prstGeom>
            <a:ln w="9525" cap="flat" cmpd="sng">
              <a:solidFill>
                <a:srgbClr val="000000"/>
              </a:solidFill>
              <a:prstDash val="solid"/>
              <a:headEnd type="none" w="med" len="med"/>
              <a:tailEnd type="none" w="med" len="med"/>
            </a:ln>
          </p:spPr>
        </p:sp>
        <p:sp>
          <p:nvSpPr>
            <p:cNvPr id="11283" name="Line 19"/>
            <p:cNvSpPr/>
            <p:nvPr/>
          </p:nvSpPr>
          <p:spPr>
            <a:xfrm>
              <a:off x="6012" y="2890"/>
              <a:ext cx="733" cy="0"/>
            </a:xfrm>
            <a:prstGeom prst="line">
              <a:avLst/>
            </a:prstGeom>
            <a:ln w="9525" cap="flat" cmpd="sng">
              <a:solidFill>
                <a:srgbClr val="000000"/>
              </a:solidFill>
              <a:prstDash val="solid"/>
              <a:headEnd type="none" w="med" len="med"/>
              <a:tailEnd type="none" w="med" len="med"/>
            </a:ln>
          </p:spPr>
        </p:sp>
        <p:sp>
          <p:nvSpPr>
            <p:cNvPr id="11284" name="Line 20"/>
            <p:cNvSpPr/>
            <p:nvPr/>
          </p:nvSpPr>
          <p:spPr>
            <a:xfrm flipV="1">
              <a:off x="5479" y="4156"/>
              <a:ext cx="735" cy="0"/>
            </a:xfrm>
            <a:prstGeom prst="line">
              <a:avLst/>
            </a:prstGeom>
            <a:ln w="9525" cap="flat" cmpd="sng">
              <a:solidFill>
                <a:srgbClr val="000000"/>
              </a:solidFill>
              <a:prstDash val="solid"/>
              <a:headEnd type="none" w="med" len="med"/>
              <a:tailEnd type="none" w="med" len="med"/>
            </a:ln>
          </p:spPr>
        </p:sp>
        <p:sp>
          <p:nvSpPr>
            <p:cNvPr id="11285" name="WordArt 21"/>
            <p:cNvSpPr/>
            <p:nvPr/>
          </p:nvSpPr>
          <p:spPr>
            <a:xfrm>
              <a:off x="1210" y="554"/>
              <a:ext cx="466" cy="266"/>
            </a:xfrm>
            <a:prstGeom prst="rect">
              <a:avLst/>
            </a:prstGeom>
          </p:spPr>
          <p:txBody>
            <a:bodyPr wrap="none" fromWordArt="1">
              <a:prstTxWarp prst="textDeflate">
                <a:avLst>
                  <a:gd name="adj" fmla="val 26227"/>
                </a:avLst>
              </a:prstTxWarp>
              <a:normAutofit/>
            </a:bodyPr>
            <a:p>
              <a:pPr algn="ctr"/>
              <a:r>
                <a:rPr lang="zh-CN" altLang="en-US" sz="3600" b="1">
                  <a:ln w="9525" cap="flat" cmpd="sng">
                    <a:solidFill>
                      <a:srgbClr val="000000"/>
                    </a:solidFill>
                    <a:prstDash val="solid"/>
                    <a:headEnd type="none" w="med" len="med"/>
                    <a:tailEnd type="none" w="med" len="med"/>
                  </a:ln>
                  <a:solidFill>
                    <a:srgbClr val="000000"/>
                  </a:solidFill>
                  <a:latin typeface="宋体" panose="02010600030101010101" pitchFamily="2" charset="-122"/>
                  <a:ea typeface="宋体" panose="02010600030101010101" pitchFamily="2" charset="-122"/>
                </a:rPr>
                <a:t>50</a:t>
              </a:r>
              <a:endParaRPr lang="zh-CN" altLang="en-US" sz="3600" b="1">
                <a:ln w="9525" cap="flat" cmpd="sng">
                  <a:solidFill>
                    <a:srgbClr val="000000"/>
                  </a:solidFill>
                  <a:prstDash val="solid"/>
                  <a:headEnd type="none" w="med" len="med"/>
                  <a:tailEnd type="none" w="med" len="med"/>
                </a:ln>
                <a:solidFill>
                  <a:srgbClr val="000000"/>
                </a:solidFill>
                <a:latin typeface="宋体" panose="02010600030101010101" pitchFamily="2" charset="-122"/>
                <a:ea typeface="宋体" panose="02010600030101010101" pitchFamily="2" charset="-122"/>
              </a:endParaRPr>
            </a:p>
          </p:txBody>
        </p:sp>
        <p:sp>
          <p:nvSpPr>
            <p:cNvPr id="11286" name="WordArt 22"/>
            <p:cNvSpPr/>
            <p:nvPr/>
          </p:nvSpPr>
          <p:spPr>
            <a:xfrm>
              <a:off x="2344" y="2488"/>
              <a:ext cx="401" cy="266"/>
            </a:xfrm>
            <a:prstGeom prst="rect">
              <a:avLst/>
            </a:prstGeom>
          </p:spPr>
          <p:txBody>
            <a:bodyPr wrap="none" fromWordArt="1">
              <a:prstTxWarp prst="textDeflate">
                <a:avLst>
                  <a:gd name="adj" fmla="val 26227"/>
                </a:avLst>
              </a:prstTxWarp>
              <a:normAutofit/>
            </a:bodyPr>
            <a:p>
              <a:pPr algn="ctr"/>
              <a:r>
                <a:rPr lang="zh-CN" altLang="en-US" sz="3600" b="1">
                  <a:ln w="9525" cap="flat" cmpd="sng">
                    <a:solidFill>
                      <a:srgbClr val="000000"/>
                    </a:solidFill>
                    <a:prstDash val="solid"/>
                    <a:headEnd type="none" w="med" len="med"/>
                    <a:tailEnd type="none" w="med" len="med"/>
                  </a:ln>
                  <a:solidFill>
                    <a:srgbClr val="000000"/>
                  </a:solidFill>
                  <a:latin typeface="宋体" panose="02010600030101010101" pitchFamily="2" charset="-122"/>
                  <a:ea typeface="宋体" panose="02010600030101010101" pitchFamily="2" charset="-122"/>
                </a:rPr>
                <a:t>17</a:t>
              </a:r>
              <a:endParaRPr lang="zh-CN" altLang="en-US" sz="3600" b="1">
                <a:ln w="9525" cap="flat" cmpd="sng">
                  <a:solidFill>
                    <a:srgbClr val="000000"/>
                  </a:solidFill>
                  <a:prstDash val="solid"/>
                  <a:headEnd type="none" w="med" len="med"/>
                  <a:tailEnd type="none" w="med" len="med"/>
                </a:ln>
                <a:solidFill>
                  <a:srgbClr val="000000"/>
                </a:solidFill>
                <a:latin typeface="宋体" panose="02010600030101010101" pitchFamily="2" charset="-122"/>
                <a:ea typeface="宋体" panose="02010600030101010101" pitchFamily="2" charset="-122"/>
              </a:endParaRPr>
            </a:p>
          </p:txBody>
        </p:sp>
        <p:sp>
          <p:nvSpPr>
            <p:cNvPr id="11287" name="WordArt 23"/>
            <p:cNvSpPr/>
            <p:nvPr/>
          </p:nvSpPr>
          <p:spPr>
            <a:xfrm>
              <a:off x="3278" y="3890"/>
              <a:ext cx="200" cy="200"/>
            </a:xfrm>
            <a:prstGeom prst="rect">
              <a:avLst/>
            </a:prstGeom>
          </p:spPr>
          <p:txBody>
            <a:bodyPr wrap="none" fromWordArt="1">
              <a:prstTxWarp prst="textDeflate">
                <a:avLst>
                  <a:gd name="adj" fmla="val 26227"/>
                </a:avLst>
              </a:prstTxWarp>
              <a:normAutofit/>
            </a:bodyPr>
            <a:p>
              <a:pPr algn="ctr"/>
              <a:r>
                <a:rPr lang="zh-CN" altLang="en-US" sz="3600" b="1">
                  <a:ln w="9525" cap="flat" cmpd="sng">
                    <a:solidFill>
                      <a:srgbClr val="000000"/>
                    </a:solidFill>
                    <a:prstDash val="solid"/>
                    <a:headEnd type="none" w="med" len="med"/>
                    <a:tailEnd type="none" w="med" len="med"/>
                  </a:ln>
                  <a:solidFill>
                    <a:srgbClr val="000000"/>
                  </a:solidFill>
                  <a:latin typeface="宋体" panose="02010600030101010101" pitchFamily="2" charset="-122"/>
                  <a:ea typeface="宋体" panose="02010600030101010101" pitchFamily="2" charset="-122"/>
                </a:rPr>
                <a:t>10</a:t>
              </a:r>
              <a:endParaRPr lang="zh-CN" altLang="en-US" sz="3600" b="1">
                <a:ln w="9525" cap="flat" cmpd="sng">
                  <a:solidFill>
                    <a:srgbClr val="000000"/>
                  </a:solidFill>
                  <a:prstDash val="solid"/>
                  <a:headEnd type="none" w="med" len="med"/>
                  <a:tailEnd type="none" w="med" len="med"/>
                </a:ln>
                <a:solidFill>
                  <a:srgbClr val="000000"/>
                </a:solidFill>
                <a:latin typeface="宋体" panose="02010600030101010101" pitchFamily="2" charset="-122"/>
                <a:ea typeface="宋体" panose="02010600030101010101" pitchFamily="2" charset="-122"/>
              </a:endParaRPr>
            </a:p>
          </p:txBody>
        </p:sp>
        <p:sp>
          <p:nvSpPr>
            <p:cNvPr id="11288" name="WordArt 24"/>
            <p:cNvSpPr/>
            <p:nvPr/>
          </p:nvSpPr>
          <p:spPr>
            <a:xfrm>
              <a:off x="3878" y="4490"/>
              <a:ext cx="423" cy="423"/>
            </a:xfrm>
            <a:prstGeom prst="rect">
              <a:avLst/>
            </a:prstGeom>
          </p:spPr>
          <p:txBody>
            <a:bodyPr wrap="none" fromWordArt="1">
              <a:prstTxWarp prst="textPlain">
                <a:avLst>
                  <a:gd name="adj" fmla="val 50000"/>
                </a:avLst>
              </a:prstTxWarp>
              <a:normAutofit/>
            </a:bodyPr>
            <a:p>
              <a:pPr algn="ctr"/>
              <a:r>
                <a:rPr lang="zh-CN" altLang="en-US" sz="3600" b="1" spc="720">
                  <a:solidFill>
                    <a:srgbClr val="000000"/>
                  </a:solidFill>
                  <a:effectLst>
                    <a:outerShdw dist="45791" dir="3378595" algn="ctr" rotWithShape="0">
                      <a:srgbClr val="4D4D4D">
                        <a:alpha val="78000"/>
                      </a:srgbClr>
                    </a:outerShdw>
                  </a:effectLst>
                  <a:latin typeface="华文新魏" panose="02010800040101010101" pitchFamily="2" charset="-122"/>
                  <a:ea typeface="华文新魏" panose="02010800040101010101" pitchFamily="2" charset="-122"/>
                </a:rPr>
                <a:t>￥</a:t>
              </a:r>
              <a:endParaRPr lang="zh-CN" altLang="en-US" sz="3600" b="1" spc="720">
                <a:solidFill>
                  <a:srgbClr val="000000"/>
                </a:solidFill>
                <a:effectLst>
                  <a:outerShdw dist="45791" dir="3378595" algn="ctr" rotWithShape="0">
                    <a:srgbClr val="4D4D4D">
                      <a:alpha val="78000"/>
                    </a:srgbClr>
                  </a:outerShdw>
                </a:effectLst>
                <a:latin typeface="华文新魏" panose="02010800040101010101" pitchFamily="2" charset="-122"/>
                <a:ea typeface="华文新魏" panose="02010800040101010101" pitchFamily="2" charset="-122"/>
              </a:endParaRPr>
            </a:p>
          </p:txBody>
        </p:sp>
        <p:sp>
          <p:nvSpPr>
            <p:cNvPr id="11289" name="Line 25"/>
            <p:cNvSpPr/>
            <p:nvPr/>
          </p:nvSpPr>
          <p:spPr>
            <a:xfrm>
              <a:off x="2168" y="5148"/>
              <a:ext cx="1700" cy="1"/>
            </a:xfrm>
            <a:prstGeom prst="line">
              <a:avLst/>
            </a:prstGeom>
            <a:ln w="9525" cap="flat" cmpd="sng">
              <a:solidFill>
                <a:srgbClr val="000000"/>
              </a:solidFill>
              <a:prstDash val="solid"/>
              <a:headEnd type="none" w="med" len="med"/>
              <a:tailEnd type="none" w="med" len="med"/>
            </a:ln>
          </p:spPr>
        </p:sp>
        <p:sp>
          <p:nvSpPr>
            <p:cNvPr id="11290" name="Line 26"/>
            <p:cNvSpPr/>
            <p:nvPr/>
          </p:nvSpPr>
          <p:spPr>
            <a:xfrm>
              <a:off x="5228" y="5147"/>
              <a:ext cx="1700" cy="1"/>
            </a:xfrm>
            <a:prstGeom prst="line">
              <a:avLst/>
            </a:prstGeom>
            <a:ln w="9525" cap="flat" cmpd="sng">
              <a:solidFill>
                <a:srgbClr val="000000"/>
              </a:solidFill>
              <a:prstDash val="solid"/>
              <a:headEnd type="none" w="med" len="med"/>
              <a:tailEnd type="none" w="med" len="med"/>
            </a:ln>
          </p:spPr>
        </p:sp>
        <p:sp>
          <p:nvSpPr>
            <p:cNvPr id="11291" name="Text Box 27"/>
            <p:cNvSpPr txBox="1"/>
            <p:nvPr/>
          </p:nvSpPr>
          <p:spPr>
            <a:xfrm>
              <a:off x="8" y="156"/>
              <a:ext cx="1080" cy="468"/>
            </a:xfrm>
            <a:prstGeom prst="rect">
              <a:avLst/>
            </a:prstGeom>
            <a:solidFill>
              <a:srgbClr val="C0C0C0"/>
            </a:solidFill>
            <a:ln w="9525" cap="flat" cmpd="sng">
              <a:solidFill>
                <a:srgbClr val="000000"/>
              </a:solidFill>
              <a:prstDash val="solid"/>
              <a:miter/>
              <a:headEnd type="none" w="med" len="med"/>
              <a:tailEnd type="none" w="med" len="med"/>
            </a:ln>
          </p:spPr>
          <p:txBody>
            <a:bodyPr/>
            <a:p>
              <a:r>
                <a:rPr lang="zh-CN" altLang="en-US" sz="1800" dirty="0">
                  <a:latin typeface="黑体" panose="02010609060101010101" pitchFamily="2" charset="-122"/>
                  <a:ea typeface="黑体" panose="02010609060101010101" pitchFamily="2" charset="-122"/>
                </a:rPr>
                <a:t>指针</a:t>
              </a:r>
              <a:endParaRPr lang="zh-CN" altLang="en-US" sz="1800" b="0" dirty="0">
                <a:latin typeface="Times New Roman" panose="02020603050405020304" pitchFamily="18" charset="0"/>
              </a:endParaRPr>
            </a:p>
          </p:txBody>
        </p:sp>
        <p:sp>
          <p:nvSpPr>
            <p:cNvPr id="11292" name="WordArt 28"/>
            <p:cNvSpPr/>
            <p:nvPr/>
          </p:nvSpPr>
          <p:spPr>
            <a:xfrm>
              <a:off x="2408" y="4387"/>
              <a:ext cx="1200" cy="761"/>
            </a:xfrm>
            <a:prstGeom prst="rect">
              <a:avLst/>
            </a:prstGeom>
          </p:spPr>
          <p:txBody>
            <a:bodyPr wrap="none" fromWordArt="1">
              <a:prstTxWarp prst="textDeflate">
                <a:avLst>
                  <a:gd name="adj" fmla="val 26227"/>
                </a:avLst>
              </a:prstTxWarp>
              <a:normAutofit/>
            </a:bodyPr>
            <a:p>
              <a:pPr algn="ctr"/>
              <a:r>
                <a:rPr lang="zh-CN" altLang="en-US" sz="2400" b="1">
                  <a:ln w="9525" cap="flat" cmpd="sng">
                    <a:solidFill>
                      <a:srgbClr val="000000"/>
                    </a:solidFill>
                    <a:prstDash val="solid"/>
                    <a:headEnd type="none" w="med" len="med"/>
                    <a:tailEnd type="none" w="med" len="med"/>
                  </a:ln>
                  <a:solidFill>
                    <a:srgbClr val="000000"/>
                  </a:solidFill>
                  <a:latin typeface="宋体" panose="02010600030101010101" pitchFamily="2" charset="-122"/>
                  <a:ea typeface="宋体" panose="02010600030101010101" pitchFamily="2" charset="-122"/>
                </a:rPr>
                <a:t>10000</a:t>
              </a:r>
              <a:endParaRPr lang="zh-CN" altLang="en-US" sz="2400" b="1">
                <a:ln w="9525" cap="flat" cmpd="sng">
                  <a:solidFill>
                    <a:srgbClr val="000000"/>
                  </a:solidFill>
                  <a:prstDash val="solid"/>
                  <a:headEnd type="none" w="med" len="med"/>
                  <a:tailEnd type="none" w="med" len="med"/>
                </a:ln>
                <a:solidFill>
                  <a:srgbClr val="000000"/>
                </a:solidFill>
                <a:latin typeface="宋体" panose="02010600030101010101" pitchFamily="2" charset="-122"/>
                <a:ea typeface="宋体" panose="02010600030101010101" pitchFamily="2" charset="-122"/>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Rectangle 2"/>
          <p:cNvSpPr>
            <a:spLocks noGrp="1"/>
          </p:cNvSpPr>
          <p:nvPr>
            <p:ph type="body" sz="half" idx="4294967295"/>
          </p:nvPr>
        </p:nvSpPr>
        <p:spPr>
          <a:xfrm>
            <a:off x="1044575" y="1557338"/>
            <a:ext cx="4386263" cy="2519362"/>
          </a:xfrm>
          <a:ln/>
        </p:spPr>
        <p:txBody>
          <a:bodyPr vert="horz" wrap="square" anchor="t" anchorCtr="0"/>
          <a:lstStyle>
            <a:lvl1pPr lvl="0">
              <a:buClr>
                <a:srgbClr val="FF3300"/>
              </a:buClr>
              <a:buSzTx/>
              <a:buFont typeface="Wingdings" panose="05000000000000000000" pitchFamily="2" charset="2"/>
              <a:defRPr sz="2800"/>
            </a:lvl1pPr>
            <a:lvl2pPr lvl="1">
              <a:buClr>
                <a:srgbClr val="FF3300"/>
              </a:buClr>
              <a:buSzTx/>
              <a:buFont typeface="Wingdings" panose="05000000000000000000" pitchFamily="2" charset="2"/>
              <a:defRPr sz="2400"/>
            </a:lvl2pPr>
            <a:lvl3pPr lvl="2">
              <a:buClr>
                <a:srgbClr val="FF3300"/>
              </a:buClr>
              <a:buSzTx/>
              <a:buFont typeface="Wingdings" panose="05000000000000000000" pitchFamily="2" charset="2"/>
              <a:defRPr sz="2000"/>
            </a:lvl3pPr>
            <a:lvl4pPr lvl="3">
              <a:buClr>
                <a:srgbClr val="FF3300"/>
              </a:buClr>
              <a:buSzTx/>
              <a:buFont typeface="Wingdings" panose="05000000000000000000" pitchFamily="2" charset="2"/>
              <a:defRPr sz="1800"/>
            </a:lvl4pPr>
            <a:lvl5pPr lvl="4">
              <a:buClr>
                <a:srgbClr val="FF3300"/>
              </a:buClr>
              <a:buSzTx/>
              <a:buFont typeface="Wingdings" panose="05000000000000000000" pitchFamily="2" charset="2"/>
              <a:defRPr sz="1800"/>
            </a:lvl5pPr>
          </a:lstStyle>
          <a:p>
            <a:pPr lvl="0" eaLnBrk="1" hangingPunct="1">
              <a:buNone/>
            </a:pPr>
            <a:r>
              <a:rPr lang="zh-TW" altLang="en-US" dirty="0">
                <a:solidFill>
                  <a:srgbClr val="000066"/>
                </a:solidFill>
              </a:rPr>
              <a:t>探讨：</a:t>
            </a:r>
            <a:endParaRPr lang="zh-TW" altLang="en-US" dirty="0">
              <a:solidFill>
                <a:srgbClr val="000066"/>
              </a:solidFill>
            </a:endParaRPr>
          </a:p>
          <a:p>
            <a:pPr lvl="0" eaLnBrk="1" hangingPunct="1">
              <a:buNone/>
            </a:pPr>
            <a:endParaRPr lang="zh-TW" altLang="en-US" sz="3200" dirty="0">
              <a:solidFill>
                <a:srgbClr val="000066"/>
              </a:solidFill>
            </a:endParaRPr>
          </a:p>
          <a:p>
            <a:pPr lvl="0" eaLnBrk="1" hangingPunct="1">
              <a:buNone/>
            </a:pPr>
            <a:r>
              <a:rPr lang="zh-TW" altLang="en-US" sz="3200" dirty="0">
                <a:solidFill>
                  <a:srgbClr val="000066"/>
                </a:solidFill>
              </a:rPr>
              <a:t>   </a:t>
            </a:r>
            <a:r>
              <a:rPr lang="zh-TW" altLang="en-US" dirty="0">
                <a:solidFill>
                  <a:srgbClr val="000066"/>
                </a:solidFill>
              </a:rPr>
              <a:t>我们通过什么样的途径寻找客户？</a:t>
            </a:r>
            <a:endParaRPr lang="zh-TW" altLang="en-US" dirty="0">
              <a:solidFill>
                <a:srgbClr val="000066"/>
              </a:solidFill>
            </a:endParaRPr>
          </a:p>
        </p:txBody>
      </p:sp>
      <p:pic>
        <p:nvPicPr>
          <p:cNvPr id="13315" name="Picture 5" descr="BD04972_"/>
          <p:cNvPicPr>
            <a:picLocks noChangeAspect="1"/>
          </p:cNvPicPr>
          <p:nvPr/>
        </p:nvPicPr>
        <p:blipFill>
          <a:blip r:embed="rId1"/>
          <a:stretch>
            <a:fillRect/>
          </a:stretch>
        </p:blipFill>
        <p:spPr>
          <a:xfrm>
            <a:off x="5653088" y="3357563"/>
            <a:ext cx="3067050" cy="2406650"/>
          </a:xfrm>
          <a:prstGeom prst="rect">
            <a:avLst/>
          </a:prstGeom>
          <a:noFill/>
          <a:ln w="9525">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4" descr="新闻纸"/>
          <p:cNvSpPr/>
          <p:nvPr/>
        </p:nvSpPr>
        <p:spPr>
          <a:xfrm>
            <a:off x="1476375" y="1557338"/>
            <a:ext cx="6696075" cy="4176712"/>
          </a:xfrm>
          <a:prstGeom prst="rect">
            <a:avLst/>
          </a:prstGeom>
          <a:blipFill rotWithShape="0">
            <a:blip r:embed="rId1"/>
          </a:blipFill>
          <a:ln w="9525">
            <a:noFill/>
          </a:ln>
        </p:spPr>
        <p:txBody>
          <a:bodyPr wrap="none" anchor="ctr" anchorCtr="0"/>
          <a:p>
            <a:endParaRPr lang="zh-CN" altLang="en-US" b="0" dirty="0">
              <a:latin typeface="Times New Roman" panose="02020603050405020304" pitchFamily="18" charset="0"/>
              <a:ea typeface="宋体" panose="02010600030101010101" pitchFamily="2" charset="-122"/>
            </a:endParaRPr>
          </a:p>
        </p:txBody>
      </p:sp>
      <p:sp>
        <p:nvSpPr>
          <p:cNvPr id="15363" name="Rectangle 3"/>
          <p:cNvSpPr>
            <a:spLocks noGrp="1"/>
          </p:cNvSpPr>
          <p:nvPr>
            <p:ph type="body" idx="4294967295"/>
          </p:nvPr>
        </p:nvSpPr>
        <p:spPr>
          <a:xfrm>
            <a:off x="1836738" y="1700213"/>
            <a:ext cx="6515100" cy="3816350"/>
          </a:xfrm>
          <a:ln/>
        </p:spPr>
        <p:txBody>
          <a:bodyPr vert="horz" wrap="square" anchor="t" anchorCtr="0"/>
          <a:p>
            <a:pPr eaLnBrk="1" hangingPunct="1">
              <a:buNone/>
            </a:pPr>
            <a:r>
              <a:rPr lang="zh-TW" altLang="en-US" sz="2800" dirty="0">
                <a:latin typeface="华文中宋" panose="02010600040101010101" pitchFamily="2" charset="-122"/>
              </a:rPr>
              <a:t>销售的基本概念</a:t>
            </a:r>
            <a:endParaRPr lang="zh-TW" altLang="en-US" sz="2800" dirty="0">
              <a:latin typeface="华文中宋" panose="02010600040101010101" pitchFamily="2" charset="-122"/>
            </a:endParaRPr>
          </a:p>
          <a:p>
            <a:pPr eaLnBrk="1" hangingPunct="1">
              <a:buNone/>
            </a:pPr>
            <a:endParaRPr lang="zh-TW" altLang="en-US" sz="2800" dirty="0">
              <a:latin typeface="华文中宋" panose="02010600040101010101" pitchFamily="2" charset="-122"/>
            </a:endParaRPr>
          </a:p>
          <a:p>
            <a:pPr eaLnBrk="1" hangingPunct="1">
              <a:buNone/>
            </a:pPr>
            <a:r>
              <a:rPr lang="zh-TW" altLang="en-US" sz="2800" dirty="0">
                <a:solidFill>
                  <a:srgbClr val="FF0000"/>
                </a:solidFill>
                <a:latin typeface="华文中宋" panose="02010600040101010101" pitchFamily="2" charset="-122"/>
              </a:rPr>
              <a:t>信用卡市场的开拓方法</a:t>
            </a:r>
            <a:endParaRPr lang="zh-TW" altLang="en-US" sz="2800" dirty="0">
              <a:solidFill>
                <a:srgbClr val="FF0000"/>
              </a:solidFill>
              <a:latin typeface="华文中宋" panose="02010600040101010101" pitchFamily="2" charset="-122"/>
            </a:endParaRPr>
          </a:p>
          <a:p>
            <a:pPr eaLnBrk="1" hangingPunct="1">
              <a:buNone/>
            </a:pPr>
            <a:endParaRPr lang="zh-TW" altLang="en-US" sz="2800" dirty="0">
              <a:solidFill>
                <a:srgbClr val="FF0000"/>
              </a:solidFill>
              <a:latin typeface="华文中宋" panose="02010600040101010101" pitchFamily="2" charset="-122"/>
            </a:endParaRPr>
          </a:p>
          <a:p>
            <a:pPr eaLnBrk="1" hangingPunct="1">
              <a:buNone/>
            </a:pPr>
            <a:r>
              <a:rPr lang="zh-TW" altLang="en-US" sz="2800" dirty="0">
                <a:latin typeface="华文中宋" panose="02010600040101010101" pitchFamily="2" charset="-122"/>
              </a:rPr>
              <a:t>信用卡销售流程与话术</a:t>
            </a:r>
            <a:endParaRPr lang="zh-TW" altLang="en-US" sz="2800" dirty="0">
              <a:latin typeface="华文中宋" panose="02010600040101010101" pitchFamily="2" charset="-122"/>
            </a:endParaRPr>
          </a:p>
          <a:p>
            <a:pPr eaLnBrk="1" hangingPunct="1">
              <a:buNone/>
            </a:pPr>
            <a:endParaRPr lang="zh-TW" altLang="en-US" sz="2800" dirty="0">
              <a:solidFill>
                <a:srgbClr val="FF0000"/>
              </a:solidFill>
              <a:latin typeface="华文中宋" panose="02010600040101010101" pitchFamily="2" charset="-122"/>
            </a:endParaRPr>
          </a:p>
          <a:p>
            <a:pPr eaLnBrk="1" hangingPunct="1">
              <a:buNone/>
            </a:pPr>
            <a:r>
              <a:rPr lang="zh-TW" altLang="en-US" sz="2800" dirty="0">
                <a:latin typeface="华文中宋" panose="02010600040101010101" pitchFamily="2" charset="-122"/>
              </a:rPr>
              <a:t>信用卡销售异议处理话术</a:t>
            </a:r>
            <a:endParaRPr lang="zh-TW" altLang="en-US" sz="2800" dirty="0">
              <a:latin typeface="华文中宋" panose="02010600040101010101" pitchFamily="2" charset="-122"/>
            </a:endParaRPr>
          </a:p>
          <a:p>
            <a:pPr eaLnBrk="1" hangingPunct="1">
              <a:buNone/>
            </a:pPr>
            <a:endParaRPr lang="zh-TW" altLang="en-US" b="1" dirty="0">
              <a:solidFill>
                <a:srgbClr val="000066"/>
              </a:solidFill>
              <a:latin typeface="楷体_GB2312" pitchFamily="49" charset="-122"/>
              <a:ea typeface="楷体_GB2312" pitchFamily="49" charset="-122"/>
            </a:endParaRPr>
          </a:p>
        </p:txBody>
      </p:sp>
      <p:sp>
        <p:nvSpPr>
          <p:cNvPr id="15364" name="Rectangle 4"/>
          <p:cNvSpPr/>
          <p:nvPr/>
        </p:nvSpPr>
        <p:spPr>
          <a:xfrm>
            <a:off x="828675" y="549275"/>
            <a:ext cx="7773988" cy="792163"/>
          </a:xfrm>
          <a:prstGeom prst="rect">
            <a:avLst/>
          </a:prstGeom>
          <a:noFill/>
          <a:ln w="9525">
            <a:noFill/>
          </a:ln>
        </p:spPr>
        <p:txBody>
          <a:bodyPr anchor="ctr" anchorCtr="0"/>
          <a:p>
            <a:r>
              <a:rPr lang="zh-TW" altLang="en-US" sz="4000" b="0">
                <a:solidFill>
                  <a:srgbClr val="FF3300"/>
                </a:solidFill>
                <a:latin typeface="Times New Roman" panose="02020603050405020304" pitchFamily="18" charset="0"/>
                <a:ea typeface="华文新魏" panose="02010800040101010101" pitchFamily="2" charset="-122"/>
              </a:rPr>
              <a:t>信用卡销售宝典之话术篇</a:t>
            </a:r>
            <a:endParaRPr lang="zh-TW" altLang="en-US" sz="4000" b="0">
              <a:solidFill>
                <a:srgbClr val="FF3300"/>
              </a:solidFill>
              <a:latin typeface="Times New Roman" panose="02020603050405020304" pitchFamily="18" charset="0"/>
              <a:ea typeface="华文新魏" panose="02010800040101010101" pitchFamily="2" charset="-122"/>
            </a:endParaRPr>
          </a:p>
        </p:txBody>
      </p:sp>
      <p:pic>
        <p:nvPicPr>
          <p:cNvPr id="15365" name="Picture 5" descr="j0237968[1]"/>
          <p:cNvPicPr>
            <a:picLocks noChangeAspect="1"/>
          </p:cNvPicPr>
          <p:nvPr/>
        </p:nvPicPr>
        <p:blipFill>
          <a:blip r:embed="rId2"/>
          <a:stretch>
            <a:fillRect/>
          </a:stretch>
        </p:blipFill>
        <p:spPr>
          <a:xfrm>
            <a:off x="6877050" y="4652963"/>
            <a:ext cx="1573213" cy="1319212"/>
          </a:xfrm>
          <a:prstGeom prst="rect">
            <a:avLst/>
          </a:prstGeom>
          <a:noFill/>
          <a:ln w="9525">
            <a:noFill/>
          </a:ln>
        </p:spPr>
      </p:pic>
      <p:sp>
        <p:nvSpPr>
          <p:cNvPr id="15366" name="AutoShape 9"/>
          <p:cNvSpPr/>
          <p:nvPr/>
        </p:nvSpPr>
        <p:spPr>
          <a:xfrm>
            <a:off x="1044575" y="2708275"/>
            <a:ext cx="685800" cy="533400"/>
          </a:xfrm>
          <a:custGeom>
            <a:avLst/>
            <a:gdLst>
              <a:gd name="txL" fmla="*/ 3375 w 21600"/>
              <a:gd name="txT" fmla="*/ 5400 h 21600"/>
              <a:gd name="txR" fmla="*/ 18900 w 21600"/>
              <a:gd name="txB" fmla="*/ 16200 h 21600"/>
            </a:gdLst>
            <a:ahLst/>
            <a:cxnLst>
              <a:cxn ang="17694720">
                <a:pos x="2147483647" y="0"/>
              </a:cxn>
              <a:cxn ang="11796480">
                <a:pos x="0" y="2147483647"/>
              </a:cxn>
              <a:cxn ang="5898240">
                <a:pos x="2147483647" y="2147483647"/>
              </a:cxn>
              <a:cxn ang="0">
                <a:pos x="2147483647" y="2147483647"/>
              </a:cxn>
            </a:cxnLst>
            <a:rect l="txL" t="txT" r="txR" b="txB"/>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33CCCC"/>
          </a:solidFill>
          <a:ln w="9525" cap="flat" cmpd="sng">
            <a:solidFill>
              <a:schemeClr val="tx1"/>
            </a:solidFill>
            <a:prstDash val="solid"/>
            <a:miter/>
            <a:headEnd type="none" w="med" len="med"/>
            <a:tailEnd type="none" w="med" len="med"/>
          </a:ln>
        </p:spPr>
        <p:txBody>
          <a:bodyPr wrap="none" anchor="ctr" anchorCtr="0"/>
          <a:p>
            <a:endParaRPr lang="zh-CN" altLang="en-US" b="0"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366"/>
                                        </p:tgtEl>
                                        <p:attrNameLst>
                                          <p:attrName>style.visibility</p:attrName>
                                        </p:attrNameLst>
                                      </p:cBhvr>
                                      <p:to>
                                        <p:strVal val="visible"/>
                                      </p:to>
                                    </p:set>
                                    <p:anim calcmode="lin" valueType="num">
                                      <p:cBhvr additive="base">
                                        <p:cTn id="7" dur="500" fill="hold"/>
                                        <p:tgtEl>
                                          <p:spTgt spid="15366"/>
                                        </p:tgtEl>
                                        <p:attrNameLst>
                                          <p:attrName>ppt_x</p:attrName>
                                        </p:attrNameLst>
                                      </p:cBhvr>
                                      <p:tavLst>
                                        <p:tav tm="0">
                                          <p:val>
                                            <p:strVal val="0-#ppt_w/2"/>
                                          </p:val>
                                        </p:tav>
                                        <p:tav tm="100000">
                                          <p:val>
                                            <p:strVal val="#ppt_x"/>
                                          </p:val>
                                        </p:tav>
                                      </p:tavLst>
                                    </p:anim>
                                    <p:anim calcmode="lin" valueType="num">
                                      <p:cBhvr additive="base">
                                        <p:cTn id="8" dur="500" fill="hold"/>
                                        <p:tgtEl>
                                          <p:spTgt spid="1536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Text Box 2"/>
          <p:cNvSpPr txBox="1"/>
          <p:nvPr/>
        </p:nvSpPr>
        <p:spPr>
          <a:xfrm>
            <a:off x="3205163" y="765175"/>
            <a:ext cx="3859212" cy="641350"/>
          </a:xfrm>
          <a:prstGeom prst="rect">
            <a:avLst/>
          </a:prstGeom>
          <a:noFill/>
          <a:ln w="9525">
            <a:noFill/>
          </a:ln>
          <a:effectLst>
            <a:outerShdw dist="45791" dir="3378595" algn="ctr" rotWithShape="0">
              <a:schemeClr val="bg1"/>
            </a:outerShdw>
          </a:effectLst>
        </p:spPr>
        <p:txBody>
          <a:bodyPr>
            <a:spAutoFit/>
          </a:bodyPr>
          <a:p>
            <a:pPr algn="l">
              <a:spcBef>
                <a:spcPct val="50000"/>
              </a:spcBef>
            </a:pPr>
            <a:r>
              <a:rPr lang="zh-CN" altLang="en-US" sz="3600" b="0" dirty="0">
                <a:solidFill>
                  <a:srgbClr val="FF3300"/>
                </a:solidFill>
                <a:latin typeface="华文新魏" panose="02010800040101010101" pitchFamily="2" charset="-122"/>
                <a:ea typeface="华文新魏" panose="02010800040101010101" pitchFamily="2" charset="-122"/>
              </a:rPr>
              <a:t>缘故市场</a:t>
            </a:r>
            <a:endParaRPr lang="zh-CN" altLang="en-US" sz="3600" b="0" dirty="0">
              <a:solidFill>
                <a:srgbClr val="FF3300"/>
              </a:solidFill>
              <a:latin typeface="华文新魏" panose="02010800040101010101" pitchFamily="2" charset="-122"/>
              <a:ea typeface="华文新魏" panose="02010800040101010101" pitchFamily="2" charset="-122"/>
            </a:endParaRPr>
          </a:p>
        </p:txBody>
      </p:sp>
      <p:grpSp>
        <p:nvGrpSpPr>
          <p:cNvPr id="16387" name="组合 16386"/>
          <p:cNvGrpSpPr/>
          <p:nvPr/>
        </p:nvGrpSpPr>
        <p:grpSpPr>
          <a:xfrm>
            <a:off x="4356100" y="1989138"/>
            <a:ext cx="4175125" cy="3454400"/>
            <a:chOff x="0" y="0"/>
            <a:chExt cx="3483" cy="3265"/>
          </a:xfrm>
        </p:grpSpPr>
        <p:sp>
          <p:nvSpPr>
            <p:cNvPr id="16388" name="AutoShape 4"/>
            <p:cNvSpPr>
              <a:spLocks noChangeAspect="1" noTextEdit="1"/>
            </p:cNvSpPr>
            <p:nvPr/>
          </p:nvSpPr>
          <p:spPr>
            <a:xfrm>
              <a:off x="0" y="0"/>
              <a:ext cx="3483" cy="3265"/>
            </a:xfrm>
            <a:prstGeom prst="rect">
              <a:avLst/>
            </a:prstGeom>
            <a:solidFill>
              <a:srgbClr val="FF99CC"/>
            </a:solidFill>
            <a:ln w="9525">
              <a:noFill/>
            </a:ln>
          </p:spPr>
          <p:txBody>
            <a:bodyPr/>
            <a:p>
              <a:endParaRPr lang="zh-CN" altLang="en-US"/>
            </a:p>
          </p:txBody>
        </p:sp>
        <p:sp>
          <p:nvSpPr>
            <p:cNvPr id="16389" name="_s161819"/>
            <p:cNvSpPr/>
            <p:nvPr/>
          </p:nvSpPr>
          <p:spPr>
            <a:xfrm flipH="1" flipV="1">
              <a:off x="1134" y="1435"/>
              <a:ext cx="305" cy="99"/>
            </a:xfrm>
            <a:prstGeom prst="line">
              <a:avLst/>
            </a:prstGeom>
            <a:ln w="28575" cap="flat" cmpd="sng">
              <a:solidFill>
                <a:schemeClr val="tx1"/>
              </a:solidFill>
              <a:prstDash val="solid"/>
              <a:headEnd type="none" w="med" len="med"/>
              <a:tailEnd type="none" w="med" len="med"/>
            </a:ln>
          </p:spPr>
        </p:sp>
        <p:sp>
          <p:nvSpPr>
            <p:cNvPr id="16390" name="_s161818"/>
            <p:cNvSpPr/>
            <p:nvPr/>
          </p:nvSpPr>
          <p:spPr>
            <a:xfrm>
              <a:off x="511" y="1018"/>
              <a:ext cx="639" cy="639"/>
            </a:xfrm>
            <a:prstGeom prst="ellipse">
              <a:avLst/>
            </a:prstGeom>
            <a:solidFill>
              <a:schemeClr val="accent1"/>
            </a:solidFill>
            <a:ln w="9525" cap="flat" cmpd="sng">
              <a:solidFill>
                <a:schemeClr val="tx1"/>
              </a:solidFill>
              <a:prstDash val="solid"/>
              <a:headEnd type="none" w="med" len="med"/>
              <a:tailEnd type="none" w="med" len="med"/>
            </a:ln>
          </p:spPr>
          <p:txBody>
            <a:bodyPr wrap="none" lIns="0" tIns="0" rIns="0" bIns="0" anchor="ctr" anchorCtr="0"/>
            <a:p>
              <a:r>
                <a:rPr lang="zh-CN" altLang="en-US" sz="3200" b="0" dirty="0">
                  <a:latin typeface="Times New Roman" panose="02020603050405020304" pitchFamily="18" charset="0"/>
                </a:rPr>
                <a:t>亲戚</a:t>
              </a:r>
              <a:endParaRPr lang="zh-CN" altLang="en-US" sz="3200" b="0" dirty="0">
                <a:latin typeface="Times New Roman" panose="02020603050405020304" pitchFamily="18" charset="0"/>
              </a:endParaRPr>
            </a:p>
          </p:txBody>
        </p:sp>
        <p:sp>
          <p:nvSpPr>
            <p:cNvPr id="16391" name="_s161817"/>
            <p:cNvSpPr/>
            <p:nvPr/>
          </p:nvSpPr>
          <p:spPr>
            <a:xfrm flipH="1">
              <a:off x="1366" y="1890"/>
              <a:ext cx="189" cy="260"/>
            </a:xfrm>
            <a:prstGeom prst="line">
              <a:avLst/>
            </a:prstGeom>
            <a:ln w="28575" cap="flat" cmpd="sng">
              <a:solidFill>
                <a:schemeClr val="tx1"/>
              </a:solidFill>
              <a:prstDash val="solid"/>
              <a:headEnd type="none" w="med" len="med"/>
              <a:tailEnd type="none" w="med" len="med"/>
            </a:ln>
          </p:spPr>
        </p:sp>
        <p:sp>
          <p:nvSpPr>
            <p:cNvPr id="16392" name="_s161816"/>
            <p:cNvSpPr/>
            <p:nvPr/>
          </p:nvSpPr>
          <p:spPr>
            <a:xfrm>
              <a:off x="860" y="2089"/>
              <a:ext cx="639" cy="639"/>
            </a:xfrm>
            <a:prstGeom prst="ellipse">
              <a:avLst/>
            </a:prstGeom>
            <a:solidFill>
              <a:schemeClr val="accent1"/>
            </a:solidFill>
            <a:ln w="9525" cap="flat" cmpd="sng">
              <a:solidFill>
                <a:schemeClr val="tx1"/>
              </a:solidFill>
              <a:prstDash val="solid"/>
              <a:headEnd type="none" w="med" len="med"/>
              <a:tailEnd type="none" w="med" len="med"/>
            </a:ln>
          </p:spPr>
          <p:txBody>
            <a:bodyPr wrap="none" lIns="0" tIns="0" rIns="0" bIns="0" anchor="ctr" anchorCtr="0"/>
            <a:p>
              <a:r>
                <a:rPr lang="zh-CN" altLang="en-US" sz="3200" b="0" dirty="0">
                  <a:latin typeface="Times New Roman" panose="02020603050405020304" pitchFamily="18" charset="0"/>
                </a:rPr>
                <a:t>同事</a:t>
              </a:r>
              <a:endParaRPr lang="zh-CN" altLang="en-US" sz="3200" b="0" dirty="0">
                <a:latin typeface="Times New Roman" panose="02020603050405020304" pitchFamily="18" charset="0"/>
              </a:endParaRPr>
            </a:p>
          </p:txBody>
        </p:sp>
        <p:sp>
          <p:nvSpPr>
            <p:cNvPr id="16393" name="_s161815"/>
            <p:cNvSpPr/>
            <p:nvPr/>
          </p:nvSpPr>
          <p:spPr>
            <a:xfrm>
              <a:off x="1929" y="1890"/>
              <a:ext cx="189" cy="260"/>
            </a:xfrm>
            <a:prstGeom prst="line">
              <a:avLst/>
            </a:prstGeom>
            <a:ln w="28575" cap="flat" cmpd="sng">
              <a:solidFill>
                <a:schemeClr val="tx1"/>
              </a:solidFill>
              <a:prstDash val="solid"/>
              <a:headEnd type="none" w="med" len="med"/>
              <a:tailEnd type="none" w="med" len="med"/>
            </a:ln>
          </p:spPr>
        </p:sp>
        <p:sp>
          <p:nvSpPr>
            <p:cNvPr id="16394" name="_s161807"/>
            <p:cNvSpPr/>
            <p:nvPr/>
          </p:nvSpPr>
          <p:spPr>
            <a:xfrm>
              <a:off x="1987" y="2089"/>
              <a:ext cx="639" cy="639"/>
            </a:xfrm>
            <a:prstGeom prst="ellipse">
              <a:avLst/>
            </a:prstGeom>
            <a:solidFill>
              <a:schemeClr val="accent1"/>
            </a:solidFill>
            <a:ln w="9525" cap="flat" cmpd="sng">
              <a:solidFill>
                <a:schemeClr val="tx1"/>
              </a:solidFill>
              <a:prstDash val="solid"/>
              <a:headEnd type="none" w="med" len="med"/>
              <a:tailEnd type="none" w="med" len="med"/>
            </a:ln>
          </p:spPr>
          <p:txBody>
            <a:bodyPr wrap="none" lIns="0" tIns="0" rIns="0" bIns="0" anchor="ctr" anchorCtr="0"/>
            <a:p>
              <a:r>
                <a:rPr lang="zh-CN" altLang="en-US" sz="3200" b="0" dirty="0">
                  <a:latin typeface="Times New Roman" panose="02020603050405020304" pitchFamily="18" charset="0"/>
                </a:rPr>
                <a:t>邻居</a:t>
              </a:r>
              <a:endParaRPr lang="zh-CN" altLang="en-US" sz="3200" b="0" dirty="0">
                <a:latin typeface="Times New Roman" panose="02020603050405020304" pitchFamily="18" charset="0"/>
              </a:endParaRPr>
            </a:p>
          </p:txBody>
        </p:sp>
        <p:sp>
          <p:nvSpPr>
            <p:cNvPr id="16395" name="_s161814"/>
            <p:cNvSpPr/>
            <p:nvPr/>
          </p:nvSpPr>
          <p:spPr>
            <a:xfrm flipV="1">
              <a:off x="2045" y="1435"/>
              <a:ext cx="305" cy="99"/>
            </a:xfrm>
            <a:prstGeom prst="line">
              <a:avLst/>
            </a:prstGeom>
            <a:ln w="28575" cap="flat" cmpd="sng">
              <a:solidFill>
                <a:schemeClr val="tx1"/>
              </a:solidFill>
              <a:prstDash val="solid"/>
              <a:headEnd type="none" w="med" len="med"/>
              <a:tailEnd type="none" w="med" len="med"/>
            </a:ln>
          </p:spPr>
        </p:sp>
        <p:sp>
          <p:nvSpPr>
            <p:cNvPr id="16396" name="_s161805"/>
            <p:cNvSpPr/>
            <p:nvPr/>
          </p:nvSpPr>
          <p:spPr>
            <a:xfrm>
              <a:off x="2335" y="1017"/>
              <a:ext cx="639" cy="639"/>
            </a:xfrm>
            <a:prstGeom prst="ellipse">
              <a:avLst/>
            </a:prstGeom>
            <a:solidFill>
              <a:schemeClr val="accent1"/>
            </a:solidFill>
            <a:ln w="9525" cap="flat" cmpd="sng">
              <a:solidFill>
                <a:schemeClr val="tx1"/>
              </a:solidFill>
              <a:prstDash val="solid"/>
              <a:headEnd type="none" w="med" len="med"/>
              <a:tailEnd type="none" w="med" len="med"/>
            </a:ln>
          </p:spPr>
          <p:txBody>
            <a:bodyPr wrap="none" lIns="0" tIns="0" rIns="0" bIns="0" anchor="ctr" anchorCtr="0"/>
            <a:p>
              <a:r>
                <a:rPr lang="zh-CN" altLang="en-US" sz="3200" b="0" dirty="0">
                  <a:latin typeface="Times New Roman" panose="02020603050405020304" pitchFamily="18" charset="0"/>
                </a:rPr>
                <a:t>朋友</a:t>
              </a:r>
              <a:endParaRPr lang="zh-CN" altLang="en-US" sz="3200" b="0" dirty="0">
                <a:latin typeface="Times New Roman" panose="02020603050405020304" pitchFamily="18" charset="0"/>
              </a:endParaRPr>
            </a:p>
          </p:txBody>
        </p:sp>
        <p:sp>
          <p:nvSpPr>
            <p:cNvPr id="16397" name="_s161813"/>
            <p:cNvSpPr/>
            <p:nvPr/>
          </p:nvSpPr>
          <p:spPr>
            <a:xfrm flipV="1">
              <a:off x="1742" y="993"/>
              <a:ext cx="0" cy="321"/>
            </a:xfrm>
            <a:prstGeom prst="line">
              <a:avLst/>
            </a:prstGeom>
            <a:ln w="28575" cap="flat" cmpd="sng">
              <a:solidFill>
                <a:schemeClr val="tx1"/>
              </a:solidFill>
              <a:prstDash val="solid"/>
              <a:headEnd type="none" w="med" len="med"/>
              <a:tailEnd type="none" w="med" len="med"/>
            </a:ln>
          </p:spPr>
        </p:sp>
        <p:sp>
          <p:nvSpPr>
            <p:cNvPr id="16398" name="_s161803"/>
            <p:cNvSpPr/>
            <p:nvPr/>
          </p:nvSpPr>
          <p:spPr>
            <a:xfrm>
              <a:off x="1423" y="355"/>
              <a:ext cx="639" cy="639"/>
            </a:xfrm>
            <a:prstGeom prst="ellipse">
              <a:avLst/>
            </a:prstGeom>
            <a:solidFill>
              <a:schemeClr val="accent1"/>
            </a:solidFill>
            <a:ln w="9525" cap="flat" cmpd="sng">
              <a:solidFill>
                <a:schemeClr val="tx1"/>
              </a:solidFill>
              <a:prstDash val="solid"/>
              <a:headEnd type="none" w="med" len="med"/>
              <a:tailEnd type="none" w="med" len="med"/>
            </a:ln>
          </p:spPr>
          <p:txBody>
            <a:bodyPr wrap="none" lIns="0" tIns="0" rIns="0" bIns="0" anchor="ctr" anchorCtr="0"/>
            <a:p>
              <a:r>
                <a:rPr lang="zh-CN" altLang="en-US" sz="3200" b="0" dirty="0">
                  <a:latin typeface="Times New Roman" panose="02020603050405020304" pitchFamily="18" charset="0"/>
                </a:rPr>
                <a:t>同学</a:t>
              </a:r>
              <a:endParaRPr lang="zh-CN" altLang="en-US" sz="3200" b="0" dirty="0">
                <a:latin typeface="Times New Roman" panose="02020603050405020304" pitchFamily="18" charset="0"/>
              </a:endParaRPr>
            </a:p>
          </p:txBody>
        </p:sp>
        <p:sp>
          <p:nvSpPr>
            <p:cNvPr id="16399" name="_s161802"/>
            <p:cNvSpPr/>
            <p:nvPr/>
          </p:nvSpPr>
          <p:spPr>
            <a:xfrm>
              <a:off x="1423" y="1314"/>
              <a:ext cx="639" cy="639"/>
            </a:xfrm>
            <a:prstGeom prst="ellipse">
              <a:avLst/>
            </a:prstGeom>
            <a:solidFill>
              <a:schemeClr val="accent1"/>
            </a:solidFill>
            <a:ln w="9525" cap="flat" cmpd="sng">
              <a:solidFill>
                <a:schemeClr val="tx1"/>
              </a:solidFill>
              <a:prstDash val="solid"/>
              <a:headEnd type="none" w="med" len="med"/>
              <a:tailEnd type="none" w="med" len="med"/>
            </a:ln>
          </p:spPr>
          <p:txBody>
            <a:bodyPr wrap="none" lIns="0" tIns="0" rIns="0" bIns="0" anchor="ctr" anchorCtr="0"/>
            <a:p>
              <a:r>
                <a:rPr lang="zh-CN" altLang="en-US" sz="3200" b="0" dirty="0">
                  <a:latin typeface="Times New Roman" panose="02020603050405020304" pitchFamily="18" charset="0"/>
                </a:rPr>
                <a:t>您</a:t>
              </a:r>
              <a:endParaRPr lang="zh-CN" altLang="en-US" sz="3200" b="0" dirty="0">
                <a:latin typeface="Times New Roman" panose="02020603050405020304" pitchFamily="18" charset="0"/>
              </a:endParaRPr>
            </a:p>
          </p:txBody>
        </p:sp>
      </p:grpSp>
      <p:pic>
        <p:nvPicPr>
          <p:cNvPr id="16400" name="Picture 16" descr="j0216724"/>
          <p:cNvPicPr>
            <a:picLocks noChangeAspect="1"/>
          </p:cNvPicPr>
          <p:nvPr/>
        </p:nvPicPr>
        <p:blipFill>
          <a:blip r:embed="rId1"/>
          <a:stretch>
            <a:fillRect/>
          </a:stretch>
        </p:blipFill>
        <p:spPr>
          <a:xfrm>
            <a:off x="973138" y="2708275"/>
            <a:ext cx="1795462" cy="2257425"/>
          </a:xfrm>
          <a:prstGeom prst="rect">
            <a:avLst/>
          </a:prstGeom>
          <a:noFill/>
          <a:ln w="9525">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Text Box 2"/>
          <p:cNvSpPr txBox="1"/>
          <p:nvPr/>
        </p:nvSpPr>
        <p:spPr>
          <a:xfrm>
            <a:off x="2773363" y="765175"/>
            <a:ext cx="3484562" cy="641350"/>
          </a:xfrm>
          <a:prstGeom prst="rect">
            <a:avLst/>
          </a:prstGeom>
          <a:noFill/>
          <a:ln w="9525">
            <a:noFill/>
          </a:ln>
          <a:effectLst>
            <a:outerShdw dist="63500" dir="2212193" algn="ctr" rotWithShape="0">
              <a:schemeClr val="bg1"/>
            </a:outerShdw>
          </a:effectLst>
        </p:spPr>
        <p:txBody>
          <a:bodyPr>
            <a:spAutoFit/>
          </a:bodyPr>
          <a:p>
            <a:pPr algn="l">
              <a:spcBef>
                <a:spcPct val="50000"/>
              </a:spcBef>
            </a:pPr>
            <a:r>
              <a:rPr lang="zh-CN" altLang="en-US" sz="3600" b="0" dirty="0">
                <a:solidFill>
                  <a:srgbClr val="FF3300"/>
                </a:solidFill>
                <a:latin typeface="华文中宋" panose="02010600040101010101" pitchFamily="2" charset="-122"/>
                <a:ea typeface="华文新魏" panose="02010800040101010101" pitchFamily="2" charset="-122"/>
              </a:rPr>
              <a:t>转</a:t>
            </a:r>
            <a:r>
              <a:rPr lang="zh-CN" altLang="en-US" sz="3600" b="0" dirty="0">
                <a:solidFill>
                  <a:srgbClr val="FF3300"/>
                </a:solidFill>
                <a:latin typeface="华文新魏" panose="02010800040101010101" pitchFamily="2" charset="-122"/>
                <a:ea typeface="华文新魏" panose="02010800040101010101" pitchFamily="2" charset="-122"/>
              </a:rPr>
              <a:t>介绍市场</a:t>
            </a:r>
            <a:endParaRPr lang="zh-CN" altLang="en-US" sz="3600" b="0" dirty="0">
              <a:solidFill>
                <a:srgbClr val="FF3300"/>
              </a:solidFill>
              <a:latin typeface="华文新魏" panose="02010800040101010101" pitchFamily="2" charset="-122"/>
              <a:ea typeface="华文新魏" panose="02010800040101010101" pitchFamily="2" charset="-122"/>
            </a:endParaRPr>
          </a:p>
        </p:txBody>
      </p:sp>
      <p:grpSp>
        <p:nvGrpSpPr>
          <p:cNvPr id="18435" name="组合 18434"/>
          <p:cNvGrpSpPr/>
          <p:nvPr/>
        </p:nvGrpSpPr>
        <p:grpSpPr>
          <a:xfrm>
            <a:off x="4500563" y="2420938"/>
            <a:ext cx="3168650" cy="3384550"/>
            <a:chOff x="0" y="0"/>
            <a:chExt cx="2858" cy="2858"/>
          </a:xfrm>
        </p:grpSpPr>
        <p:sp>
          <p:nvSpPr>
            <p:cNvPr id="18436" name="AutoShape 4"/>
            <p:cNvSpPr>
              <a:spLocks noChangeAspect="1" noTextEdit="1"/>
            </p:cNvSpPr>
            <p:nvPr/>
          </p:nvSpPr>
          <p:spPr>
            <a:xfrm>
              <a:off x="0" y="0"/>
              <a:ext cx="2858" cy="2858"/>
            </a:xfrm>
            <a:prstGeom prst="rect">
              <a:avLst/>
            </a:prstGeom>
            <a:noFill/>
            <a:ln w="9525">
              <a:noFill/>
            </a:ln>
          </p:spPr>
          <p:txBody>
            <a:bodyPr/>
            <a:p>
              <a:endParaRPr lang="zh-CN" altLang="en-US"/>
            </a:p>
          </p:txBody>
        </p:sp>
        <p:sp>
          <p:nvSpPr>
            <p:cNvPr id="18437" name="_s162830"/>
            <p:cNvSpPr>
              <a:spLocks noTextEdit="1"/>
            </p:cNvSpPr>
            <p:nvPr/>
          </p:nvSpPr>
          <p:spPr>
            <a:xfrm>
              <a:off x="326" y="666"/>
              <a:ext cx="1527" cy="1527"/>
            </a:xfrm>
            <a:custGeom>
              <a:avLst/>
              <a:gdLst>
                <a:gd name="txL" fmla="*/ 3169 w 21600"/>
                <a:gd name="txT" fmla="*/ 3169 h 21600"/>
                <a:gd name="txR" fmla="*/ 18431 w 21600"/>
                <a:gd name="txB" fmla="*/ 18431 h 21600"/>
              </a:gdLst>
              <a:ahLst/>
              <a:cxnLst>
                <a:cxn ang="0">
                  <a:pos x="0" y="0"/>
                </a:cxn>
                <a:cxn ang="0">
                  <a:pos x="0" y="0"/>
                </a:cxn>
                <a:cxn ang="0">
                  <a:pos x="0" y="0"/>
                </a:cxn>
                <a:cxn ang="0">
                  <a:pos x="0" y="0"/>
                </a:cxn>
                <a:cxn ang="0">
                  <a:pos x="0" y="1"/>
                </a:cxn>
                <a:cxn ang="0">
                  <a:pos x="0" y="0"/>
                </a:cxn>
                <a:cxn ang="0">
                  <a:pos x="1" y="0"/>
                </a:cxn>
                <a:cxn ang="0">
                  <a:pos x="0" y="0"/>
                </a:cxn>
              </a:cxnLst>
              <a:rect l="txL" t="txT" r="txR" b="txB"/>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3600" y="10800"/>
                  </a:moveTo>
                  <a:cubicBezTo>
                    <a:pt x="3600" y="14776"/>
                    <a:pt x="6824" y="18000"/>
                    <a:pt x="10800" y="18000"/>
                  </a:cubicBezTo>
                  <a:cubicBezTo>
                    <a:pt x="14776" y="18000"/>
                    <a:pt x="18000" y="14776"/>
                    <a:pt x="18000" y="10800"/>
                  </a:cubicBezTo>
                  <a:cubicBezTo>
                    <a:pt x="18000" y="6824"/>
                    <a:pt x="14776" y="3600"/>
                    <a:pt x="10800" y="3600"/>
                  </a:cubicBezTo>
                  <a:cubicBezTo>
                    <a:pt x="6824" y="3600"/>
                    <a:pt x="3600" y="6824"/>
                    <a:pt x="3600" y="10800"/>
                  </a:cubicBezTo>
                  <a:close/>
                </a:path>
              </a:pathLst>
            </a:custGeom>
            <a:solidFill>
              <a:srgbClr val="00FF00"/>
            </a:solidFill>
            <a:ln w="9525">
              <a:noFill/>
            </a:ln>
          </p:spPr>
          <p:txBody>
            <a:bodyPr/>
            <a:p>
              <a:endParaRPr lang="zh-CN" altLang="en-US"/>
            </a:p>
          </p:txBody>
        </p:sp>
        <p:sp>
          <p:nvSpPr>
            <p:cNvPr id="18438" name="_s162831"/>
            <p:cNvSpPr/>
            <p:nvPr/>
          </p:nvSpPr>
          <p:spPr>
            <a:xfrm>
              <a:off x="2380" y="749"/>
              <a:ext cx="407" cy="339"/>
            </a:xfrm>
            <a:prstGeom prst="callout2">
              <a:avLst>
                <a:gd name="adj1" fmla="val 24324"/>
                <a:gd name="adj2" fmla="val -13523"/>
                <a:gd name="adj3" fmla="val 24324"/>
                <a:gd name="adj4" fmla="val -21690"/>
                <a:gd name="adj5" fmla="val 200676"/>
                <a:gd name="adj6" fmla="val -160565"/>
              </a:avLst>
            </a:prstGeom>
            <a:noFill/>
            <a:ln w="9525" cap="flat" cmpd="sng">
              <a:solidFill>
                <a:schemeClr val="tx1"/>
              </a:solidFill>
              <a:prstDash val="solid"/>
              <a:miter/>
              <a:headEnd type="none" w="med" len="med"/>
              <a:tailEnd type="none" w="med" len="med"/>
            </a:ln>
          </p:spPr>
          <p:txBody>
            <a:bodyPr wrap="none" lIns="0" tIns="0" rIns="0" bIns="0"/>
            <a:p>
              <a:pPr algn="l"/>
              <a:r>
                <a:rPr lang="zh-CN" altLang="en-US" sz="2800" b="0" dirty="0">
                  <a:latin typeface="Times New Roman" panose="02020603050405020304" pitchFamily="18" charset="0"/>
                </a:rPr>
                <a:t>客户的朋友</a:t>
              </a:r>
              <a:endParaRPr lang="zh-CN" altLang="en-US" sz="2800" b="0" dirty="0">
                <a:latin typeface="Times New Roman" panose="02020603050405020304" pitchFamily="18" charset="0"/>
              </a:endParaRPr>
            </a:p>
          </p:txBody>
        </p:sp>
        <p:sp>
          <p:nvSpPr>
            <p:cNvPr id="18439" name="_s162828"/>
            <p:cNvSpPr>
              <a:spLocks noTextEdit="1"/>
            </p:cNvSpPr>
            <p:nvPr/>
          </p:nvSpPr>
          <p:spPr>
            <a:xfrm>
              <a:off x="580" y="920"/>
              <a:ext cx="1018" cy="1018"/>
            </a:xfrm>
            <a:custGeom>
              <a:avLst/>
              <a:gdLst>
                <a:gd name="txL" fmla="*/ 3161 w 21600"/>
                <a:gd name="txT" fmla="*/ 3161 h 21600"/>
                <a:gd name="txR" fmla="*/ 18439 w 21600"/>
                <a:gd name="txB" fmla="*/ 18439 h 21600"/>
              </a:gdLst>
              <a:ahLst/>
              <a:cxnLst>
                <a:cxn ang="0">
                  <a:pos x="0" y="0"/>
                </a:cxn>
                <a:cxn ang="0">
                  <a:pos x="0" y="0"/>
                </a:cxn>
                <a:cxn ang="0">
                  <a:pos x="0" y="0"/>
                </a:cxn>
                <a:cxn ang="0">
                  <a:pos x="0" y="0"/>
                </a:cxn>
                <a:cxn ang="0">
                  <a:pos x="0" y="0"/>
                </a:cxn>
                <a:cxn ang="0">
                  <a:pos x="0" y="0"/>
                </a:cxn>
                <a:cxn ang="0">
                  <a:pos x="0" y="0"/>
                </a:cxn>
                <a:cxn ang="0">
                  <a:pos x="0" y="0"/>
                </a:cxn>
              </a:cxnLst>
              <a:rect l="txL" t="txT" r="txR" b="txB"/>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CC00"/>
            </a:solidFill>
            <a:ln w="9525">
              <a:noFill/>
            </a:ln>
          </p:spPr>
          <p:txBody>
            <a:bodyPr/>
            <a:p>
              <a:endParaRPr lang="zh-CN" altLang="en-US"/>
            </a:p>
          </p:txBody>
        </p:sp>
        <p:sp>
          <p:nvSpPr>
            <p:cNvPr id="18440" name="_s162829"/>
            <p:cNvSpPr/>
            <p:nvPr/>
          </p:nvSpPr>
          <p:spPr>
            <a:xfrm>
              <a:off x="2380" y="410"/>
              <a:ext cx="407" cy="339"/>
            </a:xfrm>
            <a:prstGeom prst="callout2">
              <a:avLst>
                <a:gd name="adj1" fmla="val 24324"/>
                <a:gd name="adj2" fmla="val -13523"/>
                <a:gd name="adj3" fmla="val 24324"/>
                <a:gd name="adj4" fmla="val -21690"/>
                <a:gd name="adj5" fmla="val 300676"/>
                <a:gd name="adj6" fmla="val -223380"/>
              </a:avLst>
            </a:prstGeom>
            <a:noFill/>
            <a:ln w="9525" cap="flat" cmpd="sng">
              <a:solidFill>
                <a:schemeClr val="tx1"/>
              </a:solidFill>
              <a:prstDash val="solid"/>
              <a:miter/>
              <a:headEnd type="none" w="med" len="med"/>
              <a:tailEnd type="none" w="med" len="med"/>
            </a:ln>
          </p:spPr>
          <p:txBody>
            <a:bodyPr wrap="none" lIns="0" tIns="0" rIns="0" bIns="0"/>
            <a:p>
              <a:pPr algn="l"/>
              <a:r>
                <a:rPr lang="zh-CN" altLang="en-US" sz="2800" b="0" dirty="0">
                  <a:latin typeface="Times New Roman" panose="02020603050405020304" pitchFamily="18" charset="0"/>
                </a:rPr>
                <a:t>您的客户</a:t>
              </a:r>
              <a:endParaRPr lang="zh-CN" altLang="en-US" sz="2800" b="0" dirty="0">
                <a:latin typeface="Times New Roman" panose="02020603050405020304" pitchFamily="18" charset="0"/>
              </a:endParaRPr>
            </a:p>
          </p:txBody>
        </p:sp>
        <p:sp>
          <p:nvSpPr>
            <p:cNvPr id="18441" name="_s162826"/>
            <p:cNvSpPr>
              <a:spLocks noTextEdit="1"/>
            </p:cNvSpPr>
            <p:nvPr/>
          </p:nvSpPr>
          <p:spPr>
            <a:xfrm>
              <a:off x="835" y="1175"/>
              <a:ext cx="509" cy="509"/>
            </a:xfrm>
            <a:prstGeom prst="ellipse">
              <a:avLst/>
            </a:prstGeom>
            <a:solidFill>
              <a:srgbClr val="FF0000"/>
            </a:solidFill>
            <a:ln w="9525">
              <a:noFill/>
            </a:ln>
          </p:spPr>
          <p:txBody>
            <a:bodyPr/>
            <a:p>
              <a:endParaRPr lang="zh-CN" altLang="en-US"/>
            </a:p>
          </p:txBody>
        </p:sp>
        <p:sp>
          <p:nvSpPr>
            <p:cNvPr id="18442" name="_s162827"/>
            <p:cNvSpPr/>
            <p:nvPr/>
          </p:nvSpPr>
          <p:spPr>
            <a:xfrm>
              <a:off x="2380" y="71"/>
              <a:ext cx="407" cy="339"/>
            </a:xfrm>
            <a:prstGeom prst="callout2">
              <a:avLst>
                <a:gd name="adj1" fmla="val 24324"/>
                <a:gd name="adj2" fmla="val -13523"/>
                <a:gd name="adj3" fmla="val 24324"/>
                <a:gd name="adj4" fmla="val -21690"/>
                <a:gd name="adj5" fmla="val 400676"/>
                <a:gd name="adj6" fmla="val -316903"/>
              </a:avLst>
            </a:prstGeom>
            <a:noFill/>
            <a:ln w="9525" cap="flat" cmpd="sng">
              <a:solidFill>
                <a:schemeClr val="tx1"/>
              </a:solidFill>
              <a:prstDash val="solid"/>
              <a:miter/>
              <a:headEnd type="none" w="med" len="med"/>
              <a:tailEnd type="none" w="med" len="med"/>
            </a:ln>
          </p:spPr>
          <p:txBody>
            <a:bodyPr wrap="none" lIns="0" tIns="0" rIns="0" bIns="0"/>
            <a:p>
              <a:pPr algn="l"/>
              <a:r>
                <a:rPr lang="zh-CN" altLang="en-US" sz="2800" b="0" dirty="0">
                  <a:latin typeface="Times New Roman" panose="02020603050405020304" pitchFamily="18" charset="0"/>
                </a:rPr>
                <a:t>您</a:t>
              </a:r>
              <a:endParaRPr lang="zh-CN" altLang="en-US" sz="2800" b="0" dirty="0">
                <a:latin typeface="Times New Roman" panose="02020603050405020304" pitchFamily="18" charset="0"/>
              </a:endParaRPr>
            </a:p>
          </p:txBody>
        </p:sp>
      </p:grpSp>
      <p:sp>
        <p:nvSpPr>
          <p:cNvPr id="18443" name="Rectangle 11"/>
          <p:cNvSpPr/>
          <p:nvPr/>
        </p:nvSpPr>
        <p:spPr>
          <a:xfrm>
            <a:off x="4429125" y="4221163"/>
            <a:ext cx="4562475" cy="519112"/>
          </a:xfrm>
          <a:prstGeom prst="rect">
            <a:avLst/>
          </a:prstGeom>
          <a:noFill/>
          <a:ln w="9525">
            <a:noFill/>
          </a:ln>
        </p:spPr>
        <p:txBody>
          <a:bodyPr>
            <a:spAutoFit/>
          </a:bodyPr>
          <a:p>
            <a:pPr algn="l"/>
            <a:endParaRPr lang="zh-CN" altLang="en-US" sz="2800" dirty="0">
              <a:latin typeface="华文中宋" panose="02010600040101010101" pitchFamily="2" charset="-122"/>
              <a:ea typeface="华文中宋" panose="02010600040101010101" pitchFamily="2" charset="-122"/>
            </a:endParaRPr>
          </a:p>
        </p:txBody>
      </p:sp>
      <p:sp>
        <p:nvSpPr>
          <p:cNvPr id="18444" name="Rectangle 12"/>
          <p:cNvSpPr>
            <a:spLocks noGrp="1"/>
          </p:cNvSpPr>
          <p:nvPr>
            <p:ph type="body" idx="4294967295"/>
          </p:nvPr>
        </p:nvSpPr>
        <p:spPr>
          <a:xfrm>
            <a:off x="685800" y="1981200"/>
            <a:ext cx="4030663" cy="4114800"/>
          </a:xfrm>
          <a:ln/>
        </p:spPr>
        <p:txBody>
          <a:bodyPr vert="horz" wrap="square" anchor="t" anchorCtr="0"/>
          <a:p>
            <a:pPr eaLnBrk="1" hangingPunct="1">
              <a:buNone/>
            </a:pPr>
            <a:endParaRPr lang="zh-TW" altLang="en-US" sz="2400" b="1" dirty="0"/>
          </a:p>
          <a:p>
            <a:pPr eaLnBrk="1" hangingPunct="1">
              <a:buNone/>
            </a:pPr>
            <a:r>
              <a:rPr lang="zh-TW" altLang="en-US" sz="2400" dirty="0">
                <a:solidFill>
                  <a:srgbClr val="000066"/>
                </a:solidFill>
              </a:rPr>
              <a:t>转介绍推荐人应具备的特质</a:t>
            </a:r>
            <a:endParaRPr lang="zh-TW" altLang="en-US" sz="2400" dirty="0">
              <a:solidFill>
                <a:srgbClr val="000066"/>
              </a:solidFill>
            </a:endParaRPr>
          </a:p>
          <a:p>
            <a:pPr eaLnBrk="1" hangingPunct="1">
              <a:buNone/>
            </a:pPr>
            <a:endParaRPr lang="zh-TW" altLang="en-US" sz="2400" dirty="0"/>
          </a:p>
          <a:p>
            <a:pPr eaLnBrk="1" hangingPunct="1"/>
            <a:r>
              <a:rPr lang="zh-TW" altLang="en-US" sz="2400" dirty="0"/>
              <a:t>转介绍人愿意帮助您</a:t>
            </a:r>
            <a:endParaRPr lang="zh-TW" altLang="en-US" sz="2400" dirty="0"/>
          </a:p>
          <a:p>
            <a:pPr eaLnBrk="1" hangingPunct="1"/>
            <a:r>
              <a:rPr lang="zh-TW" altLang="en-US" sz="2400" dirty="0"/>
              <a:t>他拥有您想要的市场</a:t>
            </a:r>
            <a:endParaRPr lang="zh-TW" altLang="en-US" sz="2400" dirty="0"/>
          </a:p>
          <a:p>
            <a:pPr eaLnBrk="1" hangingPunct="1"/>
            <a:r>
              <a:rPr lang="zh-TW" altLang="en-US" sz="2400" dirty="0"/>
              <a:t>对被介绍者有影响力</a:t>
            </a:r>
            <a:endParaRPr lang="zh-TW"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8444">
                                            <p:txEl>
                                              <p:charRg st="1" end="14"/>
                                            </p:txEl>
                                          </p:spTgt>
                                        </p:tgtEl>
                                        <p:attrNameLst>
                                          <p:attrName>style.visibility</p:attrName>
                                        </p:attrNameLst>
                                      </p:cBhvr>
                                      <p:to>
                                        <p:strVal val="visible"/>
                                      </p:to>
                                    </p:set>
                                    <p:animEffect transition="in" filter="blinds(horizontal)">
                                      <p:cBhvr>
                                        <p:cTn id="7" dur="500"/>
                                        <p:tgtEl>
                                          <p:spTgt spid="18444">
                                            <p:txEl>
                                              <p:charRg st="1" end="14"/>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8444">
                                            <p:txEl>
                                              <p:charRg st="15" end="25"/>
                                            </p:txEl>
                                          </p:spTgt>
                                        </p:tgtEl>
                                        <p:attrNameLst>
                                          <p:attrName>style.visibility</p:attrName>
                                        </p:attrNameLst>
                                      </p:cBhvr>
                                      <p:to>
                                        <p:strVal val="visible"/>
                                      </p:to>
                                    </p:set>
                                    <p:animEffect transition="in" filter="blinds(horizontal)">
                                      <p:cBhvr>
                                        <p:cTn id="10" dur="500"/>
                                        <p:tgtEl>
                                          <p:spTgt spid="18444">
                                            <p:txEl>
                                              <p:charRg st="15" end="25"/>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18444">
                                            <p:txEl>
                                              <p:charRg st="25" end="35"/>
                                            </p:txEl>
                                          </p:spTgt>
                                        </p:tgtEl>
                                        <p:attrNameLst>
                                          <p:attrName>style.visibility</p:attrName>
                                        </p:attrNameLst>
                                      </p:cBhvr>
                                      <p:to>
                                        <p:strVal val="visible"/>
                                      </p:to>
                                    </p:set>
                                    <p:animEffect transition="in" filter="blinds(horizontal)">
                                      <p:cBhvr>
                                        <p:cTn id="13" dur="500"/>
                                        <p:tgtEl>
                                          <p:spTgt spid="18444">
                                            <p:txEl>
                                              <p:charRg st="25" end="35"/>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18444">
                                            <p:txEl>
                                              <p:charRg st="35" end="45"/>
                                            </p:txEl>
                                          </p:spTgt>
                                        </p:tgtEl>
                                        <p:attrNameLst>
                                          <p:attrName>style.visibility</p:attrName>
                                        </p:attrNameLst>
                                      </p:cBhvr>
                                      <p:to>
                                        <p:strVal val="visible"/>
                                      </p:to>
                                    </p:set>
                                    <p:animEffect transition="in" filter="blinds(horizontal)">
                                      <p:cBhvr>
                                        <p:cTn id="16" dur="500"/>
                                        <p:tgtEl>
                                          <p:spTgt spid="18444">
                                            <p:txEl>
                                              <p:charRg st="35" end="4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482" name="Picture 2" descr="bf_kehu"/>
          <p:cNvPicPr>
            <a:picLocks noChangeAspect="1"/>
          </p:cNvPicPr>
          <p:nvPr/>
        </p:nvPicPr>
        <p:blipFill>
          <a:blip r:embed="rId1"/>
          <a:stretch>
            <a:fillRect/>
          </a:stretch>
        </p:blipFill>
        <p:spPr>
          <a:xfrm>
            <a:off x="4429125" y="2911475"/>
            <a:ext cx="3241675" cy="2605088"/>
          </a:xfrm>
          <a:prstGeom prst="rect">
            <a:avLst/>
          </a:prstGeom>
          <a:noFill/>
          <a:ln w="9525">
            <a:noFill/>
          </a:ln>
        </p:spPr>
      </p:pic>
      <p:sp>
        <p:nvSpPr>
          <p:cNvPr id="20483" name="Rectangle 3"/>
          <p:cNvSpPr>
            <a:spLocks noGrp="1"/>
          </p:cNvSpPr>
          <p:nvPr>
            <p:ph type="title" idx="4294967295"/>
          </p:nvPr>
        </p:nvSpPr>
        <p:spPr>
          <a:ln/>
        </p:spPr>
        <p:txBody>
          <a:bodyPr vert="horz" wrap="square" anchor="ctr" anchorCtr="0"/>
          <a:p>
            <a:pPr eaLnBrk="1" hangingPunct="1"/>
            <a:r>
              <a:rPr lang="zh-TW" altLang="en-US" dirty="0">
                <a:solidFill>
                  <a:srgbClr val="FF3300"/>
                </a:solidFill>
              </a:rPr>
              <a:t>陌生拜访</a:t>
            </a:r>
            <a:endParaRPr lang="zh-TW" altLang="en-US" dirty="0">
              <a:solidFill>
                <a:srgbClr val="FF3300"/>
              </a:solidFill>
            </a:endParaRPr>
          </a:p>
        </p:txBody>
      </p:sp>
      <p:sp>
        <p:nvSpPr>
          <p:cNvPr id="20484" name="Rectangle 4"/>
          <p:cNvSpPr>
            <a:spLocks noGrp="1"/>
          </p:cNvSpPr>
          <p:nvPr>
            <p:ph type="body" idx="4294967295"/>
          </p:nvPr>
        </p:nvSpPr>
        <p:spPr>
          <a:xfrm>
            <a:off x="900113" y="1773238"/>
            <a:ext cx="3241675" cy="3384550"/>
          </a:xfrm>
          <a:ln/>
        </p:spPr>
        <p:txBody>
          <a:bodyPr vert="horz" wrap="square" anchor="t" anchorCtr="0"/>
          <a:p>
            <a:pPr eaLnBrk="1" hangingPunct="1">
              <a:buNone/>
            </a:pPr>
            <a:endParaRPr lang="zh-CN" altLang="en-US" sz="2400" dirty="0">
              <a:solidFill>
                <a:srgbClr val="000066"/>
              </a:solidFill>
            </a:endParaRPr>
          </a:p>
          <a:p>
            <a:pPr eaLnBrk="1" hangingPunct="1">
              <a:lnSpc>
                <a:spcPct val="140000"/>
              </a:lnSpc>
            </a:pPr>
            <a:r>
              <a:rPr lang="zh-CN" altLang="en-US" sz="2400" dirty="0"/>
              <a:t>扫楼</a:t>
            </a:r>
            <a:r>
              <a:rPr lang="en-US" altLang="zh-CN" sz="2400" dirty="0"/>
              <a:t>&amp;</a:t>
            </a:r>
            <a:r>
              <a:rPr lang="zh-CN" altLang="en-US" sz="2400" dirty="0"/>
              <a:t>扫街</a:t>
            </a:r>
            <a:endParaRPr lang="zh-CN" altLang="en-US" sz="2400" dirty="0"/>
          </a:p>
          <a:p>
            <a:pPr eaLnBrk="1" hangingPunct="1">
              <a:lnSpc>
                <a:spcPct val="140000"/>
              </a:lnSpc>
            </a:pPr>
            <a:r>
              <a:rPr lang="zh-CN" altLang="en-US" sz="2400" dirty="0"/>
              <a:t>拜访企业</a:t>
            </a:r>
            <a:endParaRPr lang="zh-CN" altLang="en-US" sz="2400" dirty="0"/>
          </a:p>
          <a:p>
            <a:pPr eaLnBrk="1" hangingPunct="1">
              <a:lnSpc>
                <a:spcPct val="140000"/>
              </a:lnSpc>
            </a:pPr>
            <a:r>
              <a:rPr lang="zh-CN" altLang="en-US" sz="2400" dirty="0"/>
              <a:t>拜访集团</a:t>
            </a:r>
            <a:endParaRPr lang="zh-CN" altLang="en-US" sz="2400" dirty="0"/>
          </a:p>
          <a:p>
            <a:pPr eaLnBrk="1" hangingPunct="1">
              <a:lnSpc>
                <a:spcPct val="140000"/>
              </a:lnSpc>
            </a:pPr>
            <a:r>
              <a:rPr lang="zh-CN" altLang="en-US" sz="2400" dirty="0"/>
              <a:t>拜访社区</a:t>
            </a:r>
            <a:endParaRPr lang="zh-CN" altLang="en-US" sz="2400" dirty="0"/>
          </a:p>
          <a:p>
            <a:pPr eaLnBrk="1" hangingPunct="1"/>
            <a:endParaRPr lang="zh-CN" altLang="en-US" sz="1000" dirty="0"/>
          </a:p>
          <a:p>
            <a:pPr eaLnBrk="1" hangingPunct="1">
              <a:buNone/>
            </a:pPr>
            <a:endParaRPr lang="zh-CN" altLang="en-US" sz="2400" dirty="0">
              <a:solidFill>
                <a:srgbClr val="000066"/>
              </a:solidFill>
            </a:endParaRPr>
          </a:p>
          <a:p>
            <a:pPr eaLnBrk="1" hangingPunct="1"/>
            <a:endParaRPr lang="zh-CN" alt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2530" name="Picture 2" descr="IMG_4917"/>
          <p:cNvPicPr>
            <a:picLocks noChangeAspect="1"/>
          </p:cNvPicPr>
          <p:nvPr/>
        </p:nvPicPr>
        <p:blipFill>
          <a:blip r:embed="rId1"/>
          <a:stretch>
            <a:fillRect/>
          </a:stretch>
        </p:blipFill>
        <p:spPr>
          <a:xfrm>
            <a:off x="4860925" y="3429000"/>
            <a:ext cx="3168650" cy="2374900"/>
          </a:xfrm>
          <a:prstGeom prst="rect">
            <a:avLst/>
          </a:prstGeom>
          <a:noFill/>
          <a:ln w="9525">
            <a:noFill/>
          </a:ln>
        </p:spPr>
      </p:pic>
      <p:pic>
        <p:nvPicPr>
          <p:cNvPr id="22531" name="Picture 3" descr="1083686_asus_gz_01"/>
          <p:cNvPicPr>
            <a:picLocks noChangeAspect="1"/>
          </p:cNvPicPr>
          <p:nvPr/>
        </p:nvPicPr>
        <p:blipFill>
          <a:blip r:embed="rId2"/>
          <a:stretch>
            <a:fillRect/>
          </a:stretch>
        </p:blipFill>
        <p:spPr>
          <a:xfrm>
            <a:off x="828675" y="3429000"/>
            <a:ext cx="3502025" cy="2336800"/>
          </a:xfrm>
          <a:prstGeom prst="rect">
            <a:avLst/>
          </a:prstGeom>
          <a:noFill/>
          <a:ln w="9525">
            <a:noFill/>
          </a:ln>
        </p:spPr>
      </p:pic>
      <p:sp>
        <p:nvSpPr>
          <p:cNvPr id="22532" name="Rectangle 4"/>
          <p:cNvSpPr>
            <a:spLocks noGrp="1"/>
          </p:cNvSpPr>
          <p:nvPr>
            <p:ph type="body" idx="4294967295"/>
          </p:nvPr>
        </p:nvSpPr>
        <p:spPr>
          <a:xfrm>
            <a:off x="684213" y="1412875"/>
            <a:ext cx="7773987" cy="1873250"/>
          </a:xfrm>
          <a:ln/>
        </p:spPr>
        <p:txBody>
          <a:bodyPr vert="horz" wrap="square" anchor="t" anchorCtr="0"/>
          <a:p>
            <a:pPr eaLnBrk="1" hangingPunct="1">
              <a:lnSpc>
                <a:spcPct val="130000"/>
              </a:lnSpc>
            </a:pPr>
            <a:r>
              <a:rPr lang="zh-TW" altLang="en-US" sz="2400" dirty="0"/>
              <a:t>大型商场、商业街</a:t>
            </a:r>
            <a:endParaRPr lang="zh-TW" altLang="en-US" sz="2400" dirty="0"/>
          </a:p>
          <a:p>
            <a:pPr eaLnBrk="1" hangingPunct="1">
              <a:lnSpc>
                <a:spcPct val="130000"/>
              </a:lnSpc>
            </a:pPr>
            <a:r>
              <a:rPr lang="zh-TW" altLang="en-US" sz="2400" dirty="0"/>
              <a:t>大型写字楼</a:t>
            </a:r>
            <a:endParaRPr lang="zh-TW" altLang="en-US" sz="2400" dirty="0"/>
          </a:p>
          <a:p>
            <a:pPr eaLnBrk="1" hangingPunct="1">
              <a:lnSpc>
                <a:spcPct val="130000"/>
              </a:lnSpc>
            </a:pPr>
            <a:r>
              <a:rPr lang="zh-TW" altLang="en-US" sz="2400" dirty="0"/>
              <a:t>城市交通枢纽</a:t>
            </a:r>
            <a:endParaRPr lang="zh-TW" altLang="en-US" sz="2400" dirty="0"/>
          </a:p>
        </p:txBody>
      </p:sp>
      <p:sp>
        <p:nvSpPr>
          <p:cNvPr id="22533" name="Rectangle 5"/>
          <p:cNvSpPr>
            <a:spLocks noGrp="1"/>
          </p:cNvSpPr>
          <p:nvPr>
            <p:ph type="title" idx="4294967295"/>
          </p:nvPr>
        </p:nvSpPr>
        <p:spPr>
          <a:xfrm>
            <a:off x="828675" y="620713"/>
            <a:ext cx="7773988" cy="792162"/>
          </a:xfrm>
          <a:ln/>
        </p:spPr>
        <p:txBody>
          <a:bodyPr vert="horz" wrap="square" anchor="ctr" anchorCtr="0"/>
          <a:p>
            <a:pPr eaLnBrk="1" hangingPunct="1"/>
            <a:r>
              <a:rPr lang="zh-TW" altLang="en-US" dirty="0">
                <a:solidFill>
                  <a:srgbClr val="FF3300"/>
                </a:solidFill>
                <a:latin typeface="华文新魏" panose="02010800040101010101" pitchFamily="2" charset="-122"/>
              </a:rPr>
              <a:t>路    演</a:t>
            </a:r>
            <a:endParaRPr lang="zh-TW" altLang="en-US" dirty="0">
              <a:solidFill>
                <a:srgbClr val="FF3300"/>
              </a:solidFill>
              <a:latin typeface="华文新魏" panose="02010800040101010101"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Text Box 2"/>
          <p:cNvSpPr txBox="1"/>
          <p:nvPr/>
        </p:nvSpPr>
        <p:spPr>
          <a:xfrm>
            <a:off x="1981200" y="908050"/>
            <a:ext cx="4954588" cy="641350"/>
          </a:xfrm>
          <a:prstGeom prst="rect">
            <a:avLst/>
          </a:prstGeom>
          <a:noFill/>
          <a:ln w="9525">
            <a:noFill/>
          </a:ln>
          <a:effectLst>
            <a:outerShdw dist="53882" dir="2699999" algn="ctr" rotWithShape="0">
              <a:schemeClr val="bg1"/>
            </a:outerShdw>
          </a:effectLst>
        </p:spPr>
        <p:txBody>
          <a:bodyPr>
            <a:spAutoFit/>
          </a:bodyPr>
          <a:p>
            <a:pPr>
              <a:spcBef>
                <a:spcPct val="50000"/>
              </a:spcBef>
            </a:pPr>
            <a:r>
              <a:rPr lang="zh-CN" altLang="en-US" sz="3600" b="0" dirty="0">
                <a:solidFill>
                  <a:srgbClr val="FF3300"/>
                </a:solidFill>
                <a:latin typeface="华文新魏" panose="02010800040101010101" pitchFamily="2" charset="-122"/>
                <a:ea typeface="华文新魏" panose="02010800040101010101" pitchFamily="2" charset="-122"/>
              </a:rPr>
              <a:t>驻店销售</a:t>
            </a:r>
            <a:endParaRPr lang="zh-CN" altLang="en-US" sz="3600" b="0" dirty="0">
              <a:solidFill>
                <a:srgbClr val="FF3300"/>
              </a:solidFill>
              <a:latin typeface="华文新魏" panose="02010800040101010101" pitchFamily="2" charset="-122"/>
              <a:ea typeface="华文新魏" panose="02010800040101010101" pitchFamily="2" charset="-122"/>
            </a:endParaRPr>
          </a:p>
        </p:txBody>
      </p:sp>
      <p:pic>
        <p:nvPicPr>
          <p:cNvPr id="24579" name="Picture 3" descr="IMG_5067"/>
          <p:cNvPicPr>
            <a:picLocks noChangeAspect="1"/>
          </p:cNvPicPr>
          <p:nvPr/>
        </p:nvPicPr>
        <p:blipFill>
          <a:blip r:embed="rId1"/>
          <a:stretch>
            <a:fillRect/>
          </a:stretch>
        </p:blipFill>
        <p:spPr>
          <a:xfrm>
            <a:off x="4213225" y="2420938"/>
            <a:ext cx="3473450" cy="2605087"/>
          </a:xfrm>
          <a:prstGeom prst="rect">
            <a:avLst/>
          </a:prstGeom>
          <a:noFill/>
          <a:ln w="9525">
            <a:noFill/>
          </a:ln>
        </p:spPr>
      </p:pic>
      <p:sp>
        <p:nvSpPr>
          <p:cNvPr id="24580" name="Rectangle 4"/>
          <p:cNvSpPr>
            <a:spLocks noGrp="1"/>
          </p:cNvSpPr>
          <p:nvPr>
            <p:ph type="body" idx="4294967295"/>
          </p:nvPr>
        </p:nvSpPr>
        <p:spPr>
          <a:xfrm>
            <a:off x="900113" y="2420938"/>
            <a:ext cx="2305050" cy="2592387"/>
          </a:xfrm>
          <a:ln/>
        </p:spPr>
        <p:txBody>
          <a:bodyPr vert="horz" wrap="square" anchor="t" anchorCtr="0"/>
          <a:p>
            <a:pPr eaLnBrk="1" hangingPunct="1"/>
            <a:r>
              <a:rPr lang="zh-CN" altLang="en-US" sz="2800" dirty="0"/>
              <a:t>沃尔玛</a:t>
            </a:r>
            <a:endParaRPr lang="zh-CN" altLang="en-US" sz="2800" dirty="0"/>
          </a:p>
          <a:p>
            <a:pPr eaLnBrk="1" hangingPunct="1"/>
            <a:r>
              <a:rPr lang="zh-CN" altLang="en-US" sz="2800" dirty="0"/>
              <a:t>百思买</a:t>
            </a:r>
            <a:endParaRPr lang="zh-CN" altLang="en-US" sz="2800" dirty="0"/>
          </a:p>
          <a:p>
            <a:pPr eaLnBrk="1" hangingPunct="1"/>
            <a:r>
              <a:rPr lang="zh-CN" altLang="en-US" sz="2800" dirty="0"/>
              <a:t>卜峰莲花</a:t>
            </a:r>
            <a:endParaRPr lang="zh-CN" altLang="en-US" sz="2800" dirty="0"/>
          </a:p>
          <a:p>
            <a:pPr eaLnBrk="1" hangingPunct="1"/>
            <a:r>
              <a:rPr lang="zh-CN" altLang="en-US" sz="2800" dirty="0"/>
              <a:t>乐购</a:t>
            </a:r>
            <a:endParaRPr lang="zh-CN" altLang="en-US" sz="2800" dirty="0"/>
          </a:p>
          <a:p>
            <a:pPr eaLnBrk="1" hangingPunct="1">
              <a:buNone/>
            </a:pPr>
            <a:r>
              <a:rPr lang="en-US" altLang="zh-CN" sz="2800" dirty="0">
                <a:latin typeface="华文中宋" panose="02010600040101010101" pitchFamily="2" charset="-122"/>
              </a:rPr>
              <a:t>…………</a:t>
            </a:r>
            <a:endParaRPr lang="en-US" altLang="zh-CN" sz="2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Rectangle 4" descr="新闻纸"/>
          <p:cNvSpPr/>
          <p:nvPr/>
        </p:nvSpPr>
        <p:spPr>
          <a:xfrm>
            <a:off x="1476375" y="1557338"/>
            <a:ext cx="6696075" cy="4176712"/>
          </a:xfrm>
          <a:prstGeom prst="rect">
            <a:avLst/>
          </a:prstGeom>
          <a:blipFill rotWithShape="0">
            <a:blip r:embed="rId1"/>
          </a:blipFill>
          <a:ln w="9525">
            <a:noFill/>
          </a:ln>
        </p:spPr>
        <p:txBody>
          <a:bodyPr wrap="none" anchor="ctr" anchorCtr="0"/>
          <a:p>
            <a:endParaRPr lang="zh-CN" altLang="en-US" b="0" dirty="0">
              <a:latin typeface="Times New Roman" panose="02020603050405020304" pitchFamily="18" charset="0"/>
              <a:ea typeface="宋体" panose="02010600030101010101" pitchFamily="2" charset="-122"/>
            </a:endParaRPr>
          </a:p>
        </p:txBody>
      </p:sp>
      <p:sp>
        <p:nvSpPr>
          <p:cNvPr id="26627" name="Rectangle 3"/>
          <p:cNvSpPr>
            <a:spLocks noGrp="1"/>
          </p:cNvSpPr>
          <p:nvPr>
            <p:ph type="body" idx="4294967295"/>
          </p:nvPr>
        </p:nvSpPr>
        <p:spPr>
          <a:xfrm>
            <a:off x="1908175" y="1700213"/>
            <a:ext cx="6515100" cy="3816350"/>
          </a:xfrm>
          <a:ln/>
        </p:spPr>
        <p:txBody>
          <a:bodyPr vert="horz" wrap="square" anchor="t" anchorCtr="0"/>
          <a:p>
            <a:pPr eaLnBrk="1" hangingPunct="1">
              <a:buNone/>
            </a:pPr>
            <a:r>
              <a:rPr lang="zh-TW" altLang="en-US" sz="2800" dirty="0">
                <a:latin typeface="华文中宋" panose="02010600040101010101" pitchFamily="2" charset="-122"/>
              </a:rPr>
              <a:t>销售的概念</a:t>
            </a:r>
            <a:endParaRPr lang="zh-TW" altLang="en-US" sz="2800" dirty="0">
              <a:latin typeface="华文中宋" panose="02010600040101010101" pitchFamily="2" charset="-122"/>
            </a:endParaRPr>
          </a:p>
          <a:p>
            <a:pPr eaLnBrk="1" hangingPunct="1">
              <a:buNone/>
            </a:pPr>
            <a:endParaRPr lang="zh-TW" altLang="en-US" sz="2800" dirty="0">
              <a:solidFill>
                <a:srgbClr val="CC0000"/>
              </a:solidFill>
              <a:latin typeface="华文中宋" panose="02010600040101010101" pitchFamily="2" charset="-122"/>
            </a:endParaRPr>
          </a:p>
          <a:p>
            <a:pPr eaLnBrk="1" hangingPunct="1">
              <a:buNone/>
            </a:pPr>
            <a:r>
              <a:rPr lang="zh-TW" altLang="en-US" sz="2800" dirty="0">
                <a:latin typeface="华文中宋" panose="02010600040101010101" pitchFamily="2" charset="-122"/>
              </a:rPr>
              <a:t>信用卡市场的开拓方法</a:t>
            </a:r>
            <a:endParaRPr lang="zh-TW" altLang="en-US" sz="2800" dirty="0">
              <a:latin typeface="华文中宋" panose="02010600040101010101" pitchFamily="2" charset="-122"/>
            </a:endParaRPr>
          </a:p>
          <a:p>
            <a:pPr eaLnBrk="1" hangingPunct="1">
              <a:buNone/>
            </a:pPr>
            <a:endParaRPr lang="zh-TW" altLang="en-US" sz="2800" dirty="0">
              <a:latin typeface="华文中宋" panose="02010600040101010101" pitchFamily="2" charset="-122"/>
            </a:endParaRPr>
          </a:p>
          <a:p>
            <a:pPr eaLnBrk="1" hangingPunct="1">
              <a:buNone/>
            </a:pPr>
            <a:r>
              <a:rPr lang="zh-TW" altLang="en-US" sz="2800" dirty="0">
                <a:solidFill>
                  <a:srgbClr val="FF0000"/>
                </a:solidFill>
                <a:latin typeface="华文中宋" panose="02010600040101010101" pitchFamily="2" charset="-122"/>
              </a:rPr>
              <a:t>信用卡销售流程与话术</a:t>
            </a:r>
            <a:endParaRPr lang="zh-TW" altLang="en-US" sz="2800" dirty="0">
              <a:solidFill>
                <a:srgbClr val="FF0000"/>
              </a:solidFill>
              <a:latin typeface="华文中宋" panose="02010600040101010101" pitchFamily="2" charset="-122"/>
            </a:endParaRPr>
          </a:p>
          <a:p>
            <a:pPr eaLnBrk="1" hangingPunct="1">
              <a:buNone/>
            </a:pPr>
            <a:endParaRPr lang="zh-TW" altLang="en-US" sz="2800" dirty="0">
              <a:solidFill>
                <a:srgbClr val="FF0000"/>
              </a:solidFill>
              <a:latin typeface="华文中宋" panose="02010600040101010101" pitchFamily="2" charset="-122"/>
            </a:endParaRPr>
          </a:p>
          <a:p>
            <a:pPr eaLnBrk="1" hangingPunct="1">
              <a:buNone/>
            </a:pPr>
            <a:r>
              <a:rPr lang="zh-TW" altLang="en-US" sz="2800" dirty="0">
                <a:latin typeface="华文中宋" panose="02010600040101010101" pitchFamily="2" charset="-122"/>
              </a:rPr>
              <a:t>信用卡销售异议处理话术</a:t>
            </a:r>
            <a:endParaRPr lang="zh-TW" altLang="en-US" sz="2800" dirty="0">
              <a:latin typeface="华文中宋" panose="02010600040101010101" pitchFamily="2" charset="-122"/>
            </a:endParaRPr>
          </a:p>
          <a:p>
            <a:pPr eaLnBrk="1" hangingPunct="1">
              <a:buNone/>
            </a:pPr>
            <a:endParaRPr lang="zh-TW" altLang="en-US" sz="2800" dirty="0">
              <a:solidFill>
                <a:srgbClr val="000066"/>
              </a:solidFill>
              <a:latin typeface="楷体_GB2312" pitchFamily="49" charset="-122"/>
              <a:ea typeface="楷体_GB2312" pitchFamily="49" charset="-122"/>
            </a:endParaRPr>
          </a:p>
        </p:txBody>
      </p:sp>
      <p:sp>
        <p:nvSpPr>
          <p:cNvPr id="26628" name="Rectangle 4"/>
          <p:cNvSpPr/>
          <p:nvPr/>
        </p:nvSpPr>
        <p:spPr>
          <a:xfrm>
            <a:off x="828675" y="692150"/>
            <a:ext cx="7773988" cy="792163"/>
          </a:xfrm>
          <a:prstGeom prst="rect">
            <a:avLst/>
          </a:prstGeom>
          <a:noFill/>
          <a:ln w="9525">
            <a:noFill/>
          </a:ln>
        </p:spPr>
        <p:txBody>
          <a:bodyPr anchor="ctr" anchorCtr="0"/>
          <a:p>
            <a:r>
              <a:rPr lang="zh-TW" altLang="en-US" sz="3600" b="0">
                <a:solidFill>
                  <a:srgbClr val="FF3300"/>
                </a:solidFill>
                <a:latin typeface="Times New Roman" panose="02020603050405020304" pitchFamily="18" charset="0"/>
                <a:ea typeface="华文新魏" panose="02010800040101010101" pitchFamily="2" charset="-122"/>
              </a:rPr>
              <a:t>信用卡销售宝典之话术篇</a:t>
            </a:r>
            <a:endParaRPr lang="zh-TW" altLang="en-US" sz="3600" b="0">
              <a:solidFill>
                <a:srgbClr val="FF3300"/>
              </a:solidFill>
              <a:latin typeface="Times New Roman" panose="02020603050405020304" pitchFamily="18" charset="0"/>
              <a:ea typeface="华文新魏" panose="02010800040101010101" pitchFamily="2" charset="-122"/>
            </a:endParaRPr>
          </a:p>
        </p:txBody>
      </p:sp>
      <p:pic>
        <p:nvPicPr>
          <p:cNvPr id="26629" name="Picture 5" descr="j0237968[1]"/>
          <p:cNvPicPr>
            <a:picLocks noChangeAspect="1"/>
          </p:cNvPicPr>
          <p:nvPr/>
        </p:nvPicPr>
        <p:blipFill>
          <a:blip r:embed="rId2"/>
          <a:stretch>
            <a:fillRect/>
          </a:stretch>
        </p:blipFill>
        <p:spPr>
          <a:xfrm>
            <a:off x="6877050" y="4581525"/>
            <a:ext cx="1573213" cy="1319213"/>
          </a:xfrm>
          <a:prstGeom prst="rect">
            <a:avLst/>
          </a:prstGeom>
          <a:noFill/>
          <a:ln w="9525">
            <a:noFill/>
          </a:ln>
        </p:spPr>
      </p:pic>
      <p:sp>
        <p:nvSpPr>
          <p:cNvPr id="26630" name="AutoShape 9"/>
          <p:cNvSpPr/>
          <p:nvPr/>
        </p:nvSpPr>
        <p:spPr>
          <a:xfrm>
            <a:off x="1044575" y="3789363"/>
            <a:ext cx="685800" cy="533400"/>
          </a:xfrm>
          <a:custGeom>
            <a:avLst/>
            <a:gdLst>
              <a:gd name="txL" fmla="*/ 3375 w 21600"/>
              <a:gd name="txT" fmla="*/ 5400 h 21600"/>
              <a:gd name="txR" fmla="*/ 18900 w 21600"/>
              <a:gd name="txB" fmla="*/ 16200 h 21600"/>
            </a:gdLst>
            <a:ahLst/>
            <a:cxnLst>
              <a:cxn ang="17694720">
                <a:pos x="2147483647" y="0"/>
              </a:cxn>
              <a:cxn ang="11796480">
                <a:pos x="0" y="2147483647"/>
              </a:cxn>
              <a:cxn ang="5898240">
                <a:pos x="2147483647" y="2147483647"/>
              </a:cxn>
              <a:cxn ang="0">
                <a:pos x="2147483647" y="2147483647"/>
              </a:cxn>
            </a:cxnLst>
            <a:rect l="txL" t="txT" r="txR" b="txB"/>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33CCCC"/>
          </a:solidFill>
          <a:ln w="9525" cap="flat" cmpd="sng">
            <a:solidFill>
              <a:schemeClr val="tx1"/>
            </a:solidFill>
            <a:prstDash val="solid"/>
            <a:miter/>
            <a:headEnd type="none" w="med" len="med"/>
            <a:tailEnd type="none" w="med" len="med"/>
          </a:ln>
        </p:spPr>
        <p:txBody>
          <a:bodyPr wrap="none" anchor="ctr" anchorCtr="0"/>
          <a:p>
            <a:endParaRPr lang="zh-CN" altLang="en-US" b="0"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6630"/>
                                        </p:tgtEl>
                                        <p:attrNameLst>
                                          <p:attrName>style.visibility</p:attrName>
                                        </p:attrNameLst>
                                      </p:cBhvr>
                                      <p:to>
                                        <p:strVal val="visible"/>
                                      </p:to>
                                    </p:set>
                                    <p:anim calcmode="lin" valueType="num">
                                      <p:cBhvr additive="base">
                                        <p:cTn id="7" dur="500" fill="hold"/>
                                        <p:tgtEl>
                                          <p:spTgt spid="26630"/>
                                        </p:tgtEl>
                                        <p:attrNameLst>
                                          <p:attrName>ppt_x</p:attrName>
                                        </p:attrNameLst>
                                      </p:cBhvr>
                                      <p:tavLst>
                                        <p:tav tm="0">
                                          <p:val>
                                            <p:strVal val="0-#ppt_w/2"/>
                                          </p:val>
                                        </p:tav>
                                        <p:tav tm="100000">
                                          <p:val>
                                            <p:strVal val="#ppt_x"/>
                                          </p:val>
                                        </p:tav>
                                      </p:tavLst>
                                    </p:anim>
                                    <p:anim calcmode="lin" valueType="num">
                                      <p:cBhvr additive="base">
                                        <p:cTn id="8" dur="500" fill="hold"/>
                                        <p:tgtEl>
                                          <p:spTgt spid="2663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3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Text Box 2"/>
          <p:cNvSpPr txBox="1"/>
          <p:nvPr/>
        </p:nvSpPr>
        <p:spPr>
          <a:xfrm>
            <a:off x="1127125" y="3933825"/>
            <a:ext cx="3789363" cy="366713"/>
          </a:xfrm>
          <a:prstGeom prst="rect">
            <a:avLst/>
          </a:prstGeom>
          <a:noFill/>
          <a:ln w="9525">
            <a:noFill/>
          </a:ln>
        </p:spPr>
        <p:txBody>
          <a:bodyPr>
            <a:spAutoFit/>
          </a:bodyPr>
          <a:p>
            <a:pPr algn="l">
              <a:spcBef>
                <a:spcPct val="50000"/>
              </a:spcBef>
            </a:pPr>
            <a:endParaRPr lang="zh-CN" altLang="en-US" sz="1800" b="0" dirty="0">
              <a:latin typeface="Times New Roman" panose="02020603050405020304" pitchFamily="18" charset="0"/>
              <a:ea typeface="PMingLiU" pitchFamily="18" charset="-120"/>
            </a:endParaRPr>
          </a:p>
        </p:txBody>
      </p:sp>
      <p:sp>
        <p:nvSpPr>
          <p:cNvPr id="27651" name="Text Box 3"/>
          <p:cNvSpPr txBox="1"/>
          <p:nvPr/>
        </p:nvSpPr>
        <p:spPr>
          <a:xfrm>
            <a:off x="1392238" y="3860800"/>
            <a:ext cx="4322762" cy="366713"/>
          </a:xfrm>
          <a:prstGeom prst="rect">
            <a:avLst/>
          </a:prstGeom>
          <a:noFill/>
          <a:ln w="9525">
            <a:noFill/>
          </a:ln>
        </p:spPr>
        <p:txBody>
          <a:bodyPr>
            <a:spAutoFit/>
          </a:bodyPr>
          <a:p>
            <a:pPr algn="l">
              <a:spcBef>
                <a:spcPct val="50000"/>
              </a:spcBef>
            </a:pPr>
            <a:endParaRPr lang="zh-CN" altLang="en-US" sz="1800" b="0" dirty="0">
              <a:latin typeface="Times New Roman" panose="02020603050405020304" pitchFamily="18" charset="0"/>
              <a:ea typeface="PMingLiU" pitchFamily="18" charset="-120"/>
            </a:endParaRPr>
          </a:p>
        </p:txBody>
      </p:sp>
      <p:pic>
        <p:nvPicPr>
          <p:cNvPr id="27652" name="Picture 4" descr="jbiz144"/>
          <p:cNvPicPr>
            <a:picLocks noChangeAspect="1"/>
          </p:cNvPicPr>
          <p:nvPr/>
        </p:nvPicPr>
        <p:blipFill>
          <a:blip r:embed="rId1"/>
          <a:stretch>
            <a:fillRect/>
          </a:stretch>
        </p:blipFill>
        <p:spPr>
          <a:xfrm>
            <a:off x="727075" y="3551238"/>
            <a:ext cx="2406650" cy="2338387"/>
          </a:xfrm>
          <a:prstGeom prst="rect">
            <a:avLst/>
          </a:prstGeom>
          <a:noFill/>
          <a:ln w="9525">
            <a:noFill/>
          </a:ln>
        </p:spPr>
      </p:pic>
      <p:sp>
        <p:nvSpPr>
          <p:cNvPr id="27653" name="AutoShape 5"/>
          <p:cNvSpPr/>
          <p:nvPr/>
        </p:nvSpPr>
        <p:spPr>
          <a:xfrm>
            <a:off x="3060700" y="2276475"/>
            <a:ext cx="3816350" cy="1800225"/>
          </a:xfrm>
          <a:prstGeom prst="wedgeEllipseCallout">
            <a:avLst>
              <a:gd name="adj1" fmla="val -44259"/>
              <a:gd name="adj2" fmla="val 72398"/>
            </a:avLst>
          </a:prstGeom>
          <a:solidFill>
            <a:schemeClr val="accent1"/>
          </a:solidFill>
          <a:ln w="9525" cap="flat" cmpd="sng">
            <a:solidFill>
              <a:schemeClr val="tx1"/>
            </a:solidFill>
            <a:prstDash val="solid"/>
            <a:miter/>
            <a:headEnd type="none" w="med" len="med"/>
            <a:tailEnd type="none" w="med" len="med"/>
          </a:ln>
        </p:spPr>
        <p:txBody>
          <a:bodyPr/>
          <a:p>
            <a:endParaRPr lang="en-US" altLang="zh-CN" b="0" dirty="0">
              <a:solidFill>
                <a:schemeClr val="bg1"/>
              </a:solidFill>
              <a:latin typeface="Times New Roman" panose="02020603050405020304" pitchFamily="18" charset="0"/>
              <a:ea typeface="宋体" panose="02010600030101010101" pitchFamily="2" charset="-122"/>
            </a:endParaRPr>
          </a:p>
          <a:p>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27654" name="Text Box 6"/>
          <p:cNvSpPr txBox="1"/>
          <p:nvPr/>
        </p:nvSpPr>
        <p:spPr>
          <a:xfrm>
            <a:off x="3708400" y="2451100"/>
            <a:ext cx="2663825" cy="1554163"/>
          </a:xfrm>
          <a:prstGeom prst="rect">
            <a:avLst/>
          </a:prstGeom>
          <a:noFill/>
          <a:ln w="9525">
            <a:noFill/>
          </a:ln>
        </p:spPr>
        <p:txBody>
          <a:bodyPr>
            <a:spAutoFit/>
          </a:bodyPr>
          <a:p>
            <a:pPr>
              <a:spcBef>
                <a:spcPct val="50000"/>
              </a:spcBef>
            </a:pPr>
            <a:r>
              <a:rPr lang="zh-CN" altLang="en-US" sz="3200" dirty="0">
                <a:latin typeface="Times New Roman" panose="02020603050405020304" pitchFamily="18" charset="0"/>
              </a:rPr>
              <a:t>销售的过程中有没有存在共同的规律呢？</a:t>
            </a:r>
            <a:endParaRPr lang="zh-CN" altLang="en-US" sz="3200" dirty="0">
              <a:latin typeface="Times New Roman" panose="02020603050405020304" pitchFamily="18" charset="0"/>
            </a:endParaRPr>
          </a:p>
        </p:txBody>
      </p:sp>
      <p:sp>
        <p:nvSpPr>
          <p:cNvPr id="27655" name="Rectangle 7"/>
          <p:cNvSpPr>
            <a:spLocks noGrp="1"/>
          </p:cNvSpPr>
          <p:nvPr>
            <p:ph type="title" idx="4294967295"/>
          </p:nvPr>
        </p:nvSpPr>
        <p:spPr>
          <a:ln/>
        </p:spPr>
        <p:txBody>
          <a:bodyPr vert="horz" wrap="square" anchor="ctr" anchorCtr="0"/>
          <a:p>
            <a:pPr eaLnBrk="1" hangingPunct="1"/>
            <a:r>
              <a:rPr lang="zh-TW" altLang="en-US" dirty="0">
                <a:solidFill>
                  <a:srgbClr val="FF3300"/>
                </a:solidFill>
              </a:rPr>
              <a:t>销售的规律</a:t>
            </a:r>
            <a:endParaRPr lang="zh-TW" altLang="en-US" dirty="0">
              <a:solidFill>
                <a:srgbClr val="FF33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27653"/>
                                        </p:tgtEl>
                                        <p:attrNameLst>
                                          <p:attrName>style.visibility</p:attrName>
                                        </p:attrNameLst>
                                      </p:cBhvr>
                                      <p:to>
                                        <p:strVal val="visible"/>
                                      </p:to>
                                    </p:set>
                                    <p:animEffect transition="in" filter="blinds(horizontal)">
                                      <p:cBhvr>
                                        <p:cTn id="7" dur="1000"/>
                                        <p:tgtEl>
                                          <p:spTgt spid="27653"/>
                                        </p:tgtEl>
                                      </p:cBhvr>
                                    </p:animEffect>
                                  </p:childTnLst>
                                </p:cTn>
                              </p:par>
                            </p:childTnLst>
                          </p:cTn>
                        </p:par>
                        <p:par>
                          <p:cTn id="8" fill="hold">
                            <p:stCondLst>
                              <p:cond delay="1000"/>
                            </p:stCondLst>
                            <p:childTnLst>
                              <p:par>
                                <p:cTn id="9" presetID="3" presetClass="entr" presetSubtype="10" fill="hold" grpId="0" nodeType="afterEffect">
                                  <p:stCondLst>
                                    <p:cond delay="0"/>
                                  </p:stCondLst>
                                  <p:childTnLst>
                                    <p:set>
                                      <p:cBhvr>
                                        <p:cTn id="10" dur="1" fill="hold">
                                          <p:stCondLst>
                                            <p:cond delay="0"/>
                                          </p:stCondLst>
                                        </p:cTn>
                                        <p:tgtEl>
                                          <p:spTgt spid="27654"/>
                                        </p:tgtEl>
                                        <p:attrNameLst>
                                          <p:attrName>style.visibility</p:attrName>
                                        </p:attrNameLst>
                                      </p:cBhvr>
                                      <p:to>
                                        <p:strVal val="visible"/>
                                      </p:to>
                                    </p:set>
                                    <p:animEffect transition="in" filter="blinds(horizontal)">
                                      <p:cBhvr>
                                        <p:cTn id="11" dur="1000"/>
                                        <p:tgtEl>
                                          <p:spTgt spid="276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3" grpId="0" animBg="1"/>
      <p:bldP spid="2765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Rectangle 2"/>
          <p:cNvSpPr>
            <a:spLocks noGrp="1"/>
          </p:cNvSpPr>
          <p:nvPr>
            <p:ph type="title" idx="4294967295"/>
          </p:nvPr>
        </p:nvSpPr>
        <p:spPr>
          <a:ln/>
        </p:spPr>
        <p:txBody>
          <a:bodyPr vert="horz" wrap="square" anchor="ctr" anchorCtr="0"/>
          <a:p>
            <a:pPr eaLnBrk="1" hangingPunct="1"/>
            <a:r>
              <a:rPr lang="zh-TW" altLang="en-US" dirty="0">
                <a:solidFill>
                  <a:srgbClr val="FF3300"/>
                </a:solidFill>
              </a:rPr>
              <a:t>销售的逻辑</a:t>
            </a:r>
            <a:endParaRPr lang="zh-TW" altLang="en-US" dirty="0">
              <a:solidFill>
                <a:srgbClr val="FF3300"/>
              </a:solidFill>
            </a:endParaRPr>
          </a:p>
        </p:txBody>
      </p:sp>
      <p:sp>
        <p:nvSpPr>
          <p:cNvPr id="28675" name="Rectangle 3"/>
          <p:cNvSpPr>
            <a:spLocks noGrp="1"/>
          </p:cNvSpPr>
          <p:nvPr>
            <p:ph type="body" sz="half" idx="4294967295"/>
          </p:nvPr>
        </p:nvSpPr>
        <p:spPr>
          <a:xfrm>
            <a:off x="1260475" y="1989138"/>
            <a:ext cx="4967288" cy="2455862"/>
          </a:xfrm>
          <a:ln/>
        </p:spPr>
        <p:txBody>
          <a:bodyPr vert="horz" wrap="square" anchor="t" anchorCtr="0"/>
          <a:lstStyle>
            <a:lvl1pPr lvl="0">
              <a:buClr>
                <a:srgbClr val="FF3300"/>
              </a:buClr>
              <a:buSzTx/>
              <a:buFont typeface="Wingdings" panose="05000000000000000000" pitchFamily="2" charset="2"/>
              <a:defRPr sz="2800"/>
            </a:lvl1pPr>
            <a:lvl2pPr lvl="1">
              <a:buClr>
                <a:srgbClr val="FF3300"/>
              </a:buClr>
              <a:buSzTx/>
              <a:buFont typeface="Wingdings" panose="05000000000000000000" pitchFamily="2" charset="2"/>
              <a:defRPr sz="2400"/>
            </a:lvl2pPr>
            <a:lvl3pPr lvl="2">
              <a:buClr>
                <a:srgbClr val="FF3300"/>
              </a:buClr>
              <a:buSzTx/>
              <a:buFont typeface="Wingdings" panose="05000000000000000000" pitchFamily="2" charset="2"/>
              <a:defRPr sz="2000"/>
            </a:lvl3pPr>
            <a:lvl4pPr lvl="3">
              <a:buClr>
                <a:srgbClr val="FF3300"/>
              </a:buClr>
              <a:buSzTx/>
              <a:buFont typeface="Wingdings" panose="05000000000000000000" pitchFamily="2" charset="2"/>
              <a:defRPr sz="1800"/>
            </a:lvl4pPr>
            <a:lvl5pPr lvl="4">
              <a:buClr>
                <a:srgbClr val="FF3300"/>
              </a:buClr>
              <a:buSzTx/>
              <a:buFont typeface="Wingdings" panose="05000000000000000000" pitchFamily="2" charset="2"/>
              <a:defRPr sz="1800"/>
            </a:lvl5pPr>
          </a:lstStyle>
          <a:p>
            <a:pPr lvl="0" eaLnBrk="1" hangingPunct="1"/>
            <a:r>
              <a:rPr lang="zh-TW" altLang="en-US" sz="2400" dirty="0"/>
              <a:t>客户为什么要买？</a:t>
            </a:r>
            <a:endParaRPr lang="zh-TW" altLang="en-US" sz="2400" dirty="0"/>
          </a:p>
          <a:p>
            <a:pPr lvl="0" eaLnBrk="1" hangingPunct="1"/>
            <a:endParaRPr lang="zh-TW" altLang="en-US" sz="2400" dirty="0"/>
          </a:p>
          <a:p>
            <a:pPr lvl="0" eaLnBrk="1" hangingPunct="1"/>
            <a:r>
              <a:rPr lang="zh-TW" altLang="en-US" sz="2400" dirty="0"/>
              <a:t>客户为什么要在我这里买？</a:t>
            </a:r>
            <a:endParaRPr lang="zh-TW" altLang="en-US" sz="2400" dirty="0"/>
          </a:p>
          <a:p>
            <a:pPr lvl="0" eaLnBrk="1" hangingPunct="1"/>
            <a:endParaRPr lang="zh-TW" altLang="en-US" sz="2400" dirty="0"/>
          </a:p>
          <a:p>
            <a:pPr lvl="0" eaLnBrk="1" hangingPunct="1"/>
            <a:r>
              <a:rPr lang="zh-TW" altLang="en-US" sz="2400" dirty="0"/>
              <a:t>客户为什么现在要在我这里买？</a:t>
            </a:r>
            <a:endParaRPr lang="zh-TW" altLang="en-US" sz="2400" dirty="0"/>
          </a:p>
        </p:txBody>
      </p:sp>
      <p:grpSp>
        <p:nvGrpSpPr>
          <p:cNvPr id="28676" name="组合 28675"/>
          <p:cNvGrpSpPr/>
          <p:nvPr/>
        </p:nvGrpSpPr>
        <p:grpSpPr>
          <a:xfrm>
            <a:off x="1477963" y="4868863"/>
            <a:ext cx="1798637" cy="792162"/>
            <a:chOff x="0" y="0"/>
            <a:chExt cx="1247" cy="576"/>
          </a:xfrm>
        </p:grpSpPr>
        <p:sp>
          <p:nvSpPr>
            <p:cNvPr id="28677" name="未知"/>
            <p:cNvSpPr/>
            <p:nvPr/>
          </p:nvSpPr>
          <p:spPr>
            <a:xfrm>
              <a:off x="0" y="0"/>
              <a:ext cx="1247" cy="576"/>
            </a:xfrm>
            <a:custGeom>
              <a:avLst/>
              <a:gdLst>
                <a:gd name="txL" fmla="*/ 0 w 1247"/>
                <a:gd name="txT" fmla="*/ 0 h 576"/>
                <a:gd name="txR" fmla="*/ 1247 w 1247"/>
                <a:gd name="txB" fmla="*/ 576 h 576"/>
              </a:gdLst>
              <a:ahLst/>
              <a:cxnLst>
                <a:cxn ang="0">
                  <a:pos x="0" y="0"/>
                </a:cxn>
                <a:cxn ang="0">
                  <a:pos x="1143" y="0"/>
                </a:cxn>
                <a:cxn ang="0">
                  <a:pos x="1247" y="288"/>
                </a:cxn>
                <a:cxn ang="0">
                  <a:pos x="1143" y="576"/>
                </a:cxn>
                <a:cxn ang="0">
                  <a:pos x="0" y="576"/>
                </a:cxn>
                <a:cxn ang="0">
                  <a:pos x="104" y="288"/>
                </a:cxn>
                <a:cxn ang="0">
                  <a:pos x="0" y="0"/>
                </a:cxn>
              </a:cxnLst>
              <a:rect l="txL" t="txT" r="txR" b="txB"/>
              <a:pathLst>
                <a:path w="1247" h="576">
                  <a:moveTo>
                    <a:pt x="0" y="0"/>
                  </a:moveTo>
                  <a:lnTo>
                    <a:pt x="1143" y="0"/>
                  </a:lnTo>
                  <a:lnTo>
                    <a:pt x="1247" y="288"/>
                  </a:lnTo>
                  <a:lnTo>
                    <a:pt x="1143" y="576"/>
                  </a:lnTo>
                  <a:lnTo>
                    <a:pt x="0" y="576"/>
                  </a:lnTo>
                  <a:lnTo>
                    <a:pt x="104" y="288"/>
                  </a:lnTo>
                  <a:lnTo>
                    <a:pt x="0" y="0"/>
                  </a:lnTo>
                  <a:close/>
                </a:path>
              </a:pathLst>
            </a:custGeom>
            <a:solidFill>
              <a:schemeClr val="accent1"/>
            </a:solidFill>
            <a:ln w="9525" cap="flat" cmpd="sng">
              <a:solidFill>
                <a:schemeClr val="tx1"/>
              </a:solidFill>
              <a:prstDash val="solid"/>
              <a:miter/>
              <a:headEnd type="none" w="med" len="med"/>
              <a:tailEnd type="none" w="med" len="med"/>
            </a:ln>
          </p:spPr>
          <p:txBody>
            <a:bodyPr wrap="none" lIns="45720" tIns="0" rIns="45720" bIns="0" anchor="ctr" anchorCtr="0">
              <a:spAutoFit/>
            </a:bodyPr>
            <a:p>
              <a:endParaRPr lang="zh-CN" altLang="en-US" dirty="0">
                <a:latin typeface="Frutiger 45 Light" pitchFamily="2" charset="0"/>
              </a:endParaRPr>
            </a:p>
          </p:txBody>
        </p:sp>
        <p:sp>
          <p:nvSpPr>
            <p:cNvPr id="28678" name="Rectangle 6"/>
            <p:cNvSpPr/>
            <p:nvPr/>
          </p:nvSpPr>
          <p:spPr>
            <a:xfrm>
              <a:off x="136" y="32"/>
              <a:ext cx="1008" cy="496"/>
            </a:xfrm>
            <a:prstGeom prst="rect">
              <a:avLst/>
            </a:prstGeom>
            <a:noFill/>
            <a:ln w="9525">
              <a:noFill/>
            </a:ln>
          </p:spPr>
          <p:txBody>
            <a:bodyPr lIns="45720" tIns="0" rIns="45720" bIns="0" anchor="ctr" anchorCtr="0"/>
            <a:p>
              <a:pPr marL="342900" indent="-342900" algn="l">
                <a:spcBef>
                  <a:spcPct val="20000"/>
                </a:spcBef>
                <a:buClr>
                  <a:srgbClr val="FF3300"/>
                </a:buClr>
                <a:buFont typeface="Wingdings" panose="05000000000000000000" pitchFamily="2" charset="2"/>
              </a:pPr>
              <a:r>
                <a:rPr lang="zh-CN" altLang="en-US" dirty="0">
                  <a:latin typeface="Times New Roman" panose="02020603050405020304" pitchFamily="18" charset="0"/>
                  <a:ea typeface="华文中宋" panose="02010600040101010101" pitchFamily="2" charset="-122"/>
                </a:rPr>
                <a:t>需求分析</a:t>
              </a:r>
              <a:endParaRPr lang="en-US" altLang="zh-CN" dirty="0">
                <a:latin typeface="Times New Roman" panose="02020603050405020304" pitchFamily="18" charset="0"/>
                <a:ea typeface="华文中宋" panose="02010600040101010101" pitchFamily="2" charset="-122"/>
              </a:endParaRPr>
            </a:p>
          </p:txBody>
        </p:sp>
      </p:grpSp>
      <p:grpSp>
        <p:nvGrpSpPr>
          <p:cNvPr id="28679" name="组合 28678"/>
          <p:cNvGrpSpPr/>
          <p:nvPr/>
        </p:nvGrpSpPr>
        <p:grpSpPr>
          <a:xfrm>
            <a:off x="3359150" y="4868863"/>
            <a:ext cx="1789113" cy="792162"/>
            <a:chOff x="0" y="0"/>
            <a:chExt cx="1247" cy="576"/>
          </a:xfrm>
        </p:grpSpPr>
        <p:sp>
          <p:nvSpPr>
            <p:cNvPr id="28680" name="未知"/>
            <p:cNvSpPr/>
            <p:nvPr/>
          </p:nvSpPr>
          <p:spPr>
            <a:xfrm>
              <a:off x="0" y="0"/>
              <a:ext cx="1247" cy="576"/>
            </a:xfrm>
            <a:custGeom>
              <a:avLst/>
              <a:gdLst>
                <a:gd name="txL" fmla="*/ 0 w 1247"/>
                <a:gd name="txT" fmla="*/ 0 h 576"/>
                <a:gd name="txR" fmla="*/ 1247 w 1247"/>
                <a:gd name="txB" fmla="*/ 576 h 576"/>
              </a:gdLst>
              <a:ahLst/>
              <a:cxnLst>
                <a:cxn ang="0">
                  <a:pos x="0" y="0"/>
                </a:cxn>
                <a:cxn ang="0">
                  <a:pos x="1143" y="0"/>
                </a:cxn>
                <a:cxn ang="0">
                  <a:pos x="1247" y="288"/>
                </a:cxn>
                <a:cxn ang="0">
                  <a:pos x="1143" y="576"/>
                </a:cxn>
                <a:cxn ang="0">
                  <a:pos x="0" y="576"/>
                </a:cxn>
                <a:cxn ang="0">
                  <a:pos x="104" y="288"/>
                </a:cxn>
                <a:cxn ang="0">
                  <a:pos x="0" y="0"/>
                </a:cxn>
              </a:cxnLst>
              <a:rect l="txL" t="txT" r="txR" b="txB"/>
              <a:pathLst>
                <a:path w="1247" h="576">
                  <a:moveTo>
                    <a:pt x="0" y="0"/>
                  </a:moveTo>
                  <a:lnTo>
                    <a:pt x="1143" y="0"/>
                  </a:lnTo>
                  <a:lnTo>
                    <a:pt x="1247" y="288"/>
                  </a:lnTo>
                  <a:lnTo>
                    <a:pt x="1143" y="576"/>
                  </a:lnTo>
                  <a:lnTo>
                    <a:pt x="0" y="576"/>
                  </a:lnTo>
                  <a:lnTo>
                    <a:pt x="104" y="288"/>
                  </a:lnTo>
                  <a:lnTo>
                    <a:pt x="0" y="0"/>
                  </a:lnTo>
                  <a:close/>
                </a:path>
              </a:pathLst>
            </a:custGeom>
            <a:solidFill>
              <a:schemeClr val="accent1"/>
            </a:solidFill>
            <a:ln w="9525" cap="flat" cmpd="sng">
              <a:solidFill>
                <a:schemeClr val="tx1"/>
              </a:solidFill>
              <a:prstDash val="solid"/>
              <a:miter/>
              <a:headEnd type="none" w="med" len="med"/>
              <a:tailEnd type="none" w="med" len="med"/>
            </a:ln>
          </p:spPr>
          <p:txBody>
            <a:bodyPr wrap="none" lIns="45720" tIns="0" rIns="45720" bIns="0" anchor="ctr" anchorCtr="0">
              <a:spAutoFit/>
            </a:bodyPr>
            <a:p>
              <a:endParaRPr lang="zh-CN" altLang="en-US" dirty="0">
                <a:latin typeface="Frutiger 45 Light" pitchFamily="2" charset="0"/>
              </a:endParaRPr>
            </a:p>
          </p:txBody>
        </p:sp>
        <p:sp>
          <p:nvSpPr>
            <p:cNvPr id="28681" name="Rectangle 9"/>
            <p:cNvSpPr/>
            <p:nvPr/>
          </p:nvSpPr>
          <p:spPr>
            <a:xfrm>
              <a:off x="136" y="32"/>
              <a:ext cx="1008" cy="496"/>
            </a:xfrm>
            <a:prstGeom prst="rect">
              <a:avLst/>
            </a:prstGeom>
            <a:noFill/>
            <a:ln w="9525">
              <a:noFill/>
            </a:ln>
          </p:spPr>
          <p:txBody>
            <a:bodyPr lIns="45720" tIns="0" rIns="45720" bIns="0" anchor="ctr" anchorCtr="0"/>
            <a:p>
              <a:pPr marL="342900" indent="-342900" algn="l">
                <a:spcBef>
                  <a:spcPct val="20000"/>
                </a:spcBef>
                <a:buClr>
                  <a:srgbClr val="FF3300"/>
                </a:buClr>
                <a:buFont typeface="Wingdings" panose="05000000000000000000" pitchFamily="2" charset="2"/>
              </a:pPr>
              <a:r>
                <a:rPr lang="zh-TW" altLang="en-US">
                  <a:latin typeface="Times New Roman" panose="02020603050405020304" pitchFamily="18" charset="0"/>
                  <a:ea typeface="华文中宋" panose="02010600040101010101" pitchFamily="2" charset="-122"/>
                </a:rPr>
                <a:t>产品介绍</a:t>
              </a:r>
              <a:endParaRPr lang="zh-TW" altLang="en-US">
                <a:latin typeface="Times New Roman" panose="02020603050405020304" pitchFamily="18" charset="0"/>
                <a:ea typeface="华文中宋" panose="02010600040101010101" pitchFamily="2" charset="-122"/>
              </a:endParaRPr>
            </a:p>
          </p:txBody>
        </p:sp>
      </p:grpSp>
      <p:grpSp>
        <p:nvGrpSpPr>
          <p:cNvPr id="28682" name="组合 28681"/>
          <p:cNvGrpSpPr/>
          <p:nvPr/>
        </p:nvGrpSpPr>
        <p:grpSpPr>
          <a:xfrm>
            <a:off x="5230813" y="4868863"/>
            <a:ext cx="1790700" cy="792162"/>
            <a:chOff x="0" y="0"/>
            <a:chExt cx="1246" cy="576"/>
          </a:xfrm>
        </p:grpSpPr>
        <p:sp>
          <p:nvSpPr>
            <p:cNvPr id="28683" name="未知"/>
            <p:cNvSpPr/>
            <p:nvPr/>
          </p:nvSpPr>
          <p:spPr>
            <a:xfrm>
              <a:off x="0" y="0"/>
              <a:ext cx="1246" cy="576"/>
            </a:xfrm>
            <a:custGeom>
              <a:avLst/>
              <a:gdLst>
                <a:gd name="txL" fmla="*/ 0 w 1246"/>
                <a:gd name="txT" fmla="*/ 0 h 576"/>
                <a:gd name="txR" fmla="*/ 1246 w 1246"/>
                <a:gd name="txB" fmla="*/ 576 h 576"/>
              </a:gdLst>
              <a:ahLst/>
              <a:cxnLst>
                <a:cxn ang="0">
                  <a:pos x="0" y="0"/>
                </a:cxn>
                <a:cxn ang="0">
                  <a:pos x="1142" y="0"/>
                </a:cxn>
                <a:cxn ang="0">
                  <a:pos x="1246" y="288"/>
                </a:cxn>
                <a:cxn ang="0">
                  <a:pos x="1142" y="576"/>
                </a:cxn>
                <a:cxn ang="0">
                  <a:pos x="0" y="576"/>
                </a:cxn>
                <a:cxn ang="0">
                  <a:pos x="104" y="288"/>
                </a:cxn>
                <a:cxn ang="0">
                  <a:pos x="0" y="0"/>
                </a:cxn>
              </a:cxnLst>
              <a:rect l="txL" t="txT" r="txR" b="txB"/>
              <a:pathLst>
                <a:path w="1246" h="576">
                  <a:moveTo>
                    <a:pt x="0" y="0"/>
                  </a:moveTo>
                  <a:lnTo>
                    <a:pt x="1142" y="0"/>
                  </a:lnTo>
                  <a:lnTo>
                    <a:pt x="1246" y="288"/>
                  </a:lnTo>
                  <a:lnTo>
                    <a:pt x="1142" y="576"/>
                  </a:lnTo>
                  <a:lnTo>
                    <a:pt x="0" y="576"/>
                  </a:lnTo>
                  <a:lnTo>
                    <a:pt x="104" y="288"/>
                  </a:lnTo>
                  <a:lnTo>
                    <a:pt x="0" y="0"/>
                  </a:lnTo>
                  <a:close/>
                </a:path>
              </a:pathLst>
            </a:custGeom>
            <a:solidFill>
              <a:schemeClr val="accent1"/>
            </a:solidFill>
            <a:ln w="9525" cap="flat" cmpd="sng">
              <a:solidFill>
                <a:schemeClr val="tx1"/>
              </a:solidFill>
              <a:prstDash val="solid"/>
              <a:miter/>
              <a:headEnd type="none" w="med" len="med"/>
              <a:tailEnd type="none" w="med" len="med"/>
            </a:ln>
          </p:spPr>
          <p:txBody>
            <a:bodyPr wrap="none" lIns="45720" tIns="0" rIns="45720" bIns="0" anchor="ctr" anchorCtr="0">
              <a:spAutoFit/>
            </a:bodyPr>
            <a:p>
              <a:endParaRPr lang="zh-CN" altLang="en-US" dirty="0">
                <a:latin typeface="Frutiger 45 Light" pitchFamily="2" charset="0"/>
              </a:endParaRPr>
            </a:p>
          </p:txBody>
        </p:sp>
        <p:sp>
          <p:nvSpPr>
            <p:cNvPr id="28684" name="Rectangle 12"/>
            <p:cNvSpPr/>
            <p:nvPr/>
          </p:nvSpPr>
          <p:spPr>
            <a:xfrm>
              <a:off x="136" y="32"/>
              <a:ext cx="1007" cy="496"/>
            </a:xfrm>
            <a:prstGeom prst="rect">
              <a:avLst/>
            </a:prstGeom>
            <a:noFill/>
            <a:ln w="9525">
              <a:noFill/>
            </a:ln>
          </p:spPr>
          <p:txBody>
            <a:bodyPr lIns="45720" tIns="0" rIns="45720" bIns="0" anchor="ctr" anchorCtr="0"/>
            <a:p>
              <a:pPr marL="342900" indent="-342900" algn="l">
                <a:spcBef>
                  <a:spcPct val="20000"/>
                </a:spcBef>
                <a:buClr>
                  <a:srgbClr val="FF3300"/>
                </a:buClr>
                <a:buFont typeface="Wingdings" panose="05000000000000000000" pitchFamily="2" charset="2"/>
              </a:pPr>
              <a:r>
                <a:rPr lang="zh-TW" altLang="en-US">
                  <a:latin typeface="Times New Roman" panose="02020603050405020304" pitchFamily="18" charset="0"/>
                  <a:ea typeface="华文中宋" panose="02010600040101010101" pitchFamily="2" charset="-122"/>
                </a:rPr>
                <a:t>促成成交</a:t>
              </a:r>
              <a:endParaRPr lang="zh-TW" altLang="en-US">
                <a:latin typeface="Times New Roman" panose="02020603050405020304" pitchFamily="18" charset="0"/>
                <a:ea typeface="华文中宋" panose="02010600040101010101" pitchFamily="2" charset="-122"/>
              </a:endParaRPr>
            </a:p>
          </p:txBody>
        </p:sp>
      </p:grpSp>
      <p:graphicFrame>
        <p:nvGraphicFramePr>
          <p:cNvPr id="28685" name="Object 13"/>
          <p:cNvGraphicFramePr>
            <a:graphicFrameLocks noChangeAspect="1"/>
          </p:cNvGraphicFramePr>
          <p:nvPr>
            <p:ph sz="half" idx="1"/>
          </p:nvPr>
        </p:nvGraphicFramePr>
        <p:xfrm>
          <a:off x="7381875" y="3141663"/>
          <a:ext cx="1025525" cy="1320800"/>
        </p:xfrm>
        <a:graphic>
          <a:graphicData uri="http://schemas.openxmlformats.org/presentationml/2006/ole">
            <mc:AlternateContent xmlns:mc="http://schemas.openxmlformats.org/markup-compatibility/2006">
              <mc:Choice xmlns:v="urn:schemas-microsoft-com:vml" Requires="v">
                <p:oleObj spid="_x0000_s3084" name="" r:id="rId1" imgW="913765" imgH="1176655" progId="">
                  <p:embed/>
                </p:oleObj>
              </mc:Choice>
              <mc:Fallback>
                <p:oleObj name="" r:id="rId1" imgW="913765" imgH="1176655" progId="">
                  <p:embed/>
                  <p:pic>
                    <p:nvPicPr>
                      <p:cNvPr id="0" name="图片 3083"/>
                      <p:cNvPicPr/>
                      <p:nvPr/>
                    </p:nvPicPr>
                    <p:blipFill>
                      <a:blip r:embed="rId2"/>
                      <a:stretch>
                        <a:fillRect/>
                      </a:stretch>
                    </p:blipFill>
                    <p:spPr>
                      <a:xfrm>
                        <a:off x="7381875" y="3141663"/>
                        <a:ext cx="1025525" cy="1320800"/>
                      </a:xfrm>
                      <a:prstGeom prst="rect">
                        <a:avLst/>
                      </a:prstGeom>
                      <a:noFill/>
                      <a:ln w="38100">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8675">
                                            <p:txEl>
                                              <p:charRg st="0" end="9"/>
                                            </p:txEl>
                                          </p:spTgt>
                                        </p:tgtEl>
                                        <p:attrNameLst>
                                          <p:attrName>style.visibility</p:attrName>
                                        </p:attrNameLst>
                                      </p:cBhvr>
                                      <p:to>
                                        <p:strVal val="visible"/>
                                      </p:to>
                                    </p:set>
                                    <p:animEffect transition="in" filter="blinds(horizontal)">
                                      <p:cBhvr>
                                        <p:cTn id="7" dur="500"/>
                                        <p:tgtEl>
                                          <p:spTgt spid="28675">
                                            <p:txEl>
                                              <p:charRg st="0" end="9"/>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676"/>
                                        </p:tgtEl>
                                        <p:attrNameLst>
                                          <p:attrName>style.visibility</p:attrName>
                                        </p:attrNameLst>
                                      </p:cBhvr>
                                      <p:to>
                                        <p:strVal val="visible"/>
                                      </p:to>
                                    </p:set>
                                    <p:animEffect transition="in" filter="fade">
                                      <p:cBhvr>
                                        <p:cTn id="12" dur="2000"/>
                                        <p:tgtEl>
                                          <p:spTgt spid="2867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8675">
                                            <p:txEl>
                                              <p:charRg st="10" end="23"/>
                                            </p:txEl>
                                          </p:spTgt>
                                        </p:tgtEl>
                                        <p:attrNameLst>
                                          <p:attrName>style.visibility</p:attrName>
                                        </p:attrNameLst>
                                      </p:cBhvr>
                                      <p:to>
                                        <p:strVal val="visible"/>
                                      </p:to>
                                    </p:set>
                                    <p:animEffect transition="in" filter="blinds(horizontal)">
                                      <p:cBhvr>
                                        <p:cTn id="17" dur="500"/>
                                        <p:tgtEl>
                                          <p:spTgt spid="28675">
                                            <p:txEl>
                                              <p:charRg st="10" end="2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8679"/>
                                        </p:tgtEl>
                                        <p:attrNameLst>
                                          <p:attrName>style.visibility</p:attrName>
                                        </p:attrNameLst>
                                      </p:cBhvr>
                                      <p:to>
                                        <p:strVal val="visible"/>
                                      </p:to>
                                    </p:set>
                                    <p:animEffect transition="in" filter="fade">
                                      <p:cBhvr>
                                        <p:cTn id="22" dur="2000"/>
                                        <p:tgtEl>
                                          <p:spTgt spid="28679"/>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8675">
                                            <p:txEl>
                                              <p:charRg st="24" end="39"/>
                                            </p:txEl>
                                          </p:spTgt>
                                        </p:tgtEl>
                                        <p:attrNameLst>
                                          <p:attrName>style.visibility</p:attrName>
                                        </p:attrNameLst>
                                      </p:cBhvr>
                                      <p:to>
                                        <p:strVal val="visible"/>
                                      </p:to>
                                    </p:set>
                                    <p:animEffect transition="in" filter="blinds(horizontal)">
                                      <p:cBhvr>
                                        <p:cTn id="27" dur="500"/>
                                        <p:tgtEl>
                                          <p:spTgt spid="28675">
                                            <p:txEl>
                                              <p:charRg st="24" end="39"/>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682"/>
                                        </p:tgtEl>
                                        <p:attrNameLst>
                                          <p:attrName>style.visibility</p:attrName>
                                        </p:attrNameLst>
                                      </p:cBhvr>
                                      <p:to>
                                        <p:strVal val="visible"/>
                                      </p:to>
                                    </p:set>
                                    <p:animEffect transition="in" filter="fade">
                                      <p:cBhvr>
                                        <p:cTn id="32" dur="2000"/>
                                        <p:tgtEl>
                                          <p:spTgt spid="286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Rectangle 2"/>
          <p:cNvSpPr>
            <a:spLocks noGrp="1"/>
          </p:cNvSpPr>
          <p:nvPr>
            <p:ph type="title" idx="4294967295"/>
          </p:nvPr>
        </p:nvSpPr>
        <p:spPr>
          <a:ln/>
        </p:spPr>
        <p:txBody>
          <a:bodyPr vert="horz" wrap="square" anchor="ctr" anchorCtr="0"/>
          <a:p>
            <a:pPr eaLnBrk="1" hangingPunct="1"/>
            <a:r>
              <a:rPr lang="zh-TW" altLang="en-US" sz="3200" dirty="0">
                <a:solidFill>
                  <a:srgbClr val="000066"/>
                </a:solidFill>
              </a:rPr>
              <a:t>销售的过程</a:t>
            </a:r>
            <a:endParaRPr lang="zh-TW" altLang="en-US" sz="3200" dirty="0">
              <a:solidFill>
                <a:srgbClr val="000066"/>
              </a:solidFill>
            </a:endParaRPr>
          </a:p>
        </p:txBody>
      </p:sp>
      <p:sp>
        <p:nvSpPr>
          <p:cNvPr id="30723" name="Text Box 3" descr="新闻纸"/>
          <p:cNvSpPr txBox="1"/>
          <p:nvPr/>
        </p:nvSpPr>
        <p:spPr>
          <a:xfrm>
            <a:off x="323850" y="2924175"/>
            <a:ext cx="1439863" cy="457200"/>
          </a:xfrm>
          <a:prstGeom prst="rect">
            <a:avLst/>
          </a:prstGeom>
          <a:noFill/>
          <a:ln w="9525">
            <a:noFill/>
          </a:ln>
        </p:spPr>
        <p:txBody>
          <a:bodyPr>
            <a:spAutoFit/>
          </a:bodyPr>
          <a:p>
            <a:pPr>
              <a:spcBef>
                <a:spcPct val="50000"/>
              </a:spcBef>
            </a:pPr>
            <a:r>
              <a:rPr lang="zh-CN" altLang="en-US" dirty="0">
                <a:latin typeface="Frutiger 45 Light" pitchFamily="2" charset="0"/>
              </a:rPr>
              <a:t>接触客户</a:t>
            </a:r>
            <a:endParaRPr lang="zh-CN" altLang="en-US" dirty="0">
              <a:latin typeface="Frutiger 45 Light" pitchFamily="2" charset="0"/>
            </a:endParaRPr>
          </a:p>
        </p:txBody>
      </p:sp>
      <p:sp>
        <p:nvSpPr>
          <p:cNvPr id="30724" name="Text Box 4" descr="新闻纸"/>
          <p:cNvSpPr txBox="1"/>
          <p:nvPr/>
        </p:nvSpPr>
        <p:spPr>
          <a:xfrm>
            <a:off x="4645025" y="4005263"/>
            <a:ext cx="1439863" cy="457200"/>
          </a:xfrm>
          <a:prstGeom prst="rect">
            <a:avLst/>
          </a:prstGeom>
          <a:noFill/>
          <a:ln w="9525">
            <a:noFill/>
          </a:ln>
        </p:spPr>
        <p:txBody>
          <a:bodyPr>
            <a:spAutoFit/>
          </a:bodyPr>
          <a:p>
            <a:pPr>
              <a:spcBef>
                <a:spcPct val="50000"/>
              </a:spcBef>
            </a:pPr>
            <a:r>
              <a:rPr lang="zh-CN" altLang="en-US" dirty="0">
                <a:latin typeface="Frutiger 45 Light" pitchFamily="2" charset="0"/>
              </a:rPr>
              <a:t>漠 视</a:t>
            </a:r>
            <a:endParaRPr lang="zh-CN" altLang="en-US" dirty="0">
              <a:latin typeface="Frutiger 45 Light" pitchFamily="2" charset="0"/>
            </a:endParaRPr>
          </a:p>
        </p:txBody>
      </p:sp>
      <p:sp>
        <p:nvSpPr>
          <p:cNvPr id="30725" name="Text Box 5" descr="新闻纸"/>
          <p:cNvSpPr txBox="1"/>
          <p:nvPr/>
        </p:nvSpPr>
        <p:spPr>
          <a:xfrm>
            <a:off x="4645025" y="2060575"/>
            <a:ext cx="1439863" cy="457200"/>
          </a:xfrm>
          <a:prstGeom prst="rect">
            <a:avLst/>
          </a:prstGeom>
          <a:noFill/>
          <a:ln w="9525">
            <a:noFill/>
          </a:ln>
        </p:spPr>
        <p:txBody>
          <a:bodyPr>
            <a:spAutoFit/>
          </a:bodyPr>
          <a:p>
            <a:pPr>
              <a:spcBef>
                <a:spcPct val="50000"/>
              </a:spcBef>
            </a:pPr>
            <a:r>
              <a:rPr lang="zh-CN" altLang="en-US" dirty="0">
                <a:latin typeface="Frutiger 45 Light" pitchFamily="2" charset="0"/>
              </a:rPr>
              <a:t>拒 绝</a:t>
            </a:r>
            <a:endParaRPr lang="zh-CN" altLang="en-US" dirty="0">
              <a:latin typeface="Frutiger 45 Light" pitchFamily="2" charset="0"/>
            </a:endParaRPr>
          </a:p>
        </p:txBody>
      </p:sp>
      <p:sp>
        <p:nvSpPr>
          <p:cNvPr id="30726" name="Text Box 6" descr="新闻纸"/>
          <p:cNvSpPr txBox="1"/>
          <p:nvPr/>
        </p:nvSpPr>
        <p:spPr>
          <a:xfrm>
            <a:off x="7453313" y="2997200"/>
            <a:ext cx="1439862" cy="457200"/>
          </a:xfrm>
          <a:prstGeom prst="rect">
            <a:avLst/>
          </a:prstGeom>
          <a:noFill/>
          <a:ln w="9525">
            <a:noFill/>
          </a:ln>
        </p:spPr>
        <p:txBody>
          <a:bodyPr>
            <a:spAutoFit/>
          </a:bodyPr>
          <a:p>
            <a:pPr>
              <a:spcBef>
                <a:spcPct val="50000"/>
              </a:spcBef>
            </a:pPr>
            <a:r>
              <a:rPr lang="zh-CN" altLang="en-US" dirty="0">
                <a:latin typeface="Frutiger 45 Light" pitchFamily="2" charset="0"/>
              </a:rPr>
              <a:t>成 交</a:t>
            </a:r>
            <a:endParaRPr lang="zh-CN" altLang="en-US" dirty="0">
              <a:latin typeface="Frutiger 45 Light" pitchFamily="2" charset="0"/>
            </a:endParaRPr>
          </a:p>
        </p:txBody>
      </p:sp>
      <p:sp>
        <p:nvSpPr>
          <p:cNvPr id="30727" name="Text Box 7" descr="新闻纸"/>
          <p:cNvSpPr txBox="1"/>
          <p:nvPr/>
        </p:nvSpPr>
        <p:spPr>
          <a:xfrm>
            <a:off x="6661150" y="2276475"/>
            <a:ext cx="1439863" cy="457200"/>
          </a:xfrm>
          <a:prstGeom prst="rect">
            <a:avLst/>
          </a:prstGeom>
          <a:noFill/>
          <a:ln w="9525">
            <a:noFill/>
          </a:ln>
        </p:spPr>
        <p:txBody>
          <a:bodyPr>
            <a:spAutoFit/>
          </a:bodyPr>
          <a:p>
            <a:pPr>
              <a:spcBef>
                <a:spcPct val="50000"/>
              </a:spcBef>
            </a:pPr>
            <a:r>
              <a:rPr lang="zh-CN" altLang="en-US" dirty="0">
                <a:latin typeface="Frutiger 45 Light" pitchFamily="2" charset="0"/>
              </a:rPr>
              <a:t>推 诿 </a:t>
            </a:r>
            <a:endParaRPr lang="zh-CN" altLang="en-US" dirty="0">
              <a:latin typeface="Frutiger 45 Light" pitchFamily="2" charset="0"/>
            </a:endParaRPr>
          </a:p>
        </p:txBody>
      </p:sp>
      <p:sp>
        <p:nvSpPr>
          <p:cNvPr id="30728" name="Text Box 8" descr="新闻纸"/>
          <p:cNvSpPr txBox="1"/>
          <p:nvPr/>
        </p:nvSpPr>
        <p:spPr>
          <a:xfrm>
            <a:off x="6516688" y="3716338"/>
            <a:ext cx="1439862" cy="457200"/>
          </a:xfrm>
          <a:prstGeom prst="rect">
            <a:avLst/>
          </a:prstGeom>
          <a:noFill/>
          <a:ln w="9525">
            <a:noFill/>
          </a:ln>
        </p:spPr>
        <p:txBody>
          <a:bodyPr>
            <a:spAutoFit/>
          </a:bodyPr>
          <a:p>
            <a:pPr>
              <a:spcBef>
                <a:spcPct val="50000"/>
              </a:spcBef>
            </a:pPr>
            <a:r>
              <a:rPr lang="zh-CN" altLang="en-US" dirty="0">
                <a:latin typeface="Frutiger 45 Light" pitchFamily="2" charset="0"/>
              </a:rPr>
              <a:t>异 议 </a:t>
            </a:r>
            <a:endParaRPr lang="zh-CN" altLang="en-US" dirty="0">
              <a:latin typeface="Frutiger 45 Light" pitchFamily="2" charset="0"/>
            </a:endParaRPr>
          </a:p>
        </p:txBody>
      </p:sp>
      <p:graphicFrame>
        <p:nvGraphicFramePr>
          <p:cNvPr id="30729" name="Object 9">
            <a:hlinkClick r:id="" action="ppaction://ole?verb="/>
          </p:cNvPr>
          <p:cNvGraphicFramePr/>
          <p:nvPr>
            <p:ph idx="1"/>
          </p:nvPr>
        </p:nvGraphicFramePr>
        <p:xfrm>
          <a:off x="396875" y="4581525"/>
          <a:ext cx="2733675" cy="1724025"/>
        </p:xfrm>
        <a:graphic>
          <a:graphicData uri="http://schemas.openxmlformats.org/presentationml/2006/ole">
            <mc:AlternateContent xmlns:mc="http://schemas.openxmlformats.org/markup-compatibility/2006">
              <mc:Choice xmlns:v="urn:schemas-microsoft-com:vml" Requires="v">
                <p:oleObj spid="_x0000_s3086" name="" r:id="rId1" imgW="6240780" imgH="5685155" progId="">
                  <p:embed/>
                </p:oleObj>
              </mc:Choice>
              <mc:Fallback>
                <p:oleObj name="" r:id="rId1" imgW="6240780" imgH="5685155" progId="">
                  <p:embed/>
                  <p:pic>
                    <p:nvPicPr>
                      <p:cNvPr id="0" name="图片 3085"/>
                      <p:cNvPicPr/>
                      <p:nvPr/>
                    </p:nvPicPr>
                    <p:blipFill>
                      <a:blip r:embed="rId2"/>
                      <a:stretch>
                        <a:fillRect/>
                      </a:stretch>
                    </p:blipFill>
                    <p:spPr>
                      <a:xfrm>
                        <a:off x="396875" y="4581525"/>
                        <a:ext cx="2733675" cy="1724025"/>
                      </a:xfrm>
                      <a:prstGeom prst="rect">
                        <a:avLst/>
                      </a:prstGeom>
                      <a:noFill/>
                      <a:ln w="38100">
                        <a:miter/>
                      </a:ln>
                    </p:spPr>
                  </p:pic>
                </p:oleObj>
              </mc:Fallback>
            </mc:AlternateContent>
          </a:graphicData>
        </a:graphic>
      </p:graphicFrame>
      <p:pic>
        <p:nvPicPr>
          <p:cNvPr id="30730" name="Picture 10" descr="图片2"/>
          <p:cNvPicPr>
            <a:picLocks noChangeAspect="1"/>
          </p:cNvPicPr>
          <p:nvPr/>
        </p:nvPicPr>
        <p:blipFill>
          <a:blip r:embed="rId3"/>
          <a:stretch>
            <a:fillRect/>
          </a:stretch>
        </p:blipFill>
        <p:spPr>
          <a:xfrm>
            <a:off x="2052638" y="2492375"/>
            <a:ext cx="5629275" cy="1384300"/>
          </a:xfrm>
          <a:prstGeom prst="rect">
            <a:avLst/>
          </a:prstGeom>
          <a:noFill/>
          <a:ln w="9525">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2770" name="组合 32769"/>
          <p:cNvGrpSpPr/>
          <p:nvPr/>
        </p:nvGrpSpPr>
        <p:grpSpPr>
          <a:xfrm>
            <a:off x="881063" y="2565400"/>
            <a:ext cx="1858962" cy="935038"/>
            <a:chOff x="0" y="0"/>
            <a:chExt cx="1246" cy="576"/>
          </a:xfrm>
        </p:grpSpPr>
        <p:sp>
          <p:nvSpPr>
            <p:cNvPr id="32771" name="未知"/>
            <p:cNvSpPr/>
            <p:nvPr/>
          </p:nvSpPr>
          <p:spPr>
            <a:xfrm>
              <a:off x="0" y="0"/>
              <a:ext cx="1246" cy="576"/>
            </a:xfrm>
            <a:custGeom>
              <a:avLst/>
              <a:gdLst>
                <a:gd name="txL" fmla="*/ 0 w 1246"/>
                <a:gd name="txT" fmla="*/ 0 h 576"/>
                <a:gd name="txR" fmla="*/ 1246 w 1246"/>
                <a:gd name="txB" fmla="*/ 576 h 576"/>
              </a:gdLst>
              <a:ahLst/>
              <a:cxnLst>
                <a:cxn ang="0">
                  <a:pos x="0" y="0"/>
                </a:cxn>
                <a:cxn ang="0">
                  <a:pos x="1142" y="0"/>
                </a:cxn>
                <a:cxn ang="0">
                  <a:pos x="1246" y="288"/>
                </a:cxn>
                <a:cxn ang="0">
                  <a:pos x="1142" y="576"/>
                </a:cxn>
                <a:cxn ang="0">
                  <a:pos x="0" y="576"/>
                </a:cxn>
                <a:cxn ang="0">
                  <a:pos x="0" y="288"/>
                </a:cxn>
                <a:cxn ang="0">
                  <a:pos x="0" y="0"/>
                </a:cxn>
              </a:cxnLst>
              <a:rect l="txL" t="txT" r="txR" b="txB"/>
              <a:pathLst>
                <a:path w="1246" h="576">
                  <a:moveTo>
                    <a:pt x="0" y="0"/>
                  </a:moveTo>
                  <a:lnTo>
                    <a:pt x="1142" y="0"/>
                  </a:lnTo>
                  <a:lnTo>
                    <a:pt x="1246" y="288"/>
                  </a:lnTo>
                  <a:lnTo>
                    <a:pt x="1142" y="576"/>
                  </a:lnTo>
                  <a:lnTo>
                    <a:pt x="0" y="576"/>
                  </a:lnTo>
                  <a:lnTo>
                    <a:pt x="0" y="288"/>
                  </a:lnTo>
                  <a:lnTo>
                    <a:pt x="0" y="0"/>
                  </a:lnTo>
                  <a:close/>
                </a:path>
              </a:pathLst>
            </a:custGeom>
            <a:solidFill>
              <a:srgbClr val="FF3300"/>
            </a:solidFill>
            <a:ln w="9525" cap="flat" cmpd="sng">
              <a:solidFill>
                <a:schemeClr val="tx1"/>
              </a:solidFill>
              <a:prstDash val="solid"/>
              <a:miter/>
              <a:headEnd type="none" w="med" len="med"/>
              <a:tailEnd type="none" w="med" len="med"/>
            </a:ln>
          </p:spPr>
          <p:txBody>
            <a:bodyPr wrap="none" lIns="45720" tIns="0" rIns="45720" bIns="0" anchor="ctr" anchorCtr="0">
              <a:spAutoFit/>
            </a:bodyPr>
            <a:p>
              <a:endParaRPr lang="zh-CN" altLang="en-US" dirty="0">
                <a:latin typeface="Frutiger 45 Light" pitchFamily="2" charset="0"/>
              </a:endParaRPr>
            </a:p>
          </p:txBody>
        </p:sp>
        <p:sp>
          <p:nvSpPr>
            <p:cNvPr id="32772" name="Rectangle 4"/>
            <p:cNvSpPr/>
            <p:nvPr/>
          </p:nvSpPr>
          <p:spPr>
            <a:xfrm>
              <a:off x="32" y="32"/>
              <a:ext cx="1110" cy="496"/>
            </a:xfrm>
            <a:prstGeom prst="rect">
              <a:avLst/>
            </a:prstGeom>
            <a:noFill/>
            <a:ln w="9525">
              <a:noFill/>
            </a:ln>
          </p:spPr>
          <p:txBody>
            <a:bodyPr lIns="45720" tIns="0" rIns="45720" bIns="0" anchor="ctr" anchorCtr="0"/>
            <a:p>
              <a:pPr marL="342900" indent="-342900" algn="l">
                <a:spcBef>
                  <a:spcPct val="20000"/>
                </a:spcBef>
                <a:buClr>
                  <a:srgbClr val="FF3300"/>
                </a:buClr>
                <a:buFont typeface="Wingdings" panose="05000000000000000000" pitchFamily="2" charset="2"/>
              </a:pPr>
              <a:r>
                <a:rPr lang="zh-CN" altLang="en-US" sz="2800" dirty="0">
                  <a:solidFill>
                    <a:schemeClr val="bg1"/>
                  </a:solidFill>
                  <a:latin typeface="Times New Roman" panose="02020603050405020304" pitchFamily="18" charset="0"/>
                  <a:ea typeface="华文中宋" panose="02010600040101010101" pitchFamily="2" charset="-122"/>
                </a:rPr>
                <a:t>接触面谈</a:t>
              </a:r>
              <a:endParaRPr lang="en-US" altLang="zh-CN" sz="2800" dirty="0">
                <a:solidFill>
                  <a:schemeClr val="bg1"/>
                </a:solidFill>
                <a:latin typeface="Times New Roman" panose="02020603050405020304" pitchFamily="18" charset="0"/>
                <a:ea typeface="华文中宋" panose="02010600040101010101" pitchFamily="2" charset="-122"/>
              </a:endParaRPr>
            </a:p>
          </p:txBody>
        </p:sp>
      </p:grpSp>
      <p:grpSp>
        <p:nvGrpSpPr>
          <p:cNvPr id="32773" name="组合 32772"/>
          <p:cNvGrpSpPr/>
          <p:nvPr/>
        </p:nvGrpSpPr>
        <p:grpSpPr>
          <a:xfrm>
            <a:off x="2692400" y="2565400"/>
            <a:ext cx="1952625" cy="935038"/>
            <a:chOff x="0" y="0"/>
            <a:chExt cx="1247" cy="576"/>
          </a:xfrm>
        </p:grpSpPr>
        <p:sp>
          <p:nvSpPr>
            <p:cNvPr id="32774" name="未知"/>
            <p:cNvSpPr/>
            <p:nvPr/>
          </p:nvSpPr>
          <p:spPr>
            <a:xfrm>
              <a:off x="0" y="0"/>
              <a:ext cx="1247" cy="576"/>
            </a:xfrm>
            <a:custGeom>
              <a:avLst/>
              <a:gdLst>
                <a:gd name="txL" fmla="*/ 0 w 1247"/>
                <a:gd name="txT" fmla="*/ 0 h 576"/>
                <a:gd name="txR" fmla="*/ 1247 w 1247"/>
                <a:gd name="txB" fmla="*/ 576 h 576"/>
              </a:gdLst>
              <a:ahLst/>
              <a:cxnLst>
                <a:cxn ang="0">
                  <a:pos x="0" y="0"/>
                </a:cxn>
                <a:cxn ang="0">
                  <a:pos x="1143" y="0"/>
                </a:cxn>
                <a:cxn ang="0">
                  <a:pos x="1247" y="288"/>
                </a:cxn>
                <a:cxn ang="0">
                  <a:pos x="1143" y="576"/>
                </a:cxn>
                <a:cxn ang="0">
                  <a:pos x="0" y="576"/>
                </a:cxn>
                <a:cxn ang="0">
                  <a:pos x="104" y="288"/>
                </a:cxn>
                <a:cxn ang="0">
                  <a:pos x="0" y="0"/>
                </a:cxn>
              </a:cxnLst>
              <a:rect l="txL" t="txT" r="txR" b="txB"/>
              <a:pathLst>
                <a:path w="1247" h="576">
                  <a:moveTo>
                    <a:pt x="0" y="0"/>
                  </a:moveTo>
                  <a:lnTo>
                    <a:pt x="1143" y="0"/>
                  </a:lnTo>
                  <a:lnTo>
                    <a:pt x="1247" y="288"/>
                  </a:lnTo>
                  <a:lnTo>
                    <a:pt x="1143" y="576"/>
                  </a:lnTo>
                  <a:lnTo>
                    <a:pt x="0" y="576"/>
                  </a:lnTo>
                  <a:lnTo>
                    <a:pt x="104" y="288"/>
                  </a:lnTo>
                  <a:lnTo>
                    <a:pt x="0" y="0"/>
                  </a:lnTo>
                  <a:close/>
                </a:path>
              </a:pathLst>
            </a:custGeom>
            <a:solidFill>
              <a:schemeClr val="accent1"/>
            </a:solidFill>
            <a:ln w="9525" cap="flat" cmpd="sng">
              <a:solidFill>
                <a:schemeClr val="tx1"/>
              </a:solidFill>
              <a:prstDash val="solid"/>
              <a:miter/>
              <a:headEnd type="none" w="med" len="med"/>
              <a:tailEnd type="none" w="med" len="med"/>
            </a:ln>
          </p:spPr>
          <p:txBody>
            <a:bodyPr wrap="none" lIns="45720" tIns="0" rIns="45720" bIns="0" anchor="ctr" anchorCtr="0">
              <a:spAutoFit/>
            </a:bodyPr>
            <a:p>
              <a:endParaRPr lang="zh-CN" altLang="en-US" dirty="0">
                <a:latin typeface="Frutiger 45 Light" pitchFamily="2" charset="0"/>
              </a:endParaRPr>
            </a:p>
          </p:txBody>
        </p:sp>
        <p:sp>
          <p:nvSpPr>
            <p:cNvPr id="32775" name="Rectangle 7"/>
            <p:cNvSpPr/>
            <p:nvPr/>
          </p:nvSpPr>
          <p:spPr>
            <a:xfrm>
              <a:off x="136" y="32"/>
              <a:ext cx="1008" cy="496"/>
            </a:xfrm>
            <a:prstGeom prst="rect">
              <a:avLst/>
            </a:prstGeom>
            <a:noFill/>
            <a:ln w="9525">
              <a:noFill/>
            </a:ln>
          </p:spPr>
          <p:txBody>
            <a:bodyPr lIns="45720" tIns="0" rIns="45720" bIns="0" anchor="ctr" anchorCtr="0"/>
            <a:p>
              <a:pPr marL="342900" indent="-342900" algn="l">
                <a:spcBef>
                  <a:spcPct val="20000"/>
                </a:spcBef>
                <a:buClr>
                  <a:srgbClr val="FF3300"/>
                </a:buClr>
                <a:buFont typeface="Wingdings" panose="05000000000000000000" pitchFamily="2" charset="2"/>
              </a:pPr>
              <a:r>
                <a:rPr lang="zh-CN" altLang="en-US" sz="2800" dirty="0">
                  <a:solidFill>
                    <a:schemeClr val="bg1"/>
                  </a:solidFill>
                  <a:latin typeface="Times New Roman" panose="02020603050405020304" pitchFamily="18" charset="0"/>
                  <a:ea typeface="华文中宋" panose="02010600040101010101" pitchFamily="2" charset="-122"/>
                </a:rPr>
                <a:t>需求分析</a:t>
              </a:r>
              <a:endParaRPr lang="en-US" altLang="zh-CN" sz="2800" dirty="0">
                <a:solidFill>
                  <a:schemeClr val="bg1"/>
                </a:solidFill>
                <a:latin typeface="Times New Roman" panose="02020603050405020304" pitchFamily="18" charset="0"/>
                <a:ea typeface="华文中宋" panose="02010600040101010101" pitchFamily="2" charset="-122"/>
              </a:endParaRPr>
            </a:p>
          </p:txBody>
        </p:sp>
      </p:grpSp>
      <p:grpSp>
        <p:nvGrpSpPr>
          <p:cNvPr id="32776" name="组合 32775"/>
          <p:cNvGrpSpPr/>
          <p:nvPr/>
        </p:nvGrpSpPr>
        <p:grpSpPr>
          <a:xfrm>
            <a:off x="4573588" y="2565400"/>
            <a:ext cx="1943100" cy="935038"/>
            <a:chOff x="0" y="0"/>
            <a:chExt cx="1247" cy="576"/>
          </a:xfrm>
        </p:grpSpPr>
        <p:sp>
          <p:nvSpPr>
            <p:cNvPr id="32777" name="未知"/>
            <p:cNvSpPr/>
            <p:nvPr/>
          </p:nvSpPr>
          <p:spPr>
            <a:xfrm>
              <a:off x="0" y="0"/>
              <a:ext cx="1247" cy="576"/>
            </a:xfrm>
            <a:custGeom>
              <a:avLst/>
              <a:gdLst>
                <a:gd name="txL" fmla="*/ 0 w 1247"/>
                <a:gd name="txT" fmla="*/ 0 h 576"/>
                <a:gd name="txR" fmla="*/ 1247 w 1247"/>
                <a:gd name="txB" fmla="*/ 576 h 576"/>
              </a:gdLst>
              <a:ahLst/>
              <a:cxnLst>
                <a:cxn ang="0">
                  <a:pos x="0" y="0"/>
                </a:cxn>
                <a:cxn ang="0">
                  <a:pos x="1143" y="0"/>
                </a:cxn>
                <a:cxn ang="0">
                  <a:pos x="1247" y="288"/>
                </a:cxn>
                <a:cxn ang="0">
                  <a:pos x="1143" y="576"/>
                </a:cxn>
                <a:cxn ang="0">
                  <a:pos x="0" y="576"/>
                </a:cxn>
                <a:cxn ang="0">
                  <a:pos x="104" y="288"/>
                </a:cxn>
                <a:cxn ang="0">
                  <a:pos x="0" y="0"/>
                </a:cxn>
              </a:cxnLst>
              <a:rect l="txL" t="txT" r="txR" b="txB"/>
              <a:pathLst>
                <a:path w="1247" h="576">
                  <a:moveTo>
                    <a:pt x="0" y="0"/>
                  </a:moveTo>
                  <a:lnTo>
                    <a:pt x="1143" y="0"/>
                  </a:lnTo>
                  <a:lnTo>
                    <a:pt x="1247" y="288"/>
                  </a:lnTo>
                  <a:lnTo>
                    <a:pt x="1143" y="576"/>
                  </a:lnTo>
                  <a:lnTo>
                    <a:pt x="0" y="576"/>
                  </a:lnTo>
                  <a:lnTo>
                    <a:pt x="104" y="288"/>
                  </a:lnTo>
                  <a:lnTo>
                    <a:pt x="0" y="0"/>
                  </a:lnTo>
                  <a:close/>
                </a:path>
              </a:pathLst>
            </a:custGeom>
            <a:solidFill>
              <a:schemeClr val="accent1"/>
            </a:solidFill>
            <a:ln w="9525" cap="flat" cmpd="sng">
              <a:solidFill>
                <a:schemeClr val="tx1"/>
              </a:solidFill>
              <a:prstDash val="solid"/>
              <a:miter/>
              <a:headEnd type="none" w="med" len="med"/>
              <a:tailEnd type="none" w="med" len="med"/>
            </a:ln>
          </p:spPr>
          <p:txBody>
            <a:bodyPr wrap="none" lIns="45720" tIns="0" rIns="45720" bIns="0" anchor="ctr" anchorCtr="0">
              <a:spAutoFit/>
            </a:bodyPr>
            <a:p>
              <a:endParaRPr lang="zh-CN" altLang="en-US" dirty="0">
                <a:latin typeface="Frutiger 45 Light" pitchFamily="2" charset="0"/>
              </a:endParaRPr>
            </a:p>
          </p:txBody>
        </p:sp>
        <p:sp>
          <p:nvSpPr>
            <p:cNvPr id="32778" name="Rectangle 10"/>
            <p:cNvSpPr/>
            <p:nvPr/>
          </p:nvSpPr>
          <p:spPr>
            <a:xfrm>
              <a:off x="136" y="32"/>
              <a:ext cx="1008" cy="496"/>
            </a:xfrm>
            <a:prstGeom prst="rect">
              <a:avLst/>
            </a:prstGeom>
            <a:noFill/>
            <a:ln w="9525">
              <a:noFill/>
            </a:ln>
          </p:spPr>
          <p:txBody>
            <a:bodyPr lIns="45720" tIns="0" rIns="45720" bIns="0" anchor="ctr" anchorCtr="0"/>
            <a:p>
              <a:pPr marL="342900" indent="-342900" algn="l">
                <a:spcBef>
                  <a:spcPct val="20000"/>
                </a:spcBef>
                <a:buClr>
                  <a:srgbClr val="FF3300"/>
                </a:buClr>
                <a:buFont typeface="Wingdings" panose="05000000000000000000" pitchFamily="2" charset="2"/>
              </a:pPr>
              <a:r>
                <a:rPr lang="zh-TW" altLang="en-US" sz="2800" dirty="0">
                  <a:solidFill>
                    <a:schemeClr val="bg1"/>
                  </a:solidFill>
                  <a:latin typeface="Times New Roman" panose="02020603050405020304" pitchFamily="18" charset="0"/>
                  <a:ea typeface="华文中宋" panose="02010600040101010101" pitchFamily="2" charset="-122"/>
                </a:rPr>
                <a:t>产品介绍</a:t>
              </a:r>
              <a:endParaRPr lang="zh-TW" altLang="en-US" sz="2800" dirty="0">
                <a:solidFill>
                  <a:schemeClr val="bg1"/>
                </a:solidFill>
                <a:latin typeface="Times New Roman" panose="02020603050405020304" pitchFamily="18" charset="0"/>
                <a:ea typeface="华文中宋" panose="02010600040101010101" pitchFamily="2" charset="-122"/>
              </a:endParaRPr>
            </a:p>
          </p:txBody>
        </p:sp>
      </p:grpSp>
      <p:grpSp>
        <p:nvGrpSpPr>
          <p:cNvPr id="32779" name="组合 32778"/>
          <p:cNvGrpSpPr/>
          <p:nvPr/>
        </p:nvGrpSpPr>
        <p:grpSpPr>
          <a:xfrm>
            <a:off x="6445250" y="2565400"/>
            <a:ext cx="1944688" cy="935038"/>
            <a:chOff x="0" y="0"/>
            <a:chExt cx="1246" cy="576"/>
          </a:xfrm>
        </p:grpSpPr>
        <p:sp>
          <p:nvSpPr>
            <p:cNvPr id="32780" name="未知"/>
            <p:cNvSpPr/>
            <p:nvPr/>
          </p:nvSpPr>
          <p:spPr>
            <a:xfrm>
              <a:off x="0" y="0"/>
              <a:ext cx="1246" cy="576"/>
            </a:xfrm>
            <a:custGeom>
              <a:avLst/>
              <a:gdLst>
                <a:gd name="txL" fmla="*/ 0 w 1246"/>
                <a:gd name="txT" fmla="*/ 0 h 576"/>
                <a:gd name="txR" fmla="*/ 1246 w 1246"/>
                <a:gd name="txB" fmla="*/ 576 h 576"/>
              </a:gdLst>
              <a:ahLst/>
              <a:cxnLst>
                <a:cxn ang="0">
                  <a:pos x="0" y="0"/>
                </a:cxn>
                <a:cxn ang="0">
                  <a:pos x="1142" y="0"/>
                </a:cxn>
                <a:cxn ang="0">
                  <a:pos x="1246" y="288"/>
                </a:cxn>
                <a:cxn ang="0">
                  <a:pos x="1142" y="576"/>
                </a:cxn>
                <a:cxn ang="0">
                  <a:pos x="0" y="576"/>
                </a:cxn>
                <a:cxn ang="0">
                  <a:pos x="104" y="288"/>
                </a:cxn>
                <a:cxn ang="0">
                  <a:pos x="0" y="0"/>
                </a:cxn>
              </a:cxnLst>
              <a:rect l="txL" t="txT" r="txR" b="txB"/>
              <a:pathLst>
                <a:path w="1246" h="576">
                  <a:moveTo>
                    <a:pt x="0" y="0"/>
                  </a:moveTo>
                  <a:lnTo>
                    <a:pt x="1142" y="0"/>
                  </a:lnTo>
                  <a:lnTo>
                    <a:pt x="1246" y="288"/>
                  </a:lnTo>
                  <a:lnTo>
                    <a:pt x="1142" y="576"/>
                  </a:lnTo>
                  <a:lnTo>
                    <a:pt x="0" y="576"/>
                  </a:lnTo>
                  <a:lnTo>
                    <a:pt x="104" y="288"/>
                  </a:lnTo>
                  <a:lnTo>
                    <a:pt x="0" y="0"/>
                  </a:lnTo>
                  <a:close/>
                </a:path>
              </a:pathLst>
            </a:custGeom>
            <a:solidFill>
              <a:schemeClr val="accent1"/>
            </a:solidFill>
            <a:ln w="9525" cap="flat" cmpd="sng">
              <a:solidFill>
                <a:schemeClr val="tx1"/>
              </a:solidFill>
              <a:prstDash val="solid"/>
              <a:miter/>
              <a:headEnd type="none" w="med" len="med"/>
              <a:tailEnd type="none" w="med" len="med"/>
            </a:ln>
          </p:spPr>
          <p:txBody>
            <a:bodyPr wrap="none" lIns="45720" tIns="0" rIns="45720" bIns="0" anchor="ctr" anchorCtr="0">
              <a:spAutoFit/>
            </a:bodyPr>
            <a:p>
              <a:endParaRPr lang="zh-CN" altLang="en-US" dirty="0">
                <a:latin typeface="Frutiger 45 Light" pitchFamily="2" charset="0"/>
              </a:endParaRPr>
            </a:p>
          </p:txBody>
        </p:sp>
        <p:sp>
          <p:nvSpPr>
            <p:cNvPr id="32781" name="Rectangle 13"/>
            <p:cNvSpPr/>
            <p:nvPr/>
          </p:nvSpPr>
          <p:spPr>
            <a:xfrm>
              <a:off x="136" y="32"/>
              <a:ext cx="1007" cy="496"/>
            </a:xfrm>
            <a:prstGeom prst="rect">
              <a:avLst/>
            </a:prstGeom>
            <a:noFill/>
            <a:ln w="9525">
              <a:noFill/>
            </a:ln>
          </p:spPr>
          <p:txBody>
            <a:bodyPr lIns="45720" tIns="0" rIns="45720" bIns="0" anchor="ctr" anchorCtr="0"/>
            <a:p>
              <a:pPr marL="342900" indent="-342900" algn="l">
                <a:spcBef>
                  <a:spcPct val="20000"/>
                </a:spcBef>
                <a:buClr>
                  <a:srgbClr val="FF3300"/>
                </a:buClr>
                <a:buFont typeface="Wingdings" panose="05000000000000000000" pitchFamily="2" charset="2"/>
              </a:pPr>
              <a:r>
                <a:rPr lang="zh-TW" altLang="en-US" sz="2800" dirty="0">
                  <a:solidFill>
                    <a:schemeClr val="bg1"/>
                  </a:solidFill>
                  <a:latin typeface="Times New Roman" panose="02020603050405020304" pitchFamily="18" charset="0"/>
                  <a:ea typeface="华文中宋" panose="02010600040101010101" pitchFamily="2" charset="-122"/>
                </a:rPr>
                <a:t>促成成交</a:t>
              </a:r>
              <a:endParaRPr lang="zh-TW" altLang="en-US" sz="2800" dirty="0">
                <a:solidFill>
                  <a:schemeClr val="bg1"/>
                </a:solidFill>
                <a:latin typeface="Times New Roman" panose="02020603050405020304" pitchFamily="18" charset="0"/>
                <a:ea typeface="华文中宋" panose="02010600040101010101" pitchFamily="2" charset="-122"/>
              </a:endParaRPr>
            </a:p>
          </p:txBody>
        </p:sp>
      </p:grpSp>
      <p:sp>
        <p:nvSpPr>
          <p:cNvPr id="32782" name="Rectangle 14"/>
          <p:cNvSpPr/>
          <p:nvPr/>
        </p:nvSpPr>
        <p:spPr>
          <a:xfrm>
            <a:off x="612775" y="765175"/>
            <a:ext cx="7773988" cy="1143000"/>
          </a:xfrm>
          <a:prstGeom prst="rect">
            <a:avLst/>
          </a:prstGeom>
          <a:noFill/>
          <a:ln w="9525">
            <a:noFill/>
          </a:ln>
        </p:spPr>
        <p:txBody>
          <a:bodyPr anchor="ctr" anchorCtr="0"/>
          <a:p>
            <a:r>
              <a:rPr lang="zh-TW" altLang="en-US" sz="3600" b="0" dirty="0">
                <a:solidFill>
                  <a:srgbClr val="FF3300"/>
                </a:solidFill>
                <a:latin typeface="Times New Roman" panose="02020603050405020304" pitchFamily="18" charset="0"/>
                <a:ea typeface="华文新魏" panose="02010800040101010101" pitchFamily="2" charset="-122"/>
              </a:rPr>
              <a:t>信用卡销售流程</a:t>
            </a:r>
            <a:endParaRPr lang="zh-TW" altLang="en-US" sz="3600" b="0" dirty="0">
              <a:solidFill>
                <a:srgbClr val="FF3300"/>
              </a:solidFill>
              <a:latin typeface="Times New Roman" panose="02020603050405020304" pitchFamily="18" charset="0"/>
              <a:ea typeface="华文新魏" panose="02010800040101010101" pitchFamily="2" charset="-122"/>
            </a:endParaRPr>
          </a:p>
        </p:txBody>
      </p:sp>
      <p:graphicFrame>
        <p:nvGraphicFramePr>
          <p:cNvPr id="32783" name="Object 15"/>
          <p:cNvGraphicFramePr>
            <a:graphicFrameLocks noChangeAspect="1"/>
          </p:cNvGraphicFramePr>
          <p:nvPr/>
        </p:nvGraphicFramePr>
        <p:xfrm>
          <a:off x="5221288" y="4076700"/>
          <a:ext cx="2592387" cy="1736725"/>
        </p:xfrm>
        <a:graphic>
          <a:graphicData uri="http://schemas.openxmlformats.org/presentationml/2006/ole">
            <mc:AlternateContent xmlns:mc="http://schemas.openxmlformats.org/markup-compatibility/2006">
              <mc:Choice xmlns:v="urn:schemas-microsoft-com:vml" Requires="v">
                <p:oleObj spid="_x0000_s3085" name="" r:id="rId1" imgW="913765" imgH="1176655" progId="">
                  <p:embed/>
                </p:oleObj>
              </mc:Choice>
              <mc:Fallback>
                <p:oleObj name="" r:id="rId1" imgW="913765" imgH="1176655" progId="">
                  <p:embed/>
                  <p:pic>
                    <p:nvPicPr>
                      <p:cNvPr id="0" name="图片 3084"/>
                      <p:cNvPicPr/>
                      <p:nvPr/>
                    </p:nvPicPr>
                    <p:blipFill>
                      <a:blip r:embed="rId2"/>
                      <a:stretch>
                        <a:fillRect/>
                      </a:stretch>
                    </p:blipFill>
                    <p:spPr>
                      <a:xfrm>
                        <a:off x="5221288" y="4076700"/>
                        <a:ext cx="2592387" cy="1736725"/>
                      </a:xfrm>
                      <a:prstGeom prst="rect">
                        <a:avLst/>
                      </a:prstGeom>
                      <a:noFill/>
                      <a:ln w="38100">
                        <a:noFill/>
                        <a:miter/>
                      </a:ln>
                    </p:spPr>
                  </p:pic>
                </p:oleObj>
              </mc:Fallback>
            </mc:AlternateContent>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Rectangle 2"/>
          <p:cNvSpPr/>
          <p:nvPr/>
        </p:nvSpPr>
        <p:spPr>
          <a:xfrm>
            <a:off x="684213" y="1484313"/>
            <a:ext cx="7921625" cy="4103687"/>
          </a:xfrm>
          <a:prstGeom prst="rect">
            <a:avLst/>
          </a:prstGeom>
          <a:noFill/>
          <a:ln w="9525">
            <a:noFill/>
          </a:ln>
        </p:spPr>
        <p:txBody>
          <a:bodyPr anchor="ctr" anchorCtr="0"/>
          <a:p>
            <a:pPr algn="l"/>
            <a:br>
              <a:rPr lang="zh-CN" altLang="en-US" sz="2800" dirty="0">
                <a:latin typeface="Times New Roman" panose="02020603050405020304" pitchFamily="18" charset="0"/>
                <a:ea typeface="华文中宋" panose="02010600040101010101" pitchFamily="2" charset="-122"/>
              </a:rPr>
            </a:br>
            <a:endParaRPr lang="zh-CN" altLang="en-US" sz="2800" dirty="0">
              <a:latin typeface="Times New Roman" panose="02020603050405020304" pitchFamily="18" charset="0"/>
              <a:ea typeface="华文中宋" panose="02010600040101010101" pitchFamily="2" charset="-122"/>
            </a:endParaRPr>
          </a:p>
        </p:txBody>
      </p:sp>
      <p:sp>
        <p:nvSpPr>
          <p:cNvPr id="34819" name="Rectangle 3"/>
          <p:cNvSpPr>
            <a:spLocks noGrp="1"/>
          </p:cNvSpPr>
          <p:nvPr>
            <p:ph type="title" idx="4294967295"/>
          </p:nvPr>
        </p:nvSpPr>
        <p:spPr>
          <a:xfrm>
            <a:off x="468313" y="836613"/>
            <a:ext cx="7773987" cy="936625"/>
          </a:xfrm>
          <a:ln/>
        </p:spPr>
        <p:txBody>
          <a:bodyPr vert="horz" wrap="square" anchor="ctr" anchorCtr="0"/>
          <a:p>
            <a:pPr eaLnBrk="1" hangingPunct="1"/>
            <a:r>
              <a:rPr lang="zh-TW" altLang="en-US" sz="4000" dirty="0">
                <a:solidFill>
                  <a:srgbClr val="FF3300"/>
                </a:solidFill>
              </a:rPr>
              <a:t>接触面谈</a:t>
            </a:r>
            <a:endParaRPr lang="zh-TW" altLang="en-US" sz="4000" dirty="0">
              <a:solidFill>
                <a:srgbClr val="FF3300"/>
              </a:solidFill>
            </a:endParaRPr>
          </a:p>
        </p:txBody>
      </p:sp>
      <p:sp>
        <p:nvSpPr>
          <p:cNvPr id="34820" name="Rectangle 4"/>
          <p:cNvSpPr>
            <a:spLocks noGrp="1"/>
          </p:cNvSpPr>
          <p:nvPr>
            <p:ph type="body" idx="4294967295"/>
          </p:nvPr>
        </p:nvSpPr>
        <p:spPr>
          <a:xfrm>
            <a:off x="1404938" y="1773238"/>
            <a:ext cx="3311525" cy="4114800"/>
          </a:xfrm>
          <a:ln/>
        </p:spPr>
        <p:txBody>
          <a:bodyPr vert="horz" wrap="square" anchor="t" anchorCtr="0"/>
          <a:p>
            <a:pPr eaLnBrk="1" hangingPunct="1">
              <a:buNone/>
            </a:pPr>
            <a:endParaRPr lang="zh-TW" altLang="en-US" sz="2400" b="1" dirty="0">
              <a:solidFill>
                <a:schemeClr val="accent2"/>
              </a:solidFill>
            </a:endParaRPr>
          </a:p>
          <a:p>
            <a:pPr eaLnBrk="1" hangingPunct="1"/>
            <a:r>
              <a:rPr lang="zh-TW" altLang="en-US" sz="2800" dirty="0"/>
              <a:t>第一印象</a:t>
            </a:r>
            <a:endParaRPr lang="zh-TW" altLang="en-US" sz="2800" dirty="0"/>
          </a:p>
          <a:p>
            <a:pPr eaLnBrk="1" hangingPunct="1"/>
            <a:endParaRPr lang="zh-TW" altLang="en-US" sz="2800" dirty="0"/>
          </a:p>
          <a:p>
            <a:pPr eaLnBrk="1" hangingPunct="1"/>
            <a:r>
              <a:rPr lang="zh-TW" altLang="en-US" sz="2800" dirty="0"/>
              <a:t>驻足率</a:t>
            </a:r>
            <a:endParaRPr lang="zh-TW" altLang="en-US" sz="2800" dirty="0"/>
          </a:p>
          <a:p>
            <a:pPr eaLnBrk="1" hangingPunct="1"/>
            <a:endParaRPr lang="zh-TW" altLang="en-US" sz="2800" dirty="0"/>
          </a:p>
          <a:p>
            <a:pPr eaLnBrk="1" hangingPunct="1"/>
            <a:r>
              <a:rPr lang="zh-TW" altLang="en-US" sz="2800" dirty="0"/>
              <a:t>延续性</a:t>
            </a:r>
            <a:endParaRPr lang="zh-TW" altLang="en-US" sz="2800" dirty="0"/>
          </a:p>
        </p:txBody>
      </p:sp>
      <p:pic>
        <p:nvPicPr>
          <p:cNvPr id="34821" name="Picture 11" descr="CMENO149"/>
          <p:cNvPicPr>
            <a:picLocks noChangeAspect="1"/>
          </p:cNvPicPr>
          <p:nvPr/>
        </p:nvPicPr>
        <p:blipFill>
          <a:blip r:embed="rId1"/>
          <a:stretch>
            <a:fillRect/>
          </a:stretch>
        </p:blipFill>
        <p:spPr>
          <a:xfrm>
            <a:off x="5076825" y="2492375"/>
            <a:ext cx="2881313" cy="213995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4820">
                                            <p:txEl>
                                              <p:charRg st="1" end="6"/>
                                            </p:txEl>
                                          </p:spTgt>
                                        </p:tgtEl>
                                        <p:attrNameLst>
                                          <p:attrName>style.visibility</p:attrName>
                                        </p:attrNameLst>
                                      </p:cBhvr>
                                      <p:to>
                                        <p:strVal val="visible"/>
                                      </p:to>
                                    </p:set>
                                    <p:animEffect transition="in" filter="blinds(horizontal)">
                                      <p:cBhvr>
                                        <p:cTn id="7" dur="500"/>
                                        <p:tgtEl>
                                          <p:spTgt spid="34820">
                                            <p:txEl>
                                              <p:charRg st="1" end="6"/>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4820">
                                            <p:txEl>
                                              <p:charRg st="7" end="11"/>
                                            </p:txEl>
                                          </p:spTgt>
                                        </p:tgtEl>
                                        <p:attrNameLst>
                                          <p:attrName>style.visibility</p:attrName>
                                        </p:attrNameLst>
                                      </p:cBhvr>
                                      <p:to>
                                        <p:strVal val="visible"/>
                                      </p:to>
                                    </p:set>
                                    <p:animEffect transition="in" filter="blinds(horizontal)">
                                      <p:cBhvr>
                                        <p:cTn id="12" dur="500"/>
                                        <p:tgtEl>
                                          <p:spTgt spid="34820">
                                            <p:txEl>
                                              <p:charRg st="7" end="1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4820">
                                            <p:txEl>
                                              <p:charRg st="12" end="16"/>
                                            </p:txEl>
                                          </p:spTgt>
                                        </p:tgtEl>
                                        <p:attrNameLst>
                                          <p:attrName>style.visibility</p:attrName>
                                        </p:attrNameLst>
                                      </p:cBhvr>
                                      <p:to>
                                        <p:strVal val="visible"/>
                                      </p:to>
                                    </p:set>
                                    <p:animEffect transition="in" filter="blinds(horizontal)">
                                      <p:cBhvr>
                                        <p:cTn id="17" dur="500"/>
                                        <p:tgtEl>
                                          <p:spTgt spid="34820">
                                            <p:txEl>
                                              <p:charRg st="12"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Rectangle 2"/>
          <p:cNvSpPr>
            <a:spLocks noGrp="1"/>
          </p:cNvSpPr>
          <p:nvPr>
            <p:ph type="title" idx="4294967295"/>
          </p:nvPr>
        </p:nvSpPr>
        <p:spPr>
          <a:ln/>
        </p:spPr>
        <p:txBody>
          <a:bodyPr vert="horz" wrap="square" anchor="ctr" anchorCtr="0"/>
          <a:p>
            <a:pPr eaLnBrk="1" hangingPunct="1"/>
            <a:r>
              <a:rPr lang="zh-TW" altLang="en-US" dirty="0">
                <a:solidFill>
                  <a:srgbClr val="000066"/>
                </a:solidFill>
              </a:rPr>
              <a:t>话术探讨</a:t>
            </a:r>
            <a:endParaRPr lang="zh-TW" altLang="en-US" dirty="0">
              <a:solidFill>
                <a:srgbClr val="000066"/>
              </a:solidFill>
            </a:endParaRPr>
          </a:p>
        </p:txBody>
      </p:sp>
      <p:sp>
        <p:nvSpPr>
          <p:cNvPr id="36867" name="Rectangle 3"/>
          <p:cNvSpPr>
            <a:spLocks noGrp="1"/>
          </p:cNvSpPr>
          <p:nvPr>
            <p:ph type="body" idx="4294967295"/>
          </p:nvPr>
        </p:nvSpPr>
        <p:spPr>
          <a:xfrm>
            <a:off x="612775" y="1557338"/>
            <a:ext cx="7773988" cy="4114800"/>
          </a:xfrm>
          <a:ln/>
        </p:spPr>
        <p:txBody>
          <a:bodyPr vert="horz" wrap="square" anchor="t" anchorCtr="0"/>
          <a:p>
            <a:pPr eaLnBrk="1" hangingPunct="1">
              <a:buNone/>
            </a:pPr>
            <a:endParaRPr lang="en-US" altLang="zh-CN" sz="2400" dirty="0"/>
          </a:p>
          <a:p>
            <a:pPr eaLnBrk="1" hangingPunct="1"/>
            <a:r>
              <a:rPr lang="zh-CN" altLang="en-US" sz="2400" dirty="0">
                <a:latin typeface="楷体_GB2312" pitchFamily="49" charset="-122"/>
                <a:ea typeface="楷体_GB2312" pitchFamily="49" charset="-122"/>
              </a:rPr>
              <a:t>先生</a:t>
            </a:r>
            <a:r>
              <a:rPr lang="en-US" altLang="zh-CN" sz="2400" dirty="0">
                <a:latin typeface="楷体_GB2312" pitchFamily="49" charset="-122"/>
                <a:ea typeface="楷体_GB2312" pitchFamily="49" charset="-122"/>
              </a:rPr>
              <a:t>/</a:t>
            </a:r>
            <a:r>
              <a:rPr lang="zh-CN" altLang="en-US" sz="2400" dirty="0">
                <a:latin typeface="楷体_GB2312" pitchFamily="49" charset="-122"/>
                <a:ea typeface="楷体_GB2312" pitchFamily="49" charset="-122"/>
              </a:rPr>
              <a:t>小姐，您好，打扰一下，我是交通银行太平洋信用卡中心的工作人员，这是我的名片（自我介绍），我们银行有没有来给你们宣传过我行的信用卡呢？</a:t>
            </a:r>
            <a:endParaRPr lang="zh-CN" altLang="en-US" sz="2400" dirty="0">
              <a:latin typeface="楷体_GB2312" pitchFamily="49" charset="-122"/>
              <a:ea typeface="楷体_GB2312" pitchFamily="49" charset="-122"/>
            </a:endParaRPr>
          </a:p>
          <a:p>
            <a:pPr eaLnBrk="1" hangingPunct="1"/>
            <a:endParaRPr lang="zh-CN" altLang="en-US" sz="2400" dirty="0"/>
          </a:p>
          <a:p>
            <a:pPr eaLnBrk="1" hangingPunct="1"/>
            <a:r>
              <a:rPr lang="zh-CN" altLang="en-US" sz="2400" dirty="0">
                <a:ea typeface="楷体_GB2312" pitchFamily="49" charset="-122"/>
              </a:rPr>
              <a:t>第一种情况：有人来过</a:t>
            </a:r>
            <a:endParaRPr lang="zh-CN" altLang="en-US" sz="2400" dirty="0">
              <a:ea typeface="楷体_GB2312" pitchFamily="49" charset="-122"/>
            </a:endParaRPr>
          </a:p>
          <a:p>
            <a:pPr eaLnBrk="1" hangingPunct="1"/>
            <a:endParaRPr lang="zh-CN" altLang="en-US" sz="2400" dirty="0">
              <a:ea typeface="楷体_GB2312" pitchFamily="49" charset="-122"/>
            </a:endParaRPr>
          </a:p>
          <a:p>
            <a:pPr eaLnBrk="1" hangingPunct="1"/>
            <a:r>
              <a:rPr lang="zh-CN" altLang="en-US" sz="2400" dirty="0">
                <a:ea typeface="楷体_GB2312" pitchFamily="49" charset="-122"/>
              </a:rPr>
              <a:t>第二种情况：没人来过</a:t>
            </a:r>
            <a:endParaRPr lang="zh-CN" altLang="en-US" sz="2400" dirty="0">
              <a:ea typeface="楷体_GB2312" pitchFamily="49" charset="-122"/>
            </a:endParaRPr>
          </a:p>
          <a:p>
            <a:pPr eaLnBrk="1" hangingPunct="1">
              <a:buNone/>
            </a:pPr>
            <a:r>
              <a:rPr lang="en-US" altLang="zh-CN" sz="2400" dirty="0"/>
              <a:t>     </a:t>
            </a:r>
            <a:endParaRPr lang="en-US" altLang="zh-CN" sz="2400" dirty="0"/>
          </a:p>
        </p:txBody>
      </p:sp>
      <p:pic>
        <p:nvPicPr>
          <p:cNvPr id="36868" name="Picture 4" descr="MCj02317740000[1]"/>
          <p:cNvPicPr>
            <a:picLocks noChangeAspect="1"/>
          </p:cNvPicPr>
          <p:nvPr/>
        </p:nvPicPr>
        <p:blipFill>
          <a:blip r:embed="rId1"/>
          <a:stretch>
            <a:fillRect/>
          </a:stretch>
        </p:blipFill>
        <p:spPr>
          <a:xfrm>
            <a:off x="6516688" y="5229225"/>
            <a:ext cx="1992312" cy="947738"/>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6867">
                                            <p:txEl>
                                              <p:charRg st="1" end="71"/>
                                            </p:txEl>
                                          </p:spTgt>
                                        </p:tgtEl>
                                        <p:attrNameLst>
                                          <p:attrName>style.visibility</p:attrName>
                                        </p:attrNameLst>
                                      </p:cBhvr>
                                      <p:to>
                                        <p:strVal val="visible"/>
                                      </p:to>
                                    </p:set>
                                    <p:animEffect transition="in" filter="blinds(horizontal)">
                                      <p:cBhvr>
                                        <p:cTn id="7" dur="500"/>
                                        <p:tgtEl>
                                          <p:spTgt spid="36867">
                                            <p:txEl>
                                              <p:charRg st="1" end="7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6867">
                                            <p:txEl>
                                              <p:charRg st="72" end="83"/>
                                            </p:txEl>
                                          </p:spTgt>
                                        </p:tgtEl>
                                        <p:attrNameLst>
                                          <p:attrName>style.visibility</p:attrName>
                                        </p:attrNameLst>
                                      </p:cBhvr>
                                      <p:to>
                                        <p:strVal val="visible"/>
                                      </p:to>
                                    </p:set>
                                    <p:animEffect transition="in" filter="blinds(horizontal)">
                                      <p:cBhvr>
                                        <p:cTn id="12" dur="500"/>
                                        <p:tgtEl>
                                          <p:spTgt spid="36867">
                                            <p:txEl>
                                              <p:charRg st="72" end="8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6867">
                                            <p:txEl>
                                              <p:charRg st="84" end="95"/>
                                            </p:txEl>
                                          </p:spTgt>
                                        </p:tgtEl>
                                        <p:attrNameLst>
                                          <p:attrName>style.visibility</p:attrName>
                                        </p:attrNameLst>
                                      </p:cBhvr>
                                      <p:to>
                                        <p:strVal val="visible"/>
                                      </p:to>
                                    </p:set>
                                    <p:animEffect transition="in" filter="blinds(horizontal)">
                                      <p:cBhvr>
                                        <p:cTn id="17" dur="500"/>
                                        <p:tgtEl>
                                          <p:spTgt spid="36867">
                                            <p:txEl>
                                              <p:charRg st="84" end="9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2"/>
          <p:cNvSpPr>
            <a:spLocks noGrp="1"/>
          </p:cNvSpPr>
          <p:nvPr>
            <p:ph type="title" idx="4294967295"/>
          </p:nvPr>
        </p:nvSpPr>
        <p:spPr>
          <a:xfrm>
            <a:off x="684213" y="476250"/>
            <a:ext cx="7773987" cy="1143000"/>
          </a:xfrm>
          <a:ln/>
        </p:spPr>
        <p:txBody>
          <a:bodyPr vert="horz" wrap="square" anchor="ctr" anchorCtr="0"/>
          <a:p>
            <a:r>
              <a:rPr lang="zh-CN" altLang="en-US" dirty="0">
                <a:solidFill>
                  <a:srgbClr val="000066"/>
                </a:solidFill>
              </a:rPr>
              <a:t>话术示范</a:t>
            </a:r>
            <a:endParaRPr lang="en-US" altLang="zh-CN" dirty="0">
              <a:solidFill>
                <a:srgbClr val="000066"/>
              </a:solidFill>
            </a:endParaRPr>
          </a:p>
        </p:txBody>
      </p:sp>
      <p:sp>
        <p:nvSpPr>
          <p:cNvPr id="38915" name="AutoShape 3"/>
          <p:cNvSpPr>
            <a:spLocks noChangeAspect="1"/>
          </p:cNvSpPr>
          <p:nvPr>
            <p:ph type="body" idx="4294967295"/>
          </p:nvPr>
        </p:nvSpPr>
        <p:spPr>
          <a:xfrm>
            <a:off x="684213" y="1557338"/>
            <a:ext cx="8064500" cy="4114800"/>
          </a:xfrm>
          <a:ln/>
        </p:spPr>
        <p:txBody>
          <a:bodyPr vert="horz" wrap="square" anchor="t" anchorCtr="0"/>
          <a:p>
            <a:pPr>
              <a:buNone/>
            </a:pPr>
            <a:r>
              <a:rPr lang="zh-CN" altLang="en-US" sz="2400" dirty="0">
                <a:solidFill>
                  <a:srgbClr val="000066"/>
                </a:solidFill>
              </a:rPr>
              <a:t>单刀直入型</a:t>
            </a:r>
            <a:r>
              <a:rPr lang="zh-CN" altLang="en-US" sz="2400" dirty="0"/>
              <a:t>：</a:t>
            </a:r>
            <a:endParaRPr lang="zh-CN" altLang="en-US" sz="2400" dirty="0"/>
          </a:p>
          <a:p>
            <a:r>
              <a:rPr lang="zh-CN" altLang="en-US" sz="2400" dirty="0">
                <a:latin typeface="楷体_GB2312" pitchFamily="49" charset="-122"/>
                <a:ea typeface="楷体_GB2312" pitchFamily="49" charset="-122"/>
              </a:rPr>
              <a:t>交通银行信用卡免费办理，过来了解一下</a:t>
            </a:r>
            <a:r>
              <a:rPr lang="en-US" altLang="zh-CN" sz="2400" dirty="0">
                <a:latin typeface="华文中宋" panose="02010600040101010101" pitchFamily="2" charset="-122"/>
                <a:ea typeface="楷体_GB2312" pitchFamily="49" charset="-122"/>
              </a:rPr>
              <a:t>…</a:t>
            </a:r>
            <a:endParaRPr lang="en-US" altLang="zh-CN" sz="2400" dirty="0">
              <a:latin typeface="楷体_GB2312" pitchFamily="49" charset="-122"/>
              <a:ea typeface="楷体_GB2312" pitchFamily="49" charset="-122"/>
            </a:endParaRPr>
          </a:p>
          <a:p>
            <a:r>
              <a:rPr lang="zh-CN" altLang="en-US" sz="2400" dirty="0">
                <a:latin typeface="楷体_GB2312" pitchFamily="49" charset="-122"/>
                <a:ea typeface="楷体_GB2312" pitchFamily="49" charset="-122"/>
              </a:rPr>
              <a:t>先生</a:t>
            </a:r>
            <a:r>
              <a:rPr lang="en-US" altLang="zh-CN" sz="2400" dirty="0">
                <a:latin typeface="楷体_GB2312" pitchFamily="49" charset="-122"/>
                <a:ea typeface="楷体_GB2312" pitchFamily="49" charset="-122"/>
              </a:rPr>
              <a:t>/</a:t>
            </a:r>
            <a:r>
              <a:rPr lang="zh-CN" altLang="en-US" sz="2400" dirty="0">
                <a:latin typeface="楷体_GB2312" pitchFamily="49" charset="-122"/>
                <a:ea typeface="楷体_GB2312" pitchFamily="49" charset="-122"/>
              </a:rPr>
              <a:t>小姐，你有没有办过信用卡</a:t>
            </a:r>
            <a:r>
              <a:rPr lang="en-US" altLang="zh-CN" sz="2400" dirty="0">
                <a:latin typeface="华文中宋" panose="02010600040101010101" pitchFamily="2" charset="-122"/>
                <a:ea typeface="楷体_GB2312" pitchFamily="49" charset="-122"/>
              </a:rPr>
              <a:t>…</a:t>
            </a:r>
            <a:endParaRPr lang="en-US" altLang="zh-CN" sz="2400" dirty="0">
              <a:latin typeface="楷体_GB2312" pitchFamily="49" charset="-122"/>
              <a:ea typeface="楷体_GB2312" pitchFamily="49" charset="-122"/>
            </a:endParaRPr>
          </a:p>
          <a:p>
            <a:pPr>
              <a:buNone/>
            </a:pPr>
            <a:endParaRPr lang="zh-CN" altLang="en-US" sz="2400" dirty="0">
              <a:latin typeface="楷体_GB2312" pitchFamily="49" charset="-122"/>
              <a:ea typeface="楷体_GB2312" pitchFamily="49" charset="-122"/>
            </a:endParaRPr>
          </a:p>
          <a:p>
            <a:pPr>
              <a:buNone/>
            </a:pPr>
            <a:r>
              <a:rPr lang="zh-CN" altLang="en-US" sz="2400" dirty="0">
                <a:solidFill>
                  <a:srgbClr val="000066"/>
                </a:solidFill>
              </a:rPr>
              <a:t>市场活动型：</a:t>
            </a:r>
            <a:endParaRPr lang="zh-CN" altLang="en-US" sz="2400" dirty="0">
              <a:solidFill>
                <a:srgbClr val="000066"/>
              </a:solidFill>
            </a:endParaRPr>
          </a:p>
          <a:p>
            <a:r>
              <a:rPr lang="zh-CN" altLang="en-US" sz="2400" dirty="0">
                <a:latin typeface="楷体_GB2312" pitchFamily="49" charset="-122"/>
                <a:ea typeface="楷体_GB2312" pitchFamily="49" charset="-122"/>
              </a:rPr>
              <a:t>办理交通银行信用卡，可享受</a:t>
            </a:r>
            <a:r>
              <a:rPr lang="en-US" altLang="zh-CN" sz="2400" dirty="0">
                <a:latin typeface="楷体_GB2312" pitchFamily="49" charset="-122"/>
                <a:ea typeface="楷体_GB2312" pitchFamily="49" charset="-122"/>
              </a:rPr>
              <a:t>10</a:t>
            </a:r>
            <a:r>
              <a:rPr lang="zh-CN" altLang="en-US" sz="2400" dirty="0">
                <a:latin typeface="楷体_GB2312" pitchFamily="49" charset="-122"/>
                <a:ea typeface="楷体_GB2312" pitchFamily="49" charset="-122"/>
              </a:rPr>
              <a:t>元看电影</a:t>
            </a:r>
            <a:r>
              <a:rPr lang="en-US" altLang="zh-CN" sz="2400" dirty="0">
                <a:latin typeface="华文中宋" panose="02010600040101010101" pitchFamily="2" charset="-122"/>
                <a:ea typeface="楷体_GB2312" pitchFamily="49" charset="-122"/>
              </a:rPr>
              <a:t>…</a:t>
            </a:r>
            <a:endParaRPr lang="en-US" altLang="zh-CN" sz="2400" dirty="0">
              <a:latin typeface="楷体_GB2312" pitchFamily="49" charset="-122"/>
              <a:ea typeface="楷体_GB2312" pitchFamily="49" charset="-122"/>
            </a:endParaRPr>
          </a:p>
          <a:p>
            <a:r>
              <a:rPr lang="zh-CN" altLang="en-US" sz="2400" dirty="0">
                <a:latin typeface="楷体_GB2312" pitchFamily="49" charset="-122"/>
                <a:ea typeface="楷体_GB2312" pitchFamily="49" charset="-122"/>
              </a:rPr>
              <a:t>交通银行信用卡，现在刷</a:t>
            </a:r>
            <a:r>
              <a:rPr lang="en-US" altLang="zh-CN" sz="2400" dirty="0">
                <a:latin typeface="楷体_GB2312" pitchFamily="49" charset="-122"/>
                <a:ea typeface="楷体_GB2312" pitchFamily="49" charset="-122"/>
              </a:rPr>
              <a:t>200</a:t>
            </a:r>
            <a:r>
              <a:rPr lang="zh-CN" altLang="en-US" sz="2400" dirty="0">
                <a:latin typeface="楷体_GB2312" pitchFamily="49" charset="-122"/>
                <a:ea typeface="楷体_GB2312" pitchFamily="49" charset="-122"/>
              </a:rPr>
              <a:t>，送</a:t>
            </a:r>
            <a:r>
              <a:rPr lang="en-US" altLang="zh-CN" sz="2400" dirty="0">
                <a:latin typeface="楷体_GB2312" pitchFamily="49" charset="-122"/>
                <a:ea typeface="楷体_GB2312" pitchFamily="49" charset="-122"/>
              </a:rPr>
              <a:t>100</a:t>
            </a:r>
            <a:r>
              <a:rPr lang="zh-CN" altLang="en-US" sz="2400" dirty="0">
                <a:latin typeface="楷体_GB2312" pitchFamily="49" charset="-122"/>
                <a:ea typeface="楷体_GB2312" pitchFamily="49" charset="-122"/>
              </a:rPr>
              <a:t>，过来了解一下</a:t>
            </a:r>
            <a:r>
              <a:rPr lang="en-US" altLang="zh-CN" sz="2400" dirty="0">
                <a:latin typeface="华文中宋" panose="02010600040101010101" pitchFamily="2" charset="-122"/>
                <a:ea typeface="楷体_GB2312" pitchFamily="49" charset="-122"/>
              </a:rPr>
              <a:t>…</a:t>
            </a:r>
            <a:endParaRPr lang="en-US" altLang="zh-CN" sz="2400" dirty="0">
              <a:latin typeface="楷体_GB2312" pitchFamily="49" charset="-122"/>
              <a:ea typeface="楷体_GB2312" pitchFamily="49" charset="-122"/>
            </a:endParaRPr>
          </a:p>
          <a:p>
            <a:endParaRPr lang="en-US" altLang="zh-CN" sz="2400" dirty="0"/>
          </a:p>
          <a:p>
            <a:pPr>
              <a:buNone/>
            </a:pPr>
            <a:r>
              <a:rPr lang="zh-CN" altLang="en-US" sz="2400" dirty="0"/>
              <a:t>其他话术探讨</a:t>
            </a:r>
            <a:endParaRPr lang="zh-CN" altLang="en-US" sz="2400" dirty="0"/>
          </a:p>
          <a:p>
            <a:endParaRPr lang="zh-CN" altLang="en-US" sz="2400" dirty="0"/>
          </a:p>
        </p:txBody>
      </p:sp>
      <p:pic>
        <p:nvPicPr>
          <p:cNvPr id="38916" name="Picture 4" descr="MCj02317740000[1]"/>
          <p:cNvPicPr>
            <a:picLocks noChangeAspect="1"/>
          </p:cNvPicPr>
          <p:nvPr/>
        </p:nvPicPr>
        <p:blipFill>
          <a:blip r:embed="rId1"/>
          <a:stretch>
            <a:fillRect/>
          </a:stretch>
        </p:blipFill>
        <p:spPr>
          <a:xfrm>
            <a:off x="6516688" y="5229225"/>
            <a:ext cx="1992312" cy="947738"/>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8915">
                                            <p:txEl>
                                              <p:charRg st="0" end="7"/>
                                            </p:txEl>
                                          </p:spTgt>
                                        </p:tgtEl>
                                        <p:attrNameLst>
                                          <p:attrName>style.visibility</p:attrName>
                                        </p:attrNameLst>
                                      </p:cBhvr>
                                      <p:to>
                                        <p:strVal val="visible"/>
                                      </p:to>
                                    </p:set>
                                    <p:animEffect transition="in" filter="blinds(horizontal)">
                                      <p:cBhvr>
                                        <p:cTn id="7" dur="500"/>
                                        <p:tgtEl>
                                          <p:spTgt spid="38915">
                                            <p:txEl>
                                              <p:charRg st="0" end="7"/>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8915">
                                            <p:txEl>
                                              <p:charRg st="7" end="27"/>
                                            </p:txEl>
                                          </p:spTgt>
                                        </p:tgtEl>
                                        <p:attrNameLst>
                                          <p:attrName>style.visibility</p:attrName>
                                        </p:attrNameLst>
                                      </p:cBhvr>
                                      <p:to>
                                        <p:strVal val="visible"/>
                                      </p:to>
                                    </p:set>
                                    <p:animEffect transition="in" filter="blinds(horizontal)">
                                      <p:cBhvr>
                                        <p:cTn id="10" dur="500"/>
                                        <p:tgtEl>
                                          <p:spTgt spid="38915">
                                            <p:txEl>
                                              <p:charRg st="7" end="27"/>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8915">
                                            <p:txEl>
                                              <p:charRg st="27" end="44"/>
                                            </p:txEl>
                                          </p:spTgt>
                                        </p:tgtEl>
                                        <p:attrNameLst>
                                          <p:attrName>style.visibility</p:attrName>
                                        </p:attrNameLst>
                                      </p:cBhvr>
                                      <p:to>
                                        <p:strVal val="visible"/>
                                      </p:to>
                                    </p:set>
                                    <p:animEffect transition="in" filter="blinds(horizontal)">
                                      <p:cBhvr>
                                        <p:cTn id="13" dur="500"/>
                                        <p:tgtEl>
                                          <p:spTgt spid="38915">
                                            <p:txEl>
                                              <p:charRg st="27" end="4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38915">
                                            <p:txEl>
                                              <p:charRg st="45" end="52"/>
                                            </p:txEl>
                                          </p:spTgt>
                                        </p:tgtEl>
                                        <p:attrNameLst>
                                          <p:attrName>style.visibility</p:attrName>
                                        </p:attrNameLst>
                                      </p:cBhvr>
                                      <p:to>
                                        <p:strVal val="visible"/>
                                      </p:to>
                                    </p:set>
                                    <p:animEffect transition="in" filter="blinds(horizontal)">
                                      <p:cBhvr>
                                        <p:cTn id="18" dur="500"/>
                                        <p:tgtEl>
                                          <p:spTgt spid="38915">
                                            <p:txEl>
                                              <p:charRg st="45" end="52"/>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38915">
                                            <p:txEl>
                                              <p:charRg st="52" end="73"/>
                                            </p:txEl>
                                          </p:spTgt>
                                        </p:tgtEl>
                                        <p:attrNameLst>
                                          <p:attrName>style.visibility</p:attrName>
                                        </p:attrNameLst>
                                      </p:cBhvr>
                                      <p:to>
                                        <p:strVal val="visible"/>
                                      </p:to>
                                    </p:set>
                                    <p:animEffect transition="in" filter="blinds(horizontal)">
                                      <p:cBhvr>
                                        <p:cTn id="21" dur="500"/>
                                        <p:tgtEl>
                                          <p:spTgt spid="38915">
                                            <p:txEl>
                                              <p:charRg st="52" end="73"/>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38915">
                                            <p:txEl>
                                              <p:charRg st="73" end="101"/>
                                            </p:txEl>
                                          </p:spTgt>
                                        </p:tgtEl>
                                        <p:attrNameLst>
                                          <p:attrName>style.visibility</p:attrName>
                                        </p:attrNameLst>
                                      </p:cBhvr>
                                      <p:to>
                                        <p:strVal val="visible"/>
                                      </p:to>
                                    </p:set>
                                    <p:animEffect transition="in" filter="blinds(horizontal)">
                                      <p:cBhvr>
                                        <p:cTn id="24" dur="500"/>
                                        <p:tgtEl>
                                          <p:spTgt spid="38915">
                                            <p:txEl>
                                              <p:charRg st="73" end="10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38915">
                                            <p:txEl>
                                              <p:charRg st="102" end="109"/>
                                            </p:txEl>
                                          </p:spTgt>
                                        </p:tgtEl>
                                        <p:attrNameLst>
                                          <p:attrName>style.visibility</p:attrName>
                                        </p:attrNameLst>
                                      </p:cBhvr>
                                      <p:to>
                                        <p:strVal val="visible"/>
                                      </p:to>
                                    </p:set>
                                    <p:animEffect transition="in" filter="blinds(horizontal)">
                                      <p:cBhvr>
                                        <p:cTn id="29" dur="500"/>
                                        <p:tgtEl>
                                          <p:spTgt spid="38915">
                                            <p:txEl>
                                              <p:charRg st="102" end="10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40962" name="组合 40961"/>
          <p:cNvGrpSpPr/>
          <p:nvPr/>
        </p:nvGrpSpPr>
        <p:grpSpPr>
          <a:xfrm>
            <a:off x="881063" y="2565400"/>
            <a:ext cx="1858962" cy="935038"/>
            <a:chOff x="0" y="0"/>
            <a:chExt cx="1246" cy="576"/>
          </a:xfrm>
        </p:grpSpPr>
        <p:sp>
          <p:nvSpPr>
            <p:cNvPr id="40963" name="未知"/>
            <p:cNvSpPr/>
            <p:nvPr/>
          </p:nvSpPr>
          <p:spPr>
            <a:xfrm>
              <a:off x="0" y="0"/>
              <a:ext cx="1246" cy="576"/>
            </a:xfrm>
            <a:custGeom>
              <a:avLst/>
              <a:gdLst>
                <a:gd name="txL" fmla="*/ 0 w 1246"/>
                <a:gd name="txT" fmla="*/ 0 h 576"/>
                <a:gd name="txR" fmla="*/ 1246 w 1246"/>
                <a:gd name="txB" fmla="*/ 576 h 576"/>
              </a:gdLst>
              <a:ahLst/>
              <a:cxnLst>
                <a:cxn ang="0">
                  <a:pos x="0" y="0"/>
                </a:cxn>
                <a:cxn ang="0">
                  <a:pos x="1142" y="0"/>
                </a:cxn>
                <a:cxn ang="0">
                  <a:pos x="1246" y="288"/>
                </a:cxn>
                <a:cxn ang="0">
                  <a:pos x="1142" y="576"/>
                </a:cxn>
                <a:cxn ang="0">
                  <a:pos x="0" y="576"/>
                </a:cxn>
                <a:cxn ang="0">
                  <a:pos x="0" y="288"/>
                </a:cxn>
                <a:cxn ang="0">
                  <a:pos x="0" y="0"/>
                </a:cxn>
              </a:cxnLst>
              <a:rect l="txL" t="txT" r="txR" b="txB"/>
              <a:pathLst>
                <a:path w="1246" h="576">
                  <a:moveTo>
                    <a:pt x="0" y="0"/>
                  </a:moveTo>
                  <a:lnTo>
                    <a:pt x="1142" y="0"/>
                  </a:lnTo>
                  <a:lnTo>
                    <a:pt x="1246" y="288"/>
                  </a:lnTo>
                  <a:lnTo>
                    <a:pt x="1142" y="576"/>
                  </a:lnTo>
                  <a:lnTo>
                    <a:pt x="0" y="576"/>
                  </a:lnTo>
                  <a:lnTo>
                    <a:pt x="0" y="288"/>
                  </a:lnTo>
                  <a:lnTo>
                    <a:pt x="0" y="0"/>
                  </a:lnTo>
                  <a:close/>
                </a:path>
              </a:pathLst>
            </a:custGeom>
            <a:solidFill>
              <a:schemeClr val="accent1"/>
            </a:solidFill>
            <a:ln w="9525" cap="flat" cmpd="sng">
              <a:solidFill>
                <a:schemeClr val="tx1"/>
              </a:solidFill>
              <a:prstDash val="solid"/>
              <a:miter/>
              <a:headEnd type="none" w="med" len="med"/>
              <a:tailEnd type="none" w="med" len="med"/>
            </a:ln>
          </p:spPr>
          <p:txBody>
            <a:bodyPr wrap="none" lIns="45720" tIns="0" rIns="45720" bIns="0" anchor="ctr" anchorCtr="0">
              <a:spAutoFit/>
            </a:bodyPr>
            <a:p>
              <a:endParaRPr lang="zh-CN" altLang="en-US" dirty="0">
                <a:latin typeface="Frutiger 45 Light" pitchFamily="2" charset="0"/>
              </a:endParaRPr>
            </a:p>
          </p:txBody>
        </p:sp>
        <p:sp>
          <p:nvSpPr>
            <p:cNvPr id="40964" name="Rectangle 4"/>
            <p:cNvSpPr/>
            <p:nvPr/>
          </p:nvSpPr>
          <p:spPr>
            <a:xfrm>
              <a:off x="32" y="32"/>
              <a:ext cx="1110" cy="496"/>
            </a:xfrm>
            <a:prstGeom prst="rect">
              <a:avLst/>
            </a:prstGeom>
            <a:noFill/>
            <a:ln w="9525">
              <a:noFill/>
            </a:ln>
          </p:spPr>
          <p:txBody>
            <a:bodyPr lIns="45720" tIns="0" rIns="45720" bIns="0" anchor="ctr" anchorCtr="0"/>
            <a:p>
              <a:pPr marL="342900" indent="-342900" algn="l">
                <a:spcBef>
                  <a:spcPct val="20000"/>
                </a:spcBef>
                <a:buClr>
                  <a:srgbClr val="FF3300"/>
                </a:buClr>
                <a:buFont typeface="Wingdings" panose="05000000000000000000" pitchFamily="2" charset="2"/>
              </a:pPr>
              <a:r>
                <a:rPr lang="zh-CN" altLang="en-US" sz="2800" dirty="0">
                  <a:solidFill>
                    <a:schemeClr val="bg1"/>
                  </a:solidFill>
                  <a:latin typeface="Times New Roman" panose="02020603050405020304" pitchFamily="18" charset="0"/>
                  <a:ea typeface="华文中宋" panose="02010600040101010101" pitchFamily="2" charset="-122"/>
                </a:rPr>
                <a:t>接触面谈</a:t>
              </a:r>
              <a:endParaRPr lang="en-US" altLang="zh-CN" sz="2800" dirty="0">
                <a:solidFill>
                  <a:schemeClr val="bg1"/>
                </a:solidFill>
                <a:latin typeface="Times New Roman" panose="02020603050405020304" pitchFamily="18" charset="0"/>
                <a:ea typeface="华文中宋" panose="02010600040101010101" pitchFamily="2" charset="-122"/>
              </a:endParaRPr>
            </a:p>
          </p:txBody>
        </p:sp>
      </p:grpSp>
      <p:grpSp>
        <p:nvGrpSpPr>
          <p:cNvPr id="40965" name="组合 40964"/>
          <p:cNvGrpSpPr/>
          <p:nvPr/>
        </p:nvGrpSpPr>
        <p:grpSpPr>
          <a:xfrm>
            <a:off x="2692400" y="2565400"/>
            <a:ext cx="1952625" cy="935038"/>
            <a:chOff x="0" y="0"/>
            <a:chExt cx="1247" cy="576"/>
          </a:xfrm>
        </p:grpSpPr>
        <p:sp>
          <p:nvSpPr>
            <p:cNvPr id="40966" name="未知"/>
            <p:cNvSpPr/>
            <p:nvPr/>
          </p:nvSpPr>
          <p:spPr>
            <a:xfrm>
              <a:off x="0" y="0"/>
              <a:ext cx="1247" cy="576"/>
            </a:xfrm>
            <a:custGeom>
              <a:avLst/>
              <a:gdLst>
                <a:gd name="txL" fmla="*/ 0 w 1247"/>
                <a:gd name="txT" fmla="*/ 0 h 576"/>
                <a:gd name="txR" fmla="*/ 1247 w 1247"/>
                <a:gd name="txB" fmla="*/ 576 h 576"/>
              </a:gdLst>
              <a:ahLst/>
              <a:cxnLst>
                <a:cxn ang="0">
                  <a:pos x="0" y="0"/>
                </a:cxn>
                <a:cxn ang="0">
                  <a:pos x="1143" y="0"/>
                </a:cxn>
                <a:cxn ang="0">
                  <a:pos x="1247" y="288"/>
                </a:cxn>
                <a:cxn ang="0">
                  <a:pos x="1143" y="576"/>
                </a:cxn>
                <a:cxn ang="0">
                  <a:pos x="0" y="576"/>
                </a:cxn>
                <a:cxn ang="0">
                  <a:pos x="104" y="288"/>
                </a:cxn>
                <a:cxn ang="0">
                  <a:pos x="0" y="0"/>
                </a:cxn>
              </a:cxnLst>
              <a:rect l="txL" t="txT" r="txR" b="txB"/>
              <a:pathLst>
                <a:path w="1247" h="576">
                  <a:moveTo>
                    <a:pt x="0" y="0"/>
                  </a:moveTo>
                  <a:lnTo>
                    <a:pt x="1143" y="0"/>
                  </a:lnTo>
                  <a:lnTo>
                    <a:pt x="1247" y="288"/>
                  </a:lnTo>
                  <a:lnTo>
                    <a:pt x="1143" y="576"/>
                  </a:lnTo>
                  <a:lnTo>
                    <a:pt x="0" y="576"/>
                  </a:lnTo>
                  <a:lnTo>
                    <a:pt x="104" y="288"/>
                  </a:lnTo>
                  <a:lnTo>
                    <a:pt x="0" y="0"/>
                  </a:lnTo>
                  <a:close/>
                </a:path>
              </a:pathLst>
            </a:custGeom>
            <a:solidFill>
              <a:srgbClr val="FF0000"/>
            </a:solidFill>
            <a:ln w="9525" cap="flat" cmpd="sng">
              <a:solidFill>
                <a:schemeClr val="tx1"/>
              </a:solidFill>
              <a:prstDash val="solid"/>
              <a:miter/>
              <a:headEnd type="none" w="med" len="med"/>
              <a:tailEnd type="none" w="med" len="med"/>
            </a:ln>
          </p:spPr>
          <p:txBody>
            <a:bodyPr wrap="none" lIns="45720" tIns="0" rIns="45720" bIns="0" anchor="ctr" anchorCtr="0">
              <a:spAutoFit/>
            </a:bodyPr>
            <a:p>
              <a:endParaRPr lang="zh-CN" altLang="en-US" dirty="0">
                <a:latin typeface="Frutiger 45 Light" pitchFamily="2" charset="0"/>
              </a:endParaRPr>
            </a:p>
          </p:txBody>
        </p:sp>
        <p:sp>
          <p:nvSpPr>
            <p:cNvPr id="40967" name="Rectangle 7"/>
            <p:cNvSpPr/>
            <p:nvPr/>
          </p:nvSpPr>
          <p:spPr>
            <a:xfrm>
              <a:off x="136" y="32"/>
              <a:ext cx="1008" cy="496"/>
            </a:xfrm>
            <a:prstGeom prst="rect">
              <a:avLst/>
            </a:prstGeom>
            <a:solidFill>
              <a:srgbClr val="FF0000"/>
            </a:solidFill>
            <a:ln w="9525">
              <a:noFill/>
            </a:ln>
          </p:spPr>
          <p:txBody>
            <a:bodyPr lIns="45720" tIns="0" rIns="45720" bIns="0" anchor="ctr" anchorCtr="0"/>
            <a:p>
              <a:pPr marL="342900" indent="-342900" algn="l">
                <a:spcBef>
                  <a:spcPct val="20000"/>
                </a:spcBef>
                <a:buClr>
                  <a:srgbClr val="FF3300"/>
                </a:buClr>
                <a:buFont typeface="Wingdings" panose="05000000000000000000" pitchFamily="2" charset="2"/>
              </a:pPr>
              <a:r>
                <a:rPr lang="zh-CN" altLang="en-US" sz="2800" dirty="0">
                  <a:solidFill>
                    <a:schemeClr val="bg1"/>
                  </a:solidFill>
                  <a:latin typeface="Times New Roman" panose="02020603050405020304" pitchFamily="18" charset="0"/>
                  <a:ea typeface="华文中宋" panose="02010600040101010101" pitchFamily="2" charset="-122"/>
                </a:rPr>
                <a:t>需求分析</a:t>
              </a:r>
              <a:endParaRPr lang="en-US" altLang="zh-CN" sz="2800" dirty="0">
                <a:solidFill>
                  <a:schemeClr val="bg1"/>
                </a:solidFill>
                <a:latin typeface="Times New Roman" panose="02020603050405020304" pitchFamily="18" charset="0"/>
                <a:ea typeface="华文中宋" panose="02010600040101010101" pitchFamily="2" charset="-122"/>
              </a:endParaRPr>
            </a:p>
          </p:txBody>
        </p:sp>
      </p:grpSp>
      <p:grpSp>
        <p:nvGrpSpPr>
          <p:cNvPr id="40968" name="组合 40967"/>
          <p:cNvGrpSpPr/>
          <p:nvPr/>
        </p:nvGrpSpPr>
        <p:grpSpPr>
          <a:xfrm>
            <a:off x="4573588" y="2565400"/>
            <a:ext cx="1943100" cy="935038"/>
            <a:chOff x="0" y="0"/>
            <a:chExt cx="1247" cy="576"/>
          </a:xfrm>
        </p:grpSpPr>
        <p:sp>
          <p:nvSpPr>
            <p:cNvPr id="40969" name="未知"/>
            <p:cNvSpPr/>
            <p:nvPr/>
          </p:nvSpPr>
          <p:spPr>
            <a:xfrm>
              <a:off x="0" y="0"/>
              <a:ext cx="1247" cy="576"/>
            </a:xfrm>
            <a:custGeom>
              <a:avLst/>
              <a:gdLst>
                <a:gd name="txL" fmla="*/ 0 w 1247"/>
                <a:gd name="txT" fmla="*/ 0 h 576"/>
                <a:gd name="txR" fmla="*/ 1247 w 1247"/>
                <a:gd name="txB" fmla="*/ 576 h 576"/>
              </a:gdLst>
              <a:ahLst/>
              <a:cxnLst>
                <a:cxn ang="0">
                  <a:pos x="0" y="0"/>
                </a:cxn>
                <a:cxn ang="0">
                  <a:pos x="1143" y="0"/>
                </a:cxn>
                <a:cxn ang="0">
                  <a:pos x="1247" y="288"/>
                </a:cxn>
                <a:cxn ang="0">
                  <a:pos x="1143" y="576"/>
                </a:cxn>
                <a:cxn ang="0">
                  <a:pos x="0" y="576"/>
                </a:cxn>
                <a:cxn ang="0">
                  <a:pos x="104" y="288"/>
                </a:cxn>
                <a:cxn ang="0">
                  <a:pos x="0" y="0"/>
                </a:cxn>
              </a:cxnLst>
              <a:rect l="txL" t="txT" r="txR" b="txB"/>
              <a:pathLst>
                <a:path w="1247" h="576">
                  <a:moveTo>
                    <a:pt x="0" y="0"/>
                  </a:moveTo>
                  <a:lnTo>
                    <a:pt x="1143" y="0"/>
                  </a:lnTo>
                  <a:lnTo>
                    <a:pt x="1247" y="288"/>
                  </a:lnTo>
                  <a:lnTo>
                    <a:pt x="1143" y="576"/>
                  </a:lnTo>
                  <a:lnTo>
                    <a:pt x="0" y="576"/>
                  </a:lnTo>
                  <a:lnTo>
                    <a:pt x="104" y="288"/>
                  </a:lnTo>
                  <a:lnTo>
                    <a:pt x="0" y="0"/>
                  </a:lnTo>
                  <a:close/>
                </a:path>
              </a:pathLst>
            </a:custGeom>
            <a:solidFill>
              <a:schemeClr val="accent1"/>
            </a:solidFill>
            <a:ln w="9525" cap="flat" cmpd="sng">
              <a:solidFill>
                <a:schemeClr val="tx1"/>
              </a:solidFill>
              <a:prstDash val="solid"/>
              <a:miter/>
              <a:headEnd type="none" w="med" len="med"/>
              <a:tailEnd type="none" w="med" len="med"/>
            </a:ln>
          </p:spPr>
          <p:txBody>
            <a:bodyPr wrap="none" lIns="45720" tIns="0" rIns="45720" bIns="0" anchor="ctr" anchorCtr="0">
              <a:spAutoFit/>
            </a:bodyPr>
            <a:p>
              <a:endParaRPr lang="zh-CN" altLang="en-US" dirty="0">
                <a:latin typeface="Frutiger 45 Light" pitchFamily="2" charset="0"/>
              </a:endParaRPr>
            </a:p>
          </p:txBody>
        </p:sp>
        <p:sp>
          <p:nvSpPr>
            <p:cNvPr id="40970" name="Rectangle 10"/>
            <p:cNvSpPr/>
            <p:nvPr/>
          </p:nvSpPr>
          <p:spPr>
            <a:xfrm>
              <a:off x="136" y="32"/>
              <a:ext cx="1008" cy="496"/>
            </a:xfrm>
            <a:prstGeom prst="rect">
              <a:avLst/>
            </a:prstGeom>
            <a:noFill/>
            <a:ln w="9525">
              <a:noFill/>
            </a:ln>
          </p:spPr>
          <p:txBody>
            <a:bodyPr lIns="45720" tIns="0" rIns="45720" bIns="0" anchor="ctr" anchorCtr="0"/>
            <a:p>
              <a:pPr marL="342900" indent="-342900" algn="l">
                <a:spcBef>
                  <a:spcPct val="20000"/>
                </a:spcBef>
                <a:buClr>
                  <a:srgbClr val="FF3300"/>
                </a:buClr>
                <a:buFont typeface="Wingdings" panose="05000000000000000000" pitchFamily="2" charset="2"/>
              </a:pPr>
              <a:r>
                <a:rPr lang="zh-TW" altLang="en-US" sz="2800" dirty="0">
                  <a:solidFill>
                    <a:schemeClr val="bg1"/>
                  </a:solidFill>
                  <a:latin typeface="Times New Roman" panose="02020603050405020304" pitchFamily="18" charset="0"/>
                  <a:ea typeface="华文中宋" panose="02010600040101010101" pitchFamily="2" charset="-122"/>
                </a:rPr>
                <a:t>产品介绍</a:t>
              </a:r>
              <a:endParaRPr lang="zh-TW" altLang="en-US" sz="2800" dirty="0">
                <a:solidFill>
                  <a:schemeClr val="bg1"/>
                </a:solidFill>
                <a:latin typeface="Times New Roman" panose="02020603050405020304" pitchFamily="18" charset="0"/>
                <a:ea typeface="华文中宋" panose="02010600040101010101" pitchFamily="2" charset="-122"/>
              </a:endParaRPr>
            </a:p>
          </p:txBody>
        </p:sp>
      </p:grpSp>
      <p:grpSp>
        <p:nvGrpSpPr>
          <p:cNvPr id="40971" name="组合 40970"/>
          <p:cNvGrpSpPr/>
          <p:nvPr/>
        </p:nvGrpSpPr>
        <p:grpSpPr>
          <a:xfrm>
            <a:off x="6445250" y="2565400"/>
            <a:ext cx="1944688" cy="935038"/>
            <a:chOff x="0" y="0"/>
            <a:chExt cx="1246" cy="576"/>
          </a:xfrm>
        </p:grpSpPr>
        <p:sp>
          <p:nvSpPr>
            <p:cNvPr id="40972" name="未知"/>
            <p:cNvSpPr/>
            <p:nvPr/>
          </p:nvSpPr>
          <p:spPr>
            <a:xfrm>
              <a:off x="0" y="0"/>
              <a:ext cx="1246" cy="576"/>
            </a:xfrm>
            <a:custGeom>
              <a:avLst/>
              <a:gdLst>
                <a:gd name="txL" fmla="*/ 0 w 1246"/>
                <a:gd name="txT" fmla="*/ 0 h 576"/>
                <a:gd name="txR" fmla="*/ 1246 w 1246"/>
                <a:gd name="txB" fmla="*/ 576 h 576"/>
              </a:gdLst>
              <a:ahLst/>
              <a:cxnLst>
                <a:cxn ang="0">
                  <a:pos x="0" y="0"/>
                </a:cxn>
                <a:cxn ang="0">
                  <a:pos x="1142" y="0"/>
                </a:cxn>
                <a:cxn ang="0">
                  <a:pos x="1246" y="288"/>
                </a:cxn>
                <a:cxn ang="0">
                  <a:pos x="1142" y="576"/>
                </a:cxn>
                <a:cxn ang="0">
                  <a:pos x="0" y="576"/>
                </a:cxn>
                <a:cxn ang="0">
                  <a:pos x="104" y="288"/>
                </a:cxn>
                <a:cxn ang="0">
                  <a:pos x="0" y="0"/>
                </a:cxn>
              </a:cxnLst>
              <a:rect l="txL" t="txT" r="txR" b="txB"/>
              <a:pathLst>
                <a:path w="1246" h="576">
                  <a:moveTo>
                    <a:pt x="0" y="0"/>
                  </a:moveTo>
                  <a:lnTo>
                    <a:pt x="1142" y="0"/>
                  </a:lnTo>
                  <a:lnTo>
                    <a:pt x="1246" y="288"/>
                  </a:lnTo>
                  <a:lnTo>
                    <a:pt x="1142" y="576"/>
                  </a:lnTo>
                  <a:lnTo>
                    <a:pt x="0" y="576"/>
                  </a:lnTo>
                  <a:lnTo>
                    <a:pt x="104" y="288"/>
                  </a:lnTo>
                  <a:lnTo>
                    <a:pt x="0" y="0"/>
                  </a:lnTo>
                  <a:close/>
                </a:path>
              </a:pathLst>
            </a:custGeom>
            <a:solidFill>
              <a:schemeClr val="accent1"/>
            </a:solidFill>
            <a:ln w="9525" cap="flat" cmpd="sng">
              <a:solidFill>
                <a:schemeClr val="tx1"/>
              </a:solidFill>
              <a:prstDash val="solid"/>
              <a:miter/>
              <a:headEnd type="none" w="med" len="med"/>
              <a:tailEnd type="none" w="med" len="med"/>
            </a:ln>
          </p:spPr>
          <p:txBody>
            <a:bodyPr wrap="none" lIns="45720" tIns="0" rIns="45720" bIns="0" anchor="ctr" anchorCtr="0">
              <a:spAutoFit/>
            </a:bodyPr>
            <a:p>
              <a:endParaRPr lang="zh-CN" altLang="en-US" dirty="0">
                <a:latin typeface="Frutiger 45 Light" pitchFamily="2" charset="0"/>
              </a:endParaRPr>
            </a:p>
          </p:txBody>
        </p:sp>
        <p:sp>
          <p:nvSpPr>
            <p:cNvPr id="40973" name="Rectangle 13"/>
            <p:cNvSpPr/>
            <p:nvPr/>
          </p:nvSpPr>
          <p:spPr>
            <a:xfrm>
              <a:off x="136" y="32"/>
              <a:ext cx="1007" cy="496"/>
            </a:xfrm>
            <a:prstGeom prst="rect">
              <a:avLst/>
            </a:prstGeom>
            <a:noFill/>
            <a:ln w="9525">
              <a:noFill/>
            </a:ln>
          </p:spPr>
          <p:txBody>
            <a:bodyPr lIns="45720" tIns="0" rIns="45720" bIns="0" anchor="ctr" anchorCtr="0"/>
            <a:p>
              <a:pPr marL="342900" indent="-342900" algn="l">
                <a:spcBef>
                  <a:spcPct val="20000"/>
                </a:spcBef>
                <a:buClr>
                  <a:srgbClr val="FF3300"/>
                </a:buClr>
                <a:buFont typeface="Wingdings" panose="05000000000000000000" pitchFamily="2" charset="2"/>
              </a:pPr>
              <a:r>
                <a:rPr lang="zh-TW" altLang="en-US" sz="2800" dirty="0">
                  <a:solidFill>
                    <a:schemeClr val="bg1"/>
                  </a:solidFill>
                  <a:latin typeface="Times New Roman" panose="02020603050405020304" pitchFamily="18" charset="0"/>
                  <a:ea typeface="华文中宋" panose="02010600040101010101" pitchFamily="2" charset="-122"/>
                </a:rPr>
                <a:t>促成成交</a:t>
              </a:r>
              <a:endParaRPr lang="zh-TW" altLang="en-US" sz="2800" dirty="0">
                <a:solidFill>
                  <a:schemeClr val="bg1"/>
                </a:solidFill>
                <a:latin typeface="Times New Roman" panose="02020603050405020304" pitchFamily="18" charset="0"/>
                <a:ea typeface="华文中宋" panose="02010600040101010101" pitchFamily="2" charset="-122"/>
              </a:endParaRPr>
            </a:p>
          </p:txBody>
        </p:sp>
      </p:grpSp>
      <p:sp>
        <p:nvSpPr>
          <p:cNvPr id="40974" name="Rectangle 14"/>
          <p:cNvSpPr/>
          <p:nvPr/>
        </p:nvSpPr>
        <p:spPr>
          <a:xfrm>
            <a:off x="612775" y="765175"/>
            <a:ext cx="7773988" cy="1143000"/>
          </a:xfrm>
          <a:prstGeom prst="rect">
            <a:avLst/>
          </a:prstGeom>
          <a:noFill/>
          <a:ln w="9525">
            <a:noFill/>
          </a:ln>
        </p:spPr>
        <p:txBody>
          <a:bodyPr anchor="ctr" anchorCtr="0"/>
          <a:p>
            <a:r>
              <a:rPr lang="zh-TW" altLang="en-US" sz="4000" b="0" dirty="0">
                <a:solidFill>
                  <a:srgbClr val="FF3300"/>
                </a:solidFill>
                <a:latin typeface="Times New Roman" panose="02020603050405020304" pitchFamily="18" charset="0"/>
                <a:ea typeface="华文新魏" panose="02010800040101010101" pitchFamily="2" charset="-122"/>
              </a:rPr>
              <a:t>信用卡销售流程</a:t>
            </a:r>
            <a:endParaRPr lang="zh-TW" altLang="en-US" sz="4000" b="0" dirty="0">
              <a:solidFill>
                <a:srgbClr val="FF3300"/>
              </a:solidFill>
              <a:latin typeface="Times New Roman" panose="02020603050405020304" pitchFamily="18" charset="0"/>
              <a:ea typeface="华文新魏" panose="02010800040101010101" pitchFamily="2" charset="-122"/>
            </a:endParaRPr>
          </a:p>
        </p:txBody>
      </p:sp>
      <p:graphicFrame>
        <p:nvGraphicFramePr>
          <p:cNvPr id="40975" name="Object 15"/>
          <p:cNvGraphicFramePr>
            <a:graphicFrameLocks noChangeAspect="1"/>
          </p:cNvGraphicFramePr>
          <p:nvPr/>
        </p:nvGraphicFramePr>
        <p:xfrm>
          <a:off x="5221288" y="4076700"/>
          <a:ext cx="2592387" cy="1736725"/>
        </p:xfrm>
        <a:graphic>
          <a:graphicData uri="http://schemas.openxmlformats.org/presentationml/2006/ole">
            <mc:AlternateContent xmlns:mc="http://schemas.openxmlformats.org/markup-compatibility/2006">
              <mc:Choice xmlns:v="urn:schemas-microsoft-com:vml" Requires="v">
                <p:oleObj spid="_x0000_s3087" name="" r:id="rId1" imgW="913765" imgH="1176655" progId="">
                  <p:embed/>
                </p:oleObj>
              </mc:Choice>
              <mc:Fallback>
                <p:oleObj name="" r:id="rId1" imgW="913765" imgH="1176655" progId="">
                  <p:embed/>
                  <p:pic>
                    <p:nvPicPr>
                      <p:cNvPr id="0" name="图片 3086"/>
                      <p:cNvPicPr/>
                      <p:nvPr/>
                    </p:nvPicPr>
                    <p:blipFill>
                      <a:blip r:embed="rId2"/>
                      <a:stretch>
                        <a:fillRect/>
                      </a:stretch>
                    </p:blipFill>
                    <p:spPr>
                      <a:xfrm>
                        <a:off x="5221288" y="4076700"/>
                        <a:ext cx="2592387" cy="1736725"/>
                      </a:xfrm>
                      <a:prstGeom prst="rect">
                        <a:avLst/>
                      </a:prstGeom>
                      <a:noFill/>
                      <a:ln w="38100">
                        <a:noFill/>
                        <a:miter/>
                      </a:ln>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Rectangle 2"/>
          <p:cNvSpPr>
            <a:spLocks noGrp="1"/>
          </p:cNvSpPr>
          <p:nvPr>
            <p:ph type="body" idx="4294967295"/>
          </p:nvPr>
        </p:nvSpPr>
        <p:spPr>
          <a:xfrm>
            <a:off x="1763713" y="3357563"/>
            <a:ext cx="6696075" cy="2095500"/>
          </a:xfrm>
          <a:ln/>
        </p:spPr>
        <p:txBody>
          <a:bodyPr vert="horz" wrap="square" anchor="t" anchorCtr="0"/>
          <a:p>
            <a:pPr eaLnBrk="1" hangingPunct="1"/>
            <a:endParaRPr lang="zh-TW" altLang="en-US" sz="2800" dirty="0">
              <a:latin typeface="华文中宋" panose="02010600040101010101" pitchFamily="2" charset="-122"/>
            </a:endParaRPr>
          </a:p>
          <a:p>
            <a:pPr eaLnBrk="1" hangingPunct="1">
              <a:buNone/>
            </a:pPr>
            <a:r>
              <a:rPr lang="zh-TW" altLang="en-US" sz="2800" dirty="0">
                <a:latin typeface="华文中宋" panose="02010600040101010101" pitchFamily="2" charset="-122"/>
              </a:rPr>
              <a:t>人最基本的行为动机</a:t>
            </a:r>
            <a:endParaRPr lang="zh-TW" altLang="en-US" sz="2800" dirty="0">
              <a:latin typeface="华文中宋" panose="02010600040101010101" pitchFamily="2" charset="-122"/>
            </a:endParaRPr>
          </a:p>
          <a:p>
            <a:pPr eaLnBrk="1" hangingPunct="1"/>
            <a:r>
              <a:rPr lang="zh-TW" altLang="en-US" sz="2800" dirty="0">
                <a:latin typeface="华文中宋" panose="02010600040101010101" pitchFamily="2" charset="-122"/>
              </a:rPr>
              <a:t>解决问题（远离痛苦）</a:t>
            </a:r>
            <a:endParaRPr lang="zh-TW" altLang="en-US" sz="2800" dirty="0">
              <a:latin typeface="华文中宋" panose="02010600040101010101" pitchFamily="2" charset="-122"/>
            </a:endParaRPr>
          </a:p>
          <a:p>
            <a:pPr eaLnBrk="1" hangingPunct="1"/>
            <a:r>
              <a:rPr lang="zh-TW" altLang="en-US" sz="2800" dirty="0">
                <a:latin typeface="华文中宋" panose="02010600040101010101" pitchFamily="2" charset="-122"/>
              </a:rPr>
              <a:t>实现快乐（荣誉尊严）</a:t>
            </a:r>
            <a:r>
              <a:rPr lang="zh-TW" altLang="en-US" sz="2800" b="1" dirty="0">
                <a:latin typeface="华文中宋" panose="02010600040101010101" pitchFamily="2" charset="-122"/>
              </a:rPr>
              <a:t>      </a:t>
            </a:r>
            <a:endParaRPr lang="zh-TW" altLang="en-US" sz="2800" b="1" dirty="0">
              <a:latin typeface="华文中宋" panose="02010600040101010101" pitchFamily="2" charset="-122"/>
            </a:endParaRPr>
          </a:p>
          <a:p>
            <a:pPr eaLnBrk="1" hangingPunct="1"/>
            <a:endParaRPr lang="zh-TW" altLang="en-US" sz="2800" dirty="0">
              <a:latin typeface="华文中宋" panose="02010600040101010101" pitchFamily="2" charset="-122"/>
            </a:endParaRPr>
          </a:p>
        </p:txBody>
      </p:sp>
      <p:sp>
        <p:nvSpPr>
          <p:cNvPr id="43011" name="WordArt 3"/>
          <p:cNvSpPr/>
          <p:nvPr/>
        </p:nvSpPr>
        <p:spPr>
          <a:xfrm>
            <a:off x="3538538" y="2006600"/>
            <a:ext cx="1238250" cy="1219200"/>
          </a:xfrm>
          <a:prstGeom prst="rect">
            <a:avLst/>
          </a:prstGeom>
        </p:spPr>
        <p:txBody>
          <a:bodyPr wrap="none" fromWordArt="1">
            <a:prstTxWarp prst="textPlain">
              <a:avLst>
                <a:gd name="adj" fmla="val 50000"/>
              </a:avLst>
            </a:prstTxWarp>
            <a:normAutofit/>
          </a:bodyPr>
          <a:p>
            <a:pPr algn="ctr" eaLnBrk="0" hangingPunct="0"/>
            <a:r>
              <a:rPr lang="zh-CN" altLang="en-US" sz="9600" b="1">
                <a:gradFill rotWithShape="1">
                  <a:gsLst>
                    <a:gs pos="0">
                      <a:srgbClr val="FFFF00"/>
                    </a:gs>
                    <a:gs pos="100000">
                      <a:srgbClr val="FF9933"/>
                    </a:gs>
                  </a:gsLst>
                  <a:path path="rect">
                    <a:fillToRect l="50000" t="50000" r="50000" b="50000"/>
                  </a:path>
                  <a:tileRect/>
                </a:gradFill>
                <a:effectLst>
                  <a:outerShdw dist="35921" dir="2699999" algn="ctr" rotWithShape="0">
                    <a:srgbClr val="C0C0C0">
                      <a:alpha val="78000"/>
                    </a:srgbClr>
                  </a:outerShdw>
                </a:effectLst>
                <a:latin typeface="宋体" panose="02010600030101010101" pitchFamily="2" charset="-122"/>
                <a:ea typeface="宋体" panose="02010600030101010101" pitchFamily="2" charset="-122"/>
              </a:rPr>
              <a:t>VS</a:t>
            </a:r>
            <a:endParaRPr lang="zh-CN" altLang="en-US" sz="9600" b="1">
              <a:gradFill rotWithShape="1">
                <a:gsLst>
                  <a:gs pos="0">
                    <a:srgbClr val="FFFF00"/>
                  </a:gs>
                  <a:gs pos="100000">
                    <a:srgbClr val="FF9933"/>
                  </a:gs>
                </a:gsLst>
                <a:path path="rect">
                  <a:fillToRect l="50000" t="50000" r="50000" b="50000"/>
                </a:path>
                <a:tileRect/>
              </a:gradFill>
              <a:effectLst>
                <a:outerShdw dist="35921" dir="2699999" algn="ctr" rotWithShape="0">
                  <a:srgbClr val="C0C0C0">
                    <a:alpha val="78000"/>
                  </a:srgbClr>
                </a:outerShdw>
              </a:effectLst>
              <a:latin typeface="宋体" panose="02010600030101010101" pitchFamily="2" charset="-122"/>
              <a:ea typeface="宋体" panose="02010600030101010101" pitchFamily="2" charset="-122"/>
            </a:endParaRPr>
          </a:p>
        </p:txBody>
      </p:sp>
      <p:sp>
        <p:nvSpPr>
          <p:cNvPr id="43012" name="Oval 66"/>
          <p:cNvSpPr/>
          <p:nvPr/>
        </p:nvSpPr>
        <p:spPr>
          <a:xfrm>
            <a:off x="1836738" y="1989138"/>
            <a:ext cx="1597025" cy="1206500"/>
          </a:xfrm>
          <a:prstGeom prst="ellipse">
            <a:avLst/>
          </a:prstGeom>
          <a:gradFill rotWithShape="1">
            <a:gsLst>
              <a:gs pos="0">
                <a:srgbClr val="0099CC"/>
              </a:gs>
              <a:gs pos="100000">
                <a:srgbClr val="003141"/>
              </a:gs>
            </a:gsLst>
            <a:lin ang="5400000" scaled="1"/>
            <a:tileRect/>
          </a:gradFill>
          <a:ln w="38100" cap="flat" cmpd="sng">
            <a:solidFill>
              <a:srgbClr val="F8F8F8">
                <a:alpha val="78000"/>
              </a:srgbClr>
            </a:solidFill>
            <a:prstDash val="solid"/>
            <a:headEnd type="none" w="med" len="med"/>
            <a:tailEnd type="none" w="med" len="med"/>
          </a:ln>
        </p:spPr>
        <p:txBody>
          <a:bodyPr wrap="none" anchor="ctr" anchorCtr="0"/>
          <a:p>
            <a:pPr algn="l"/>
            <a:endParaRPr lang="zh-CN" altLang="en-US" sz="1800" b="0" dirty="0">
              <a:latin typeface="Arial" panose="020B0604020202020204" pitchFamily="34" charset="0"/>
              <a:ea typeface="宋体" panose="02010600030101010101" pitchFamily="2" charset="-122"/>
            </a:endParaRPr>
          </a:p>
        </p:txBody>
      </p:sp>
      <p:pic>
        <p:nvPicPr>
          <p:cNvPr id="43013" name="Picture 67" descr="cir_lighteffect0"/>
          <p:cNvPicPr>
            <a:picLocks noChangeAspect="1"/>
          </p:cNvPicPr>
          <p:nvPr/>
        </p:nvPicPr>
        <p:blipFill>
          <a:blip r:embed="rId1">
            <a:lum bright="17999" contrast="-12000"/>
          </a:blip>
          <a:stretch>
            <a:fillRect/>
          </a:stretch>
        </p:blipFill>
        <p:spPr>
          <a:xfrm>
            <a:off x="1692275" y="2020888"/>
            <a:ext cx="1633538" cy="982662"/>
          </a:xfrm>
          <a:prstGeom prst="rect">
            <a:avLst/>
          </a:prstGeom>
          <a:noFill/>
          <a:ln w="9525">
            <a:noFill/>
          </a:ln>
        </p:spPr>
      </p:pic>
      <p:sp>
        <p:nvSpPr>
          <p:cNvPr id="43014" name="Rectangle 60"/>
          <p:cNvSpPr/>
          <p:nvPr/>
        </p:nvSpPr>
        <p:spPr>
          <a:xfrm>
            <a:off x="1476375" y="2276475"/>
            <a:ext cx="2130425" cy="579438"/>
          </a:xfrm>
          <a:prstGeom prst="rect">
            <a:avLst/>
          </a:prstGeom>
          <a:noFill/>
          <a:ln w="9525">
            <a:noFill/>
          </a:ln>
        </p:spPr>
        <p:txBody>
          <a:bodyPr>
            <a:spAutoFit/>
          </a:bodyPr>
          <a:p>
            <a:r>
              <a:rPr lang="zh-CN" altLang="en-US" sz="3200" dirty="0">
                <a:solidFill>
                  <a:srgbClr val="F8F8F8"/>
                </a:solidFill>
                <a:latin typeface="黑体" panose="02010609060101010101" pitchFamily="2" charset="-122"/>
                <a:ea typeface="黑体" panose="02010609060101010101" pitchFamily="2" charset="-122"/>
              </a:rPr>
              <a:t>买</a:t>
            </a:r>
            <a:endParaRPr lang="zh-CN" altLang="en-US" sz="3200" dirty="0">
              <a:solidFill>
                <a:srgbClr val="F8F8F8"/>
              </a:solidFill>
              <a:latin typeface="黑体" panose="02010609060101010101" pitchFamily="2" charset="-122"/>
              <a:ea typeface="黑体" panose="02010609060101010101" pitchFamily="2" charset="-122"/>
            </a:endParaRPr>
          </a:p>
        </p:txBody>
      </p:sp>
      <p:sp>
        <p:nvSpPr>
          <p:cNvPr id="43015" name="Oval 66"/>
          <p:cNvSpPr/>
          <p:nvPr/>
        </p:nvSpPr>
        <p:spPr>
          <a:xfrm>
            <a:off x="5013325" y="2055813"/>
            <a:ext cx="1597025" cy="1206500"/>
          </a:xfrm>
          <a:prstGeom prst="ellipse">
            <a:avLst/>
          </a:prstGeom>
          <a:gradFill rotWithShape="1">
            <a:gsLst>
              <a:gs pos="0">
                <a:srgbClr val="0099CC"/>
              </a:gs>
              <a:gs pos="100000">
                <a:srgbClr val="003141"/>
              </a:gs>
            </a:gsLst>
            <a:lin ang="5400000" scaled="1"/>
            <a:tileRect/>
          </a:gradFill>
          <a:ln w="38100" cap="flat" cmpd="sng">
            <a:solidFill>
              <a:srgbClr val="F8F8F8">
                <a:alpha val="78000"/>
              </a:srgbClr>
            </a:solidFill>
            <a:prstDash val="solid"/>
            <a:headEnd type="none" w="med" len="med"/>
            <a:tailEnd type="none" w="med" len="med"/>
          </a:ln>
        </p:spPr>
        <p:txBody>
          <a:bodyPr wrap="none" anchor="ctr" anchorCtr="0"/>
          <a:p>
            <a:pPr algn="l"/>
            <a:endParaRPr lang="zh-CN" altLang="en-US" sz="1800" b="0" dirty="0">
              <a:latin typeface="Arial" panose="020B0604020202020204" pitchFamily="34" charset="0"/>
              <a:ea typeface="宋体" panose="02010600030101010101" pitchFamily="2" charset="-122"/>
            </a:endParaRPr>
          </a:p>
        </p:txBody>
      </p:sp>
      <p:pic>
        <p:nvPicPr>
          <p:cNvPr id="43016" name="Picture 67" descr="cir_lighteffect0"/>
          <p:cNvPicPr>
            <a:picLocks noChangeAspect="1"/>
          </p:cNvPicPr>
          <p:nvPr/>
        </p:nvPicPr>
        <p:blipFill>
          <a:blip r:embed="rId1">
            <a:lum bright="17999" contrast="-12000"/>
          </a:blip>
          <a:stretch>
            <a:fillRect/>
          </a:stretch>
        </p:blipFill>
        <p:spPr>
          <a:xfrm>
            <a:off x="4868863" y="2087563"/>
            <a:ext cx="1633537" cy="982662"/>
          </a:xfrm>
          <a:prstGeom prst="rect">
            <a:avLst/>
          </a:prstGeom>
          <a:noFill/>
          <a:ln w="9525">
            <a:noFill/>
          </a:ln>
        </p:spPr>
      </p:pic>
      <p:sp>
        <p:nvSpPr>
          <p:cNvPr id="43017" name="Rectangle 60"/>
          <p:cNvSpPr/>
          <p:nvPr/>
        </p:nvSpPr>
        <p:spPr>
          <a:xfrm>
            <a:off x="4652963" y="2343150"/>
            <a:ext cx="2130425" cy="579438"/>
          </a:xfrm>
          <a:prstGeom prst="rect">
            <a:avLst/>
          </a:prstGeom>
          <a:noFill/>
          <a:ln w="9525">
            <a:noFill/>
          </a:ln>
        </p:spPr>
        <p:txBody>
          <a:bodyPr>
            <a:spAutoFit/>
          </a:bodyPr>
          <a:p>
            <a:r>
              <a:rPr lang="zh-CN" altLang="en-US" sz="3200" dirty="0">
                <a:solidFill>
                  <a:srgbClr val="F8F8F8"/>
                </a:solidFill>
                <a:latin typeface="黑体" panose="02010609060101010101" pitchFamily="2" charset="-122"/>
                <a:ea typeface="黑体" panose="02010609060101010101" pitchFamily="2" charset="-122"/>
              </a:rPr>
              <a:t>卖</a:t>
            </a:r>
            <a:endParaRPr lang="zh-CN" altLang="en-US" sz="3200" dirty="0">
              <a:solidFill>
                <a:srgbClr val="F8F8F8"/>
              </a:solidFill>
              <a:latin typeface="黑体" panose="02010609060101010101" pitchFamily="2" charset="-122"/>
              <a:ea typeface="黑体" panose="02010609060101010101" pitchFamily="2" charset="-122"/>
            </a:endParaRPr>
          </a:p>
        </p:txBody>
      </p:sp>
      <p:sp>
        <p:nvSpPr>
          <p:cNvPr id="43018" name="Rectangle 10"/>
          <p:cNvSpPr>
            <a:spLocks noGrp="1"/>
          </p:cNvSpPr>
          <p:nvPr>
            <p:ph type="title" idx="4294967295"/>
          </p:nvPr>
        </p:nvSpPr>
        <p:spPr>
          <a:xfrm>
            <a:off x="755650" y="476250"/>
            <a:ext cx="7773988" cy="1143000"/>
          </a:xfrm>
          <a:ln/>
        </p:spPr>
        <p:txBody>
          <a:bodyPr vert="horz" wrap="square" anchor="ctr" anchorCtr="0"/>
          <a:p>
            <a:pPr eaLnBrk="1" hangingPunct="1"/>
            <a:r>
              <a:rPr lang="zh-TW" altLang="en-US" dirty="0">
                <a:solidFill>
                  <a:srgbClr val="FF3300"/>
                </a:solidFill>
              </a:rPr>
              <a:t>需求分析</a:t>
            </a:r>
            <a:endParaRPr lang="zh-TW" altLang="en-US" dirty="0">
              <a:solidFill>
                <a:srgbClr val="FF33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3010">
                                            <p:txEl>
                                              <p:charRg st="1" end="11"/>
                                            </p:txEl>
                                          </p:spTgt>
                                        </p:tgtEl>
                                        <p:attrNameLst>
                                          <p:attrName>style.visibility</p:attrName>
                                        </p:attrNameLst>
                                      </p:cBhvr>
                                      <p:to>
                                        <p:strVal val="visible"/>
                                      </p:to>
                                    </p:set>
                                    <p:animEffect transition="in" filter="blinds(horizontal)">
                                      <p:cBhvr>
                                        <p:cTn id="7" dur="500"/>
                                        <p:tgtEl>
                                          <p:spTgt spid="43010">
                                            <p:txEl>
                                              <p:charRg st="1" end="1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3010">
                                            <p:txEl>
                                              <p:charRg st="11" end="22"/>
                                            </p:txEl>
                                          </p:spTgt>
                                        </p:tgtEl>
                                        <p:attrNameLst>
                                          <p:attrName>style.visibility</p:attrName>
                                        </p:attrNameLst>
                                      </p:cBhvr>
                                      <p:to>
                                        <p:strVal val="visible"/>
                                      </p:to>
                                    </p:set>
                                    <p:animEffect transition="in" filter="blinds(horizontal)">
                                      <p:cBhvr>
                                        <p:cTn id="10" dur="500"/>
                                        <p:tgtEl>
                                          <p:spTgt spid="43010">
                                            <p:txEl>
                                              <p:charRg st="11" end="2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3010">
                                            <p:txEl>
                                              <p:charRg st="22" end="39"/>
                                            </p:txEl>
                                          </p:spTgt>
                                        </p:tgtEl>
                                        <p:attrNameLst>
                                          <p:attrName>style.visibility</p:attrName>
                                        </p:attrNameLst>
                                      </p:cBhvr>
                                      <p:to>
                                        <p:strVal val="visible"/>
                                      </p:to>
                                    </p:set>
                                    <p:animEffect transition="in" filter="blinds(horizontal)">
                                      <p:cBhvr>
                                        <p:cTn id="13" dur="500"/>
                                        <p:tgtEl>
                                          <p:spTgt spid="43010">
                                            <p:txEl>
                                              <p:charRg st="22" end="3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Rectangle 2"/>
          <p:cNvSpPr>
            <a:spLocks noGrp="1"/>
          </p:cNvSpPr>
          <p:nvPr>
            <p:ph type="title" idx="4294967295"/>
          </p:nvPr>
        </p:nvSpPr>
        <p:spPr>
          <a:xfrm>
            <a:off x="684213" y="404813"/>
            <a:ext cx="7773987" cy="1143000"/>
          </a:xfrm>
          <a:ln/>
        </p:spPr>
        <p:txBody>
          <a:bodyPr vert="horz" wrap="square" anchor="ctr" anchorCtr="0"/>
          <a:p>
            <a:pPr eaLnBrk="1" hangingPunct="1"/>
            <a:r>
              <a:rPr lang="zh-TW" altLang="en-US" dirty="0">
                <a:solidFill>
                  <a:srgbClr val="000066"/>
                </a:solidFill>
              </a:rPr>
              <a:t>需求激发方法</a:t>
            </a:r>
            <a:endParaRPr lang="zh-TW" altLang="en-US" dirty="0">
              <a:solidFill>
                <a:srgbClr val="000066"/>
              </a:solidFill>
            </a:endParaRPr>
          </a:p>
        </p:txBody>
      </p:sp>
      <p:sp>
        <p:nvSpPr>
          <p:cNvPr id="45059" name="Rectangle 3"/>
          <p:cNvSpPr>
            <a:spLocks noGrp="1"/>
          </p:cNvSpPr>
          <p:nvPr>
            <p:ph type="body" idx="4294967295"/>
          </p:nvPr>
        </p:nvSpPr>
        <p:spPr>
          <a:xfrm>
            <a:off x="900113" y="1412875"/>
            <a:ext cx="7773987" cy="4464050"/>
          </a:xfrm>
          <a:ln/>
        </p:spPr>
        <p:txBody>
          <a:bodyPr vert="horz" wrap="square" anchor="t" anchorCtr="0"/>
          <a:p>
            <a:pPr eaLnBrk="1" hangingPunct="1">
              <a:buNone/>
            </a:pPr>
            <a:r>
              <a:rPr lang="zh-CN" altLang="en-US" sz="2400" dirty="0">
                <a:solidFill>
                  <a:srgbClr val="000066"/>
                </a:solidFill>
              </a:rPr>
              <a:t>危机行销法</a:t>
            </a:r>
            <a:endParaRPr lang="zh-CN" altLang="en-US" sz="2400" dirty="0">
              <a:solidFill>
                <a:srgbClr val="000066"/>
              </a:solidFill>
            </a:endParaRPr>
          </a:p>
          <a:p>
            <a:pPr eaLnBrk="1" hangingPunct="1"/>
            <a:r>
              <a:rPr lang="zh-CN" altLang="en-US" sz="2400" dirty="0"/>
              <a:t> </a:t>
            </a:r>
            <a:r>
              <a:rPr lang="zh-CN" altLang="en-US" sz="2400" dirty="0">
                <a:latin typeface="楷体_GB2312" pitchFamily="49" charset="-122"/>
                <a:ea typeface="楷体_GB2312" pitchFamily="49" charset="-122"/>
              </a:rPr>
              <a:t>你现在在外面出差，突然有急事需要</a:t>
            </a:r>
            <a:r>
              <a:rPr lang="en-US" altLang="zh-CN" sz="2400" dirty="0">
                <a:latin typeface="楷体_GB2312" pitchFamily="49" charset="-122"/>
                <a:ea typeface="楷体_GB2312" pitchFamily="49" charset="-122"/>
              </a:rPr>
              <a:t>2000</a:t>
            </a:r>
            <a:r>
              <a:rPr lang="zh-CN" altLang="en-US" sz="2400" dirty="0">
                <a:latin typeface="楷体_GB2312" pitchFamily="49" charset="-122"/>
                <a:ea typeface="楷体_GB2312" pitchFamily="49" charset="-122"/>
              </a:rPr>
              <a:t>元钱，你会怎么办？</a:t>
            </a:r>
            <a:endParaRPr lang="zh-CN" altLang="en-US" sz="2400" dirty="0">
              <a:latin typeface="楷体_GB2312" pitchFamily="49" charset="-122"/>
              <a:ea typeface="楷体_GB2312" pitchFamily="49" charset="-122"/>
            </a:endParaRPr>
          </a:p>
          <a:p>
            <a:pPr eaLnBrk="1" hangingPunct="1"/>
            <a:endParaRPr lang="zh-CN" altLang="en-US" sz="1200" dirty="0">
              <a:latin typeface="楷体_GB2312" pitchFamily="49" charset="-122"/>
              <a:ea typeface="楷体_GB2312" pitchFamily="49" charset="-122"/>
            </a:endParaRPr>
          </a:p>
          <a:p>
            <a:pPr eaLnBrk="1" hangingPunct="1">
              <a:buNone/>
            </a:pPr>
            <a:r>
              <a:rPr lang="zh-CN" altLang="en-US" sz="2400" dirty="0">
                <a:solidFill>
                  <a:srgbClr val="000066"/>
                </a:solidFill>
              </a:rPr>
              <a:t>催眠行销法</a:t>
            </a:r>
            <a:endParaRPr lang="zh-CN" altLang="en-US" sz="2400" dirty="0">
              <a:solidFill>
                <a:srgbClr val="000066"/>
              </a:solidFill>
            </a:endParaRPr>
          </a:p>
          <a:p>
            <a:pPr eaLnBrk="1" hangingPunct="1"/>
            <a:r>
              <a:rPr lang="zh-CN" altLang="en-US" sz="2400" dirty="0">
                <a:ea typeface="楷体_GB2312" pitchFamily="49" charset="-122"/>
              </a:rPr>
              <a:t>你现在办一张信用卡，就可以分期付款买一台笔记本电脑了，就不用晚上去挤网吧，又可以省钱</a:t>
            </a:r>
            <a:r>
              <a:rPr lang="en-US" altLang="zh-CN" sz="2400" dirty="0">
                <a:latin typeface="华文中宋" panose="02010600040101010101" pitchFamily="2" charset="-122"/>
                <a:ea typeface="楷体_GB2312" pitchFamily="49" charset="-122"/>
              </a:rPr>
              <a:t>……</a:t>
            </a:r>
            <a:endParaRPr lang="en-US" altLang="zh-CN" sz="2400" dirty="0">
              <a:ea typeface="楷体_GB2312" pitchFamily="49" charset="-122"/>
            </a:endParaRPr>
          </a:p>
          <a:p>
            <a:pPr eaLnBrk="1" hangingPunct="1">
              <a:buNone/>
            </a:pPr>
            <a:endParaRPr lang="en-US" altLang="zh-CN" sz="1200" dirty="0">
              <a:ea typeface="楷体_GB2312" pitchFamily="49" charset="-122"/>
            </a:endParaRPr>
          </a:p>
          <a:p>
            <a:pPr eaLnBrk="1" hangingPunct="1">
              <a:buNone/>
            </a:pPr>
            <a:r>
              <a:rPr lang="zh-CN" altLang="en-US" sz="2400" dirty="0">
                <a:solidFill>
                  <a:srgbClr val="000066"/>
                </a:solidFill>
              </a:rPr>
              <a:t>故事</a:t>
            </a:r>
            <a:r>
              <a:rPr lang="en-US" altLang="zh-CN" sz="2400" dirty="0">
                <a:solidFill>
                  <a:srgbClr val="000066"/>
                </a:solidFill>
              </a:rPr>
              <a:t>/</a:t>
            </a:r>
            <a:r>
              <a:rPr lang="zh-CN" altLang="en-US" sz="2400" dirty="0">
                <a:solidFill>
                  <a:srgbClr val="000066"/>
                </a:solidFill>
              </a:rPr>
              <a:t>案例行销法</a:t>
            </a:r>
            <a:endParaRPr lang="en-US" altLang="zh-CN" sz="2400" dirty="0"/>
          </a:p>
          <a:p>
            <a:pPr eaLnBrk="1" hangingPunct="1"/>
            <a:r>
              <a:rPr lang="zh-CN" altLang="en-US" sz="2400" dirty="0">
                <a:ea typeface="楷体_GB2312" pitchFamily="49" charset="-122"/>
              </a:rPr>
              <a:t>某人当年依靠信用卡的资金周转度过职业空档期</a:t>
            </a:r>
            <a:r>
              <a:rPr lang="en-US" altLang="zh-CN" sz="2400" dirty="0">
                <a:latin typeface="华文中宋" panose="02010600040101010101" pitchFamily="2" charset="-122"/>
                <a:ea typeface="楷体_GB2312" pitchFamily="49" charset="-122"/>
              </a:rPr>
              <a:t>……</a:t>
            </a:r>
            <a:endParaRPr lang="zh-CN" altLang="en-US" sz="2400" dirty="0">
              <a:ea typeface="楷体_GB2312" pitchFamily="49" charset="-122"/>
            </a:endParaRPr>
          </a:p>
          <a:p>
            <a:pPr eaLnBrk="1" hangingPunct="1">
              <a:buNone/>
            </a:pPr>
            <a:endParaRPr lang="zh-CN" altLang="en-US" sz="2400" dirty="0"/>
          </a:p>
        </p:txBody>
      </p:sp>
      <p:pic>
        <p:nvPicPr>
          <p:cNvPr id="45060" name="Picture 4" descr="MCj02317740000[1]"/>
          <p:cNvPicPr>
            <a:picLocks noChangeAspect="1"/>
          </p:cNvPicPr>
          <p:nvPr/>
        </p:nvPicPr>
        <p:blipFill>
          <a:blip r:embed="rId1"/>
          <a:stretch>
            <a:fillRect/>
          </a:stretch>
        </p:blipFill>
        <p:spPr>
          <a:xfrm>
            <a:off x="6516688" y="5229225"/>
            <a:ext cx="1992312" cy="947738"/>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5059">
                                            <p:txEl>
                                              <p:charRg st="0" end="6"/>
                                            </p:txEl>
                                          </p:spTgt>
                                        </p:tgtEl>
                                        <p:attrNameLst>
                                          <p:attrName>style.visibility</p:attrName>
                                        </p:attrNameLst>
                                      </p:cBhvr>
                                      <p:to>
                                        <p:strVal val="visible"/>
                                      </p:to>
                                    </p:set>
                                    <p:animEffect transition="in" filter="blinds(horizontal)">
                                      <p:cBhvr>
                                        <p:cTn id="7" dur="500"/>
                                        <p:tgtEl>
                                          <p:spTgt spid="45059">
                                            <p:txEl>
                                              <p:charRg st="0" end="6"/>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5059">
                                            <p:txEl>
                                              <p:charRg st="6" end="37"/>
                                            </p:txEl>
                                          </p:spTgt>
                                        </p:tgtEl>
                                        <p:attrNameLst>
                                          <p:attrName>style.visibility</p:attrName>
                                        </p:attrNameLst>
                                      </p:cBhvr>
                                      <p:to>
                                        <p:strVal val="visible"/>
                                      </p:to>
                                    </p:set>
                                    <p:animEffect transition="in" filter="blinds(horizontal)">
                                      <p:cBhvr>
                                        <p:cTn id="10" dur="500"/>
                                        <p:tgtEl>
                                          <p:spTgt spid="45059">
                                            <p:txEl>
                                              <p:charRg st="6" end="37"/>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45059">
                                            <p:txEl>
                                              <p:charRg st="38" end="44"/>
                                            </p:txEl>
                                          </p:spTgt>
                                        </p:tgtEl>
                                        <p:attrNameLst>
                                          <p:attrName>style.visibility</p:attrName>
                                        </p:attrNameLst>
                                      </p:cBhvr>
                                      <p:to>
                                        <p:strVal val="visible"/>
                                      </p:to>
                                    </p:set>
                                    <p:animEffect transition="in" filter="blinds(horizontal)">
                                      <p:cBhvr>
                                        <p:cTn id="15" dur="500"/>
                                        <p:tgtEl>
                                          <p:spTgt spid="45059">
                                            <p:txEl>
                                              <p:charRg st="38" end="44"/>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45059">
                                            <p:txEl>
                                              <p:charRg st="44" end="89"/>
                                            </p:txEl>
                                          </p:spTgt>
                                        </p:tgtEl>
                                        <p:attrNameLst>
                                          <p:attrName>style.visibility</p:attrName>
                                        </p:attrNameLst>
                                      </p:cBhvr>
                                      <p:to>
                                        <p:strVal val="visible"/>
                                      </p:to>
                                    </p:set>
                                    <p:animEffect transition="in" filter="blinds(horizontal)">
                                      <p:cBhvr>
                                        <p:cTn id="18" dur="500"/>
                                        <p:tgtEl>
                                          <p:spTgt spid="45059">
                                            <p:txEl>
                                              <p:charRg st="44" end="89"/>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45059">
                                            <p:txEl>
                                              <p:charRg st="90" end="99"/>
                                            </p:txEl>
                                          </p:spTgt>
                                        </p:tgtEl>
                                        <p:attrNameLst>
                                          <p:attrName>style.visibility</p:attrName>
                                        </p:attrNameLst>
                                      </p:cBhvr>
                                      <p:to>
                                        <p:strVal val="visible"/>
                                      </p:to>
                                    </p:set>
                                    <p:animEffect transition="in" filter="blinds(horizontal)">
                                      <p:cBhvr>
                                        <p:cTn id="23" dur="500"/>
                                        <p:tgtEl>
                                          <p:spTgt spid="45059">
                                            <p:txEl>
                                              <p:charRg st="90" end="99"/>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45059">
                                            <p:txEl>
                                              <p:charRg st="99" end="123"/>
                                            </p:txEl>
                                          </p:spTgt>
                                        </p:tgtEl>
                                        <p:attrNameLst>
                                          <p:attrName>style.visibility</p:attrName>
                                        </p:attrNameLst>
                                      </p:cBhvr>
                                      <p:to>
                                        <p:strVal val="visible"/>
                                      </p:to>
                                    </p:set>
                                    <p:animEffect transition="in" filter="blinds(horizontal)">
                                      <p:cBhvr>
                                        <p:cTn id="26" dur="500"/>
                                        <p:tgtEl>
                                          <p:spTgt spid="45059">
                                            <p:txEl>
                                              <p:charRg st="99" end="12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Rectangle 2"/>
          <p:cNvSpPr>
            <a:spLocks noGrp="1"/>
          </p:cNvSpPr>
          <p:nvPr>
            <p:ph type="title" idx="4294967295"/>
          </p:nvPr>
        </p:nvSpPr>
        <p:spPr>
          <a:xfrm>
            <a:off x="684213" y="692150"/>
            <a:ext cx="7773987" cy="504825"/>
          </a:xfrm>
          <a:ln/>
        </p:spPr>
        <p:txBody>
          <a:bodyPr vert="horz" wrap="square" anchor="ctr" anchorCtr="0"/>
          <a:p>
            <a:pPr eaLnBrk="1" hangingPunct="1"/>
            <a:r>
              <a:rPr lang="zh-TW" altLang="en-US" dirty="0">
                <a:solidFill>
                  <a:srgbClr val="000066"/>
                </a:solidFill>
              </a:rPr>
              <a:t>提问的技巧</a:t>
            </a:r>
            <a:endParaRPr lang="zh-TW" altLang="en-US" dirty="0">
              <a:solidFill>
                <a:srgbClr val="000066"/>
              </a:solidFill>
            </a:endParaRPr>
          </a:p>
        </p:txBody>
      </p:sp>
      <p:sp>
        <p:nvSpPr>
          <p:cNvPr id="47107" name="Rectangle 3"/>
          <p:cNvSpPr>
            <a:spLocks noGrp="1"/>
          </p:cNvSpPr>
          <p:nvPr>
            <p:ph type="body" idx="4294967295"/>
          </p:nvPr>
        </p:nvSpPr>
        <p:spPr>
          <a:xfrm>
            <a:off x="539750" y="1557338"/>
            <a:ext cx="7773988" cy="4032250"/>
          </a:xfrm>
          <a:ln/>
        </p:spPr>
        <p:txBody>
          <a:bodyPr vert="horz" wrap="square" anchor="t" anchorCtr="0"/>
          <a:p>
            <a:pPr eaLnBrk="1" hangingPunct="1">
              <a:lnSpc>
                <a:spcPct val="90000"/>
              </a:lnSpc>
              <a:buNone/>
            </a:pPr>
            <a:r>
              <a:rPr lang="zh-CN" altLang="en-US" sz="2400" dirty="0">
                <a:solidFill>
                  <a:srgbClr val="000066"/>
                </a:solidFill>
                <a:latin typeface="华文中宋" panose="02010600040101010101" pitchFamily="2" charset="-122"/>
              </a:rPr>
              <a:t>封闭式提问</a:t>
            </a:r>
            <a:endParaRPr lang="zh-CN" altLang="en-US" sz="2400" dirty="0">
              <a:solidFill>
                <a:srgbClr val="000066"/>
              </a:solidFill>
              <a:latin typeface="华文中宋" panose="02010600040101010101" pitchFamily="2" charset="-122"/>
            </a:endParaRPr>
          </a:p>
          <a:p>
            <a:pPr eaLnBrk="1" hangingPunct="1">
              <a:lnSpc>
                <a:spcPct val="90000"/>
              </a:lnSpc>
            </a:pPr>
            <a:r>
              <a:rPr lang="zh-CN" altLang="en-US" sz="2400" dirty="0">
                <a:latin typeface="楷体_GB2312" pitchFamily="49" charset="-122"/>
                <a:ea typeface="楷体_GB2312" pitchFamily="49" charset="-122"/>
              </a:rPr>
              <a:t>您有没有办过信用卡？</a:t>
            </a:r>
            <a:endParaRPr lang="zh-CN" altLang="en-US" sz="2400" dirty="0">
              <a:latin typeface="楷体_GB2312" pitchFamily="49" charset="-122"/>
              <a:ea typeface="楷体_GB2312" pitchFamily="49" charset="-122"/>
            </a:endParaRPr>
          </a:p>
          <a:p>
            <a:pPr eaLnBrk="1" hangingPunct="1">
              <a:lnSpc>
                <a:spcPct val="90000"/>
              </a:lnSpc>
              <a:buNone/>
            </a:pPr>
            <a:endParaRPr lang="zh-CN" altLang="en-US" sz="1400" dirty="0">
              <a:latin typeface="楷体_GB2312" pitchFamily="49" charset="-122"/>
              <a:ea typeface="楷体_GB2312" pitchFamily="49" charset="-122"/>
            </a:endParaRPr>
          </a:p>
          <a:p>
            <a:pPr eaLnBrk="1" hangingPunct="1">
              <a:lnSpc>
                <a:spcPct val="90000"/>
              </a:lnSpc>
              <a:buNone/>
            </a:pPr>
            <a:r>
              <a:rPr lang="zh-CN" altLang="en-US" sz="2400" dirty="0">
                <a:solidFill>
                  <a:srgbClr val="000066"/>
                </a:solidFill>
                <a:latin typeface="华文中宋" panose="02010600040101010101" pitchFamily="2" charset="-122"/>
              </a:rPr>
              <a:t>开放式问题</a:t>
            </a:r>
            <a:endParaRPr lang="zh-CN" altLang="en-US" sz="2400" dirty="0">
              <a:solidFill>
                <a:srgbClr val="000066"/>
              </a:solidFill>
              <a:latin typeface="华文中宋" panose="02010600040101010101" pitchFamily="2" charset="-122"/>
            </a:endParaRPr>
          </a:p>
          <a:p>
            <a:pPr eaLnBrk="1" hangingPunct="1">
              <a:lnSpc>
                <a:spcPct val="90000"/>
              </a:lnSpc>
            </a:pPr>
            <a:r>
              <a:rPr lang="zh-CN" altLang="en-US" sz="2400" dirty="0">
                <a:latin typeface="楷体_GB2312" pitchFamily="49" charset="-122"/>
                <a:ea typeface="楷体_GB2312" pitchFamily="49" charset="-122"/>
              </a:rPr>
              <a:t>是什么原因让你不想用信用卡呢？</a:t>
            </a:r>
            <a:endParaRPr lang="zh-CN" altLang="en-US" sz="2400" dirty="0">
              <a:latin typeface="楷体_GB2312" pitchFamily="49" charset="-122"/>
              <a:ea typeface="楷体_GB2312" pitchFamily="49" charset="-122"/>
            </a:endParaRPr>
          </a:p>
          <a:p>
            <a:pPr eaLnBrk="1" hangingPunct="1">
              <a:lnSpc>
                <a:spcPct val="90000"/>
              </a:lnSpc>
              <a:buNone/>
            </a:pPr>
            <a:endParaRPr lang="zh-CN" altLang="en-US" sz="1200" dirty="0">
              <a:latin typeface="楷体_GB2312" pitchFamily="49" charset="-122"/>
              <a:ea typeface="楷体_GB2312" pitchFamily="49" charset="-122"/>
            </a:endParaRPr>
          </a:p>
          <a:p>
            <a:pPr eaLnBrk="1" hangingPunct="1">
              <a:lnSpc>
                <a:spcPct val="90000"/>
              </a:lnSpc>
              <a:buNone/>
            </a:pPr>
            <a:r>
              <a:rPr lang="zh-CN" altLang="en-US" sz="2400" dirty="0">
                <a:solidFill>
                  <a:srgbClr val="000066"/>
                </a:solidFill>
                <a:latin typeface="华文中宋" panose="02010600040101010101" pitchFamily="2" charset="-122"/>
              </a:rPr>
              <a:t>引导性问题</a:t>
            </a:r>
            <a:endParaRPr lang="zh-CN" altLang="en-US" sz="2400" dirty="0">
              <a:solidFill>
                <a:srgbClr val="000066"/>
              </a:solidFill>
              <a:latin typeface="华文中宋" panose="02010600040101010101" pitchFamily="2" charset="-122"/>
            </a:endParaRPr>
          </a:p>
          <a:p>
            <a:pPr eaLnBrk="1" hangingPunct="1">
              <a:lnSpc>
                <a:spcPct val="90000"/>
              </a:lnSpc>
            </a:pPr>
            <a:r>
              <a:rPr lang="zh-CN" altLang="en-US" sz="2400" dirty="0">
                <a:latin typeface="楷体_GB2312" pitchFamily="49" charset="-122"/>
                <a:ea typeface="楷体_GB2312" pitchFamily="49" charset="-122"/>
              </a:rPr>
              <a:t>如果现在急需要</a:t>
            </a:r>
            <a:r>
              <a:rPr lang="en-US" altLang="zh-CN" sz="2400" dirty="0">
                <a:latin typeface="楷体_GB2312" pitchFamily="49" charset="-122"/>
                <a:ea typeface="楷体_GB2312" pitchFamily="49" charset="-122"/>
              </a:rPr>
              <a:t>2000</a:t>
            </a:r>
            <a:r>
              <a:rPr lang="zh-CN" altLang="en-US" sz="2400" dirty="0">
                <a:latin typeface="楷体_GB2312" pitchFamily="49" charset="-122"/>
                <a:ea typeface="楷体_GB2312" pitchFamily="49" charset="-122"/>
              </a:rPr>
              <a:t>元钱，你会怎么办？</a:t>
            </a:r>
            <a:endParaRPr lang="zh-CN" altLang="en-US" sz="2400" dirty="0">
              <a:latin typeface="楷体_GB2312" pitchFamily="49" charset="-122"/>
              <a:ea typeface="楷体_GB2312" pitchFamily="49" charset="-122"/>
            </a:endParaRPr>
          </a:p>
          <a:p>
            <a:pPr eaLnBrk="1" hangingPunct="1">
              <a:lnSpc>
                <a:spcPct val="90000"/>
              </a:lnSpc>
            </a:pPr>
            <a:endParaRPr lang="zh-CN" altLang="en-US" sz="1200" dirty="0">
              <a:latin typeface="楷体_GB2312" pitchFamily="49" charset="-122"/>
              <a:ea typeface="楷体_GB2312" pitchFamily="49" charset="-122"/>
            </a:endParaRPr>
          </a:p>
          <a:p>
            <a:pPr eaLnBrk="1" hangingPunct="1">
              <a:lnSpc>
                <a:spcPct val="90000"/>
              </a:lnSpc>
              <a:buNone/>
            </a:pPr>
            <a:r>
              <a:rPr lang="zh-CN" altLang="en-US" sz="2400" dirty="0">
                <a:solidFill>
                  <a:srgbClr val="000066"/>
                </a:solidFill>
                <a:latin typeface="华文中宋" panose="02010600040101010101" pitchFamily="2" charset="-122"/>
              </a:rPr>
              <a:t>反问</a:t>
            </a:r>
            <a:endParaRPr lang="zh-CN" altLang="en-US" sz="2400" dirty="0">
              <a:solidFill>
                <a:srgbClr val="000066"/>
              </a:solidFill>
              <a:latin typeface="华文中宋" panose="02010600040101010101" pitchFamily="2" charset="-122"/>
            </a:endParaRPr>
          </a:p>
          <a:p>
            <a:pPr eaLnBrk="1" hangingPunct="1">
              <a:lnSpc>
                <a:spcPct val="90000"/>
              </a:lnSpc>
            </a:pPr>
            <a:r>
              <a:rPr lang="zh-CN" altLang="en-US" sz="2400" dirty="0">
                <a:latin typeface="华文中宋" panose="02010600040101010101" pitchFamily="2" charset="-122"/>
                <a:ea typeface="楷体_GB2312" pitchFamily="49" charset="-122"/>
              </a:rPr>
              <a:t>你觉得多少额度会比较适合？</a:t>
            </a:r>
            <a:endParaRPr lang="zh-CN" altLang="en-US" dirty="0">
              <a:ea typeface="楷体_GB2312" pitchFamily="49" charset="-122"/>
            </a:endParaRPr>
          </a:p>
        </p:txBody>
      </p:sp>
      <p:pic>
        <p:nvPicPr>
          <p:cNvPr id="47108" name="Picture 4" descr="MCj02317740000[1]"/>
          <p:cNvPicPr>
            <a:picLocks noChangeAspect="1"/>
          </p:cNvPicPr>
          <p:nvPr/>
        </p:nvPicPr>
        <p:blipFill>
          <a:blip r:embed="rId1"/>
          <a:stretch>
            <a:fillRect/>
          </a:stretch>
        </p:blipFill>
        <p:spPr>
          <a:xfrm>
            <a:off x="6516688" y="5229225"/>
            <a:ext cx="1992312" cy="947738"/>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7107">
                                            <p:txEl>
                                              <p:charRg st="0" end="6"/>
                                            </p:txEl>
                                          </p:spTgt>
                                        </p:tgtEl>
                                        <p:attrNameLst>
                                          <p:attrName>style.visibility</p:attrName>
                                        </p:attrNameLst>
                                      </p:cBhvr>
                                      <p:to>
                                        <p:strVal val="visible"/>
                                      </p:to>
                                    </p:set>
                                    <p:animEffect transition="in" filter="blinds(horizontal)">
                                      <p:cBhvr>
                                        <p:cTn id="7" dur="500"/>
                                        <p:tgtEl>
                                          <p:spTgt spid="47107">
                                            <p:txEl>
                                              <p:charRg st="0" end="6"/>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7107">
                                            <p:txEl>
                                              <p:charRg st="6" end="17"/>
                                            </p:txEl>
                                          </p:spTgt>
                                        </p:tgtEl>
                                        <p:attrNameLst>
                                          <p:attrName>style.visibility</p:attrName>
                                        </p:attrNameLst>
                                      </p:cBhvr>
                                      <p:to>
                                        <p:strVal val="visible"/>
                                      </p:to>
                                    </p:set>
                                    <p:animEffect transition="in" filter="blinds(horizontal)">
                                      <p:cBhvr>
                                        <p:cTn id="10" dur="500"/>
                                        <p:tgtEl>
                                          <p:spTgt spid="47107">
                                            <p:txEl>
                                              <p:charRg st="6" end="17"/>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47107">
                                            <p:txEl>
                                              <p:charRg st="18" end="24"/>
                                            </p:txEl>
                                          </p:spTgt>
                                        </p:tgtEl>
                                        <p:attrNameLst>
                                          <p:attrName>style.visibility</p:attrName>
                                        </p:attrNameLst>
                                      </p:cBhvr>
                                      <p:to>
                                        <p:strVal val="visible"/>
                                      </p:to>
                                    </p:set>
                                    <p:animEffect transition="in" filter="blinds(horizontal)">
                                      <p:cBhvr>
                                        <p:cTn id="15" dur="500"/>
                                        <p:tgtEl>
                                          <p:spTgt spid="47107">
                                            <p:txEl>
                                              <p:charRg st="18" end="24"/>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47107">
                                            <p:txEl>
                                              <p:charRg st="24" end="40"/>
                                            </p:txEl>
                                          </p:spTgt>
                                        </p:tgtEl>
                                        <p:attrNameLst>
                                          <p:attrName>style.visibility</p:attrName>
                                        </p:attrNameLst>
                                      </p:cBhvr>
                                      <p:to>
                                        <p:strVal val="visible"/>
                                      </p:to>
                                    </p:set>
                                    <p:animEffect transition="in" filter="blinds(horizontal)">
                                      <p:cBhvr>
                                        <p:cTn id="18" dur="500"/>
                                        <p:tgtEl>
                                          <p:spTgt spid="47107">
                                            <p:txEl>
                                              <p:charRg st="24" end="4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47107">
                                            <p:txEl>
                                              <p:charRg st="41" end="47"/>
                                            </p:txEl>
                                          </p:spTgt>
                                        </p:tgtEl>
                                        <p:attrNameLst>
                                          <p:attrName>style.visibility</p:attrName>
                                        </p:attrNameLst>
                                      </p:cBhvr>
                                      <p:to>
                                        <p:strVal val="visible"/>
                                      </p:to>
                                    </p:set>
                                    <p:animEffect transition="in" filter="blinds(horizontal)">
                                      <p:cBhvr>
                                        <p:cTn id="23" dur="500"/>
                                        <p:tgtEl>
                                          <p:spTgt spid="47107">
                                            <p:txEl>
                                              <p:charRg st="41" end="47"/>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47107">
                                            <p:txEl>
                                              <p:charRg st="47" end="68"/>
                                            </p:txEl>
                                          </p:spTgt>
                                        </p:tgtEl>
                                        <p:attrNameLst>
                                          <p:attrName>style.visibility</p:attrName>
                                        </p:attrNameLst>
                                      </p:cBhvr>
                                      <p:to>
                                        <p:strVal val="visible"/>
                                      </p:to>
                                    </p:set>
                                    <p:animEffect transition="in" filter="blinds(horizontal)">
                                      <p:cBhvr>
                                        <p:cTn id="26" dur="500"/>
                                        <p:tgtEl>
                                          <p:spTgt spid="47107">
                                            <p:txEl>
                                              <p:charRg st="47" end="68"/>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47107">
                                            <p:txEl>
                                              <p:charRg st="69" end="72"/>
                                            </p:txEl>
                                          </p:spTgt>
                                        </p:tgtEl>
                                        <p:attrNameLst>
                                          <p:attrName>style.visibility</p:attrName>
                                        </p:attrNameLst>
                                      </p:cBhvr>
                                      <p:to>
                                        <p:strVal val="visible"/>
                                      </p:to>
                                    </p:set>
                                    <p:animEffect transition="in" filter="blinds(horizontal)">
                                      <p:cBhvr>
                                        <p:cTn id="31" dur="500"/>
                                        <p:tgtEl>
                                          <p:spTgt spid="47107">
                                            <p:txEl>
                                              <p:charRg st="69" end="72"/>
                                            </p:txEl>
                                          </p:spTgt>
                                        </p:tgtEl>
                                      </p:cBhvr>
                                    </p:animEffect>
                                  </p:childTnLst>
                                </p:cTn>
                              </p:par>
                              <p:par>
                                <p:cTn id="32" presetID="3" presetClass="entr" presetSubtype="10" fill="hold" nodeType="withEffect">
                                  <p:stCondLst>
                                    <p:cond delay="0"/>
                                  </p:stCondLst>
                                  <p:childTnLst>
                                    <p:set>
                                      <p:cBhvr>
                                        <p:cTn id="33" dur="1" fill="hold">
                                          <p:stCondLst>
                                            <p:cond delay="0"/>
                                          </p:stCondLst>
                                        </p:cTn>
                                        <p:tgtEl>
                                          <p:spTgt spid="47107">
                                            <p:txEl>
                                              <p:charRg st="72" end="86"/>
                                            </p:txEl>
                                          </p:spTgt>
                                        </p:tgtEl>
                                        <p:attrNameLst>
                                          <p:attrName>style.visibility</p:attrName>
                                        </p:attrNameLst>
                                      </p:cBhvr>
                                      <p:to>
                                        <p:strVal val="visible"/>
                                      </p:to>
                                    </p:set>
                                    <p:animEffect transition="in" filter="blinds(horizontal)">
                                      <p:cBhvr>
                                        <p:cTn id="34" dur="500"/>
                                        <p:tgtEl>
                                          <p:spTgt spid="47107">
                                            <p:txEl>
                                              <p:charRg st="72" end="8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Rectangle 2"/>
          <p:cNvSpPr>
            <a:spLocks noGrp="1"/>
          </p:cNvSpPr>
          <p:nvPr>
            <p:ph type="title" idx="4294967295"/>
          </p:nvPr>
        </p:nvSpPr>
        <p:spPr>
          <a:ln/>
        </p:spPr>
        <p:txBody>
          <a:bodyPr vert="horz" wrap="square" anchor="ctr" anchorCtr="0"/>
          <a:p>
            <a:pPr eaLnBrk="1" hangingPunct="1"/>
            <a:r>
              <a:rPr lang="zh-TW" altLang="en-US" dirty="0">
                <a:solidFill>
                  <a:srgbClr val="FF3300"/>
                </a:solidFill>
              </a:rPr>
              <a:t>需求分析的要点</a:t>
            </a:r>
            <a:endParaRPr lang="zh-TW" altLang="en-US" dirty="0">
              <a:solidFill>
                <a:srgbClr val="FF3300"/>
              </a:solidFill>
            </a:endParaRPr>
          </a:p>
        </p:txBody>
      </p:sp>
      <p:sp>
        <p:nvSpPr>
          <p:cNvPr id="49155" name="Rectangle 3"/>
          <p:cNvSpPr>
            <a:spLocks noGrp="1"/>
          </p:cNvSpPr>
          <p:nvPr>
            <p:ph type="body" idx="4294967295"/>
          </p:nvPr>
        </p:nvSpPr>
        <p:spPr>
          <a:xfrm>
            <a:off x="612775" y="1700213"/>
            <a:ext cx="4608513" cy="4114800"/>
          </a:xfrm>
          <a:ln/>
        </p:spPr>
        <p:txBody>
          <a:bodyPr vert="horz" wrap="square" anchor="t" anchorCtr="0"/>
          <a:p>
            <a:pPr eaLnBrk="1" hangingPunct="1"/>
            <a:endParaRPr lang="zh-CN" altLang="en-US" sz="2400" dirty="0"/>
          </a:p>
          <a:p>
            <a:pPr eaLnBrk="1" hangingPunct="1"/>
            <a:r>
              <a:rPr lang="zh-CN" altLang="en-US" sz="2400" dirty="0"/>
              <a:t>在需求分析之前给客户一个刺激作为需求分析的突破点</a:t>
            </a:r>
            <a:endParaRPr lang="zh-CN" altLang="en-US" sz="2400" dirty="0"/>
          </a:p>
          <a:p>
            <a:pPr eaLnBrk="1" hangingPunct="1">
              <a:buNone/>
            </a:pPr>
            <a:endParaRPr lang="zh-CN" altLang="en-US" sz="2400" dirty="0"/>
          </a:p>
          <a:p>
            <a:pPr eaLnBrk="1" hangingPunct="1"/>
            <a:r>
              <a:rPr lang="zh-CN" altLang="en-US" sz="2400" dirty="0"/>
              <a:t>利用提问或引导，在客户的需求和产品的卖点上找到交叉点</a:t>
            </a:r>
            <a:endParaRPr lang="zh-CN" altLang="en-US" sz="2400" dirty="0"/>
          </a:p>
          <a:p>
            <a:pPr eaLnBrk="1" hangingPunct="1"/>
            <a:endParaRPr lang="zh-CN" altLang="en-US" sz="2400" dirty="0"/>
          </a:p>
          <a:p>
            <a:pPr eaLnBrk="1" hangingPunct="1"/>
            <a:r>
              <a:rPr lang="zh-CN" altLang="en-US" sz="2400" dirty="0"/>
              <a:t>不要将客户的需求过于放大</a:t>
            </a:r>
            <a:endParaRPr lang="en-US" altLang="zh-CN" sz="2400" dirty="0"/>
          </a:p>
        </p:txBody>
      </p:sp>
      <p:pic>
        <p:nvPicPr>
          <p:cNvPr id="49156" name="Picture 4" descr="d013s"/>
          <p:cNvPicPr>
            <a:picLocks noChangeAspect="1"/>
          </p:cNvPicPr>
          <p:nvPr/>
        </p:nvPicPr>
        <p:blipFill>
          <a:blip r:embed="rId1"/>
          <a:stretch>
            <a:fillRect/>
          </a:stretch>
        </p:blipFill>
        <p:spPr>
          <a:xfrm>
            <a:off x="6300788" y="3357563"/>
            <a:ext cx="1604962" cy="22320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10" fill="hold" nodeType="afterEffect">
                                  <p:stCondLst>
                                    <p:cond delay="0"/>
                                  </p:stCondLst>
                                  <p:childTnLst>
                                    <p:set>
                                      <p:cBhvr>
                                        <p:cTn id="6" dur="1" fill="hold">
                                          <p:stCondLst>
                                            <p:cond delay="0"/>
                                          </p:stCondLst>
                                        </p:cTn>
                                        <p:tgtEl>
                                          <p:spTgt spid="49156"/>
                                        </p:tgtEl>
                                        <p:attrNameLst>
                                          <p:attrName>style.visibility</p:attrName>
                                        </p:attrNameLst>
                                      </p:cBhvr>
                                      <p:to>
                                        <p:strVal val="visible"/>
                                      </p:to>
                                    </p:set>
                                    <p:anim calcmode="lin" valueType="num">
                                      <p:cBhvr>
                                        <p:cTn id="7" dur="3000" fill="hold"/>
                                        <p:tgtEl>
                                          <p:spTgt spid="49156"/>
                                        </p:tgtEl>
                                        <p:attrNameLst>
                                          <p:attrName>ppt_w</p:attrName>
                                        </p:attrNameLst>
                                      </p:cBhvr>
                                      <p:tavLst>
                                        <p:tav tm="0" fmla="#ppt_w*sin(2.5*pi*$)">
                                          <p:val>
                                            <p:fltVal val="0.000000"/>
                                          </p:val>
                                        </p:tav>
                                        <p:tav tm="100000">
                                          <p:val>
                                            <p:fltVal val="1.000000"/>
                                          </p:val>
                                        </p:tav>
                                      </p:tavLst>
                                    </p:anim>
                                    <p:anim calcmode="lin" valueType="num">
                                      <p:cBhvr>
                                        <p:cTn id="8" dur="3000" fill="hold"/>
                                        <p:tgtEl>
                                          <p:spTgt spid="49156"/>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49155">
                                            <p:txEl>
                                              <p:charRg st="1" end="26"/>
                                            </p:txEl>
                                          </p:spTgt>
                                        </p:tgtEl>
                                        <p:attrNameLst>
                                          <p:attrName>style.visibility</p:attrName>
                                        </p:attrNameLst>
                                      </p:cBhvr>
                                      <p:to>
                                        <p:strVal val="visible"/>
                                      </p:to>
                                    </p:set>
                                    <p:animEffect transition="in" filter="blinds(horizontal)">
                                      <p:cBhvr>
                                        <p:cTn id="13" dur="500"/>
                                        <p:tgtEl>
                                          <p:spTgt spid="49155">
                                            <p:txEl>
                                              <p:charRg st="1" end="26"/>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49155">
                                            <p:txEl>
                                              <p:charRg st="27" end="54"/>
                                            </p:txEl>
                                          </p:spTgt>
                                        </p:tgtEl>
                                        <p:attrNameLst>
                                          <p:attrName>style.visibility</p:attrName>
                                        </p:attrNameLst>
                                      </p:cBhvr>
                                      <p:to>
                                        <p:strVal val="visible"/>
                                      </p:to>
                                    </p:set>
                                    <p:animEffect transition="in" filter="blinds(horizontal)">
                                      <p:cBhvr>
                                        <p:cTn id="18" dur="500"/>
                                        <p:tgtEl>
                                          <p:spTgt spid="49155">
                                            <p:txEl>
                                              <p:charRg st="27" end="5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49155">
                                            <p:txEl>
                                              <p:charRg st="55" end="68"/>
                                            </p:txEl>
                                          </p:spTgt>
                                        </p:tgtEl>
                                        <p:attrNameLst>
                                          <p:attrName>style.visibility</p:attrName>
                                        </p:attrNameLst>
                                      </p:cBhvr>
                                      <p:to>
                                        <p:strVal val="visible"/>
                                      </p:to>
                                    </p:set>
                                    <p:animEffect transition="in" filter="blinds(horizontal)">
                                      <p:cBhvr>
                                        <p:cTn id="23" dur="500"/>
                                        <p:tgtEl>
                                          <p:spTgt spid="49155">
                                            <p:txEl>
                                              <p:charRg st="55" end="6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1202" name="组合 51201"/>
          <p:cNvGrpSpPr/>
          <p:nvPr/>
        </p:nvGrpSpPr>
        <p:grpSpPr>
          <a:xfrm>
            <a:off x="881063" y="2565400"/>
            <a:ext cx="1858962" cy="935038"/>
            <a:chOff x="0" y="0"/>
            <a:chExt cx="1246" cy="576"/>
          </a:xfrm>
        </p:grpSpPr>
        <p:sp>
          <p:nvSpPr>
            <p:cNvPr id="51203" name="未知"/>
            <p:cNvSpPr/>
            <p:nvPr/>
          </p:nvSpPr>
          <p:spPr>
            <a:xfrm>
              <a:off x="0" y="0"/>
              <a:ext cx="1246" cy="576"/>
            </a:xfrm>
            <a:custGeom>
              <a:avLst/>
              <a:gdLst>
                <a:gd name="txL" fmla="*/ 0 w 1246"/>
                <a:gd name="txT" fmla="*/ 0 h 576"/>
                <a:gd name="txR" fmla="*/ 1246 w 1246"/>
                <a:gd name="txB" fmla="*/ 576 h 576"/>
              </a:gdLst>
              <a:ahLst/>
              <a:cxnLst>
                <a:cxn ang="0">
                  <a:pos x="0" y="0"/>
                </a:cxn>
                <a:cxn ang="0">
                  <a:pos x="1142" y="0"/>
                </a:cxn>
                <a:cxn ang="0">
                  <a:pos x="1246" y="288"/>
                </a:cxn>
                <a:cxn ang="0">
                  <a:pos x="1142" y="576"/>
                </a:cxn>
                <a:cxn ang="0">
                  <a:pos x="0" y="576"/>
                </a:cxn>
                <a:cxn ang="0">
                  <a:pos x="0" y="288"/>
                </a:cxn>
                <a:cxn ang="0">
                  <a:pos x="0" y="0"/>
                </a:cxn>
              </a:cxnLst>
              <a:rect l="txL" t="txT" r="txR" b="txB"/>
              <a:pathLst>
                <a:path w="1246" h="576">
                  <a:moveTo>
                    <a:pt x="0" y="0"/>
                  </a:moveTo>
                  <a:lnTo>
                    <a:pt x="1142" y="0"/>
                  </a:lnTo>
                  <a:lnTo>
                    <a:pt x="1246" y="288"/>
                  </a:lnTo>
                  <a:lnTo>
                    <a:pt x="1142" y="576"/>
                  </a:lnTo>
                  <a:lnTo>
                    <a:pt x="0" y="576"/>
                  </a:lnTo>
                  <a:lnTo>
                    <a:pt x="0" y="288"/>
                  </a:lnTo>
                  <a:lnTo>
                    <a:pt x="0" y="0"/>
                  </a:lnTo>
                  <a:close/>
                </a:path>
              </a:pathLst>
            </a:custGeom>
            <a:solidFill>
              <a:schemeClr val="accent1"/>
            </a:solidFill>
            <a:ln w="9525" cap="flat" cmpd="sng">
              <a:solidFill>
                <a:schemeClr val="tx1"/>
              </a:solidFill>
              <a:prstDash val="solid"/>
              <a:miter/>
              <a:headEnd type="none" w="med" len="med"/>
              <a:tailEnd type="none" w="med" len="med"/>
            </a:ln>
          </p:spPr>
          <p:txBody>
            <a:bodyPr wrap="none" lIns="45720" tIns="0" rIns="45720" bIns="0" anchor="ctr" anchorCtr="0">
              <a:spAutoFit/>
            </a:bodyPr>
            <a:p>
              <a:endParaRPr lang="zh-CN" altLang="en-US" dirty="0">
                <a:latin typeface="Frutiger 45 Light" pitchFamily="2" charset="0"/>
              </a:endParaRPr>
            </a:p>
          </p:txBody>
        </p:sp>
        <p:sp>
          <p:nvSpPr>
            <p:cNvPr id="51204" name="Rectangle 4"/>
            <p:cNvSpPr/>
            <p:nvPr/>
          </p:nvSpPr>
          <p:spPr>
            <a:xfrm>
              <a:off x="32" y="32"/>
              <a:ext cx="1110" cy="496"/>
            </a:xfrm>
            <a:prstGeom prst="rect">
              <a:avLst/>
            </a:prstGeom>
            <a:noFill/>
            <a:ln w="9525">
              <a:noFill/>
            </a:ln>
          </p:spPr>
          <p:txBody>
            <a:bodyPr lIns="45720" tIns="0" rIns="45720" bIns="0" anchor="ctr" anchorCtr="0"/>
            <a:p>
              <a:pPr marL="342900" indent="-342900" algn="l">
                <a:spcBef>
                  <a:spcPct val="20000"/>
                </a:spcBef>
                <a:buClr>
                  <a:srgbClr val="FF3300"/>
                </a:buClr>
                <a:buFont typeface="Wingdings" panose="05000000000000000000" pitchFamily="2" charset="2"/>
              </a:pPr>
              <a:r>
                <a:rPr lang="zh-CN" altLang="en-US" sz="2800" dirty="0">
                  <a:solidFill>
                    <a:schemeClr val="bg1"/>
                  </a:solidFill>
                  <a:latin typeface="Times New Roman" panose="02020603050405020304" pitchFamily="18" charset="0"/>
                  <a:ea typeface="华文中宋" panose="02010600040101010101" pitchFamily="2" charset="-122"/>
                </a:rPr>
                <a:t>接触面谈</a:t>
              </a:r>
              <a:endParaRPr lang="en-US" altLang="zh-CN" sz="2800" dirty="0">
                <a:solidFill>
                  <a:schemeClr val="bg1"/>
                </a:solidFill>
                <a:latin typeface="Times New Roman" panose="02020603050405020304" pitchFamily="18" charset="0"/>
                <a:ea typeface="华文中宋" panose="02010600040101010101" pitchFamily="2" charset="-122"/>
              </a:endParaRPr>
            </a:p>
          </p:txBody>
        </p:sp>
      </p:grpSp>
      <p:grpSp>
        <p:nvGrpSpPr>
          <p:cNvPr id="51205" name="组合 51204"/>
          <p:cNvGrpSpPr/>
          <p:nvPr/>
        </p:nvGrpSpPr>
        <p:grpSpPr>
          <a:xfrm>
            <a:off x="2692400" y="2565400"/>
            <a:ext cx="1952625" cy="935038"/>
            <a:chOff x="0" y="0"/>
            <a:chExt cx="1247" cy="576"/>
          </a:xfrm>
        </p:grpSpPr>
        <p:sp>
          <p:nvSpPr>
            <p:cNvPr id="51206" name="未知"/>
            <p:cNvSpPr/>
            <p:nvPr/>
          </p:nvSpPr>
          <p:spPr>
            <a:xfrm>
              <a:off x="0" y="0"/>
              <a:ext cx="1247" cy="576"/>
            </a:xfrm>
            <a:custGeom>
              <a:avLst/>
              <a:gdLst>
                <a:gd name="txL" fmla="*/ 0 w 1247"/>
                <a:gd name="txT" fmla="*/ 0 h 576"/>
                <a:gd name="txR" fmla="*/ 1247 w 1247"/>
                <a:gd name="txB" fmla="*/ 576 h 576"/>
              </a:gdLst>
              <a:ahLst/>
              <a:cxnLst>
                <a:cxn ang="0">
                  <a:pos x="0" y="0"/>
                </a:cxn>
                <a:cxn ang="0">
                  <a:pos x="1143" y="0"/>
                </a:cxn>
                <a:cxn ang="0">
                  <a:pos x="1247" y="288"/>
                </a:cxn>
                <a:cxn ang="0">
                  <a:pos x="1143" y="576"/>
                </a:cxn>
                <a:cxn ang="0">
                  <a:pos x="0" y="576"/>
                </a:cxn>
                <a:cxn ang="0">
                  <a:pos x="104" y="288"/>
                </a:cxn>
                <a:cxn ang="0">
                  <a:pos x="0" y="0"/>
                </a:cxn>
              </a:cxnLst>
              <a:rect l="txL" t="txT" r="txR" b="txB"/>
              <a:pathLst>
                <a:path w="1247" h="576">
                  <a:moveTo>
                    <a:pt x="0" y="0"/>
                  </a:moveTo>
                  <a:lnTo>
                    <a:pt x="1143" y="0"/>
                  </a:lnTo>
                  <a:lnTo>
                    <a:pt x="1247" y="288"/>
                  </a:lnTo>
                  <a:lnTo>
                    <a:pt x="1143" y="576"/>
                  </a:lnTo>
                  <a:lnTo>
                    <a:pt x="0" y="576"/>
                  </a:lnTo>
                  <a:lnTo>
                    <a:pt x="104" y="288"/>
                  </a:lnTo>
                  <a:lnTo>
                    <a:pt x="0" y="0"/>
                  </a:lnTo>
                  <a:close/>
                </a:path>
              </a:pathLst>
            </a:custGeom>
            <a:solidFill>
              <a:schemeClr val="accent1"/>
            </a:solidFill>
            <a:ln w="9525" cap="flat" cmpd="sng">
              <a:solidFill>
                <a:schemeClr val="tx1"/>
              </a:solidFill>
              <a:prstDash val="solid"/>
              <a:miter/>
              <a:headEnd type="none" w="med" len="med"/>
              <a:tailEnd type="none" w="med" len="med"/>
            </a:ln>
          </p:spPr>
          <p:txBody>
            <a:bodyPr wrap="none" lIns="45720" tIns="0" rIns="45720" bIns="0" anchor="ctr" anchorCtr="0">
              <a:spAutoFit/>
            </a:bodyPr>
            <a:p>
              <a:endParaRPr lang="zh-CN" altLang="en-US" dirty="0">
                <a:latin typeface="Frutiger 45 Light" pitchFamily="2" charset="0"/>
              </a:endParaRPr>
            </a:p>
          </p:txBody>
        </p:sp>
        <p:sp>
          <p:nvSpPr>
            <p:cNvPr id="51207" name="Rectangle 7"/>
            <p:cNvSpPr/>
            <p:nvPr/>
          </p:nvSpPr>
          <p:spPr>
            <a:xfrm>
              <a:off x="136" y="32"/>
              <a:ext cx="1008" cy="496"/>
            </a:xfrm>
            <a:prstGeom prst="rect">
              <a:avLst/>
            </a:prstGeom>
            <a:noFill/>
            <a:ln w="9525">
              <a:noFill/>
            </a:ln>
          </p:spPr>
          <p:txBody>
            <a:bodyPr lIns="45720" tIns="0" rIns="45720" bIns="0" anchor="ctr" anchorCtr="0"/>
            <a:p>
              <a:pPr marL="342900" indent="-342900" algn="l">
                <a:spcBef>
                  <a:spcPct val="20000"/>
                </a:spcBef>
                <a:buClr>
                  <a:srgbClr val="FF3300"/>
                </a:buClr>
                <a:buFont typeface="Wingdings" panose="05000000000000000000" pitchFamily="2" charset="2"/>
              </a:pPr>
              <a:r>
                <a:rPr lang="zh-CN" altLang="en-US" sz="2800" dirty="0">
                  <a:solidFill>
                    <a:schemeClr val="bg1"/>
                  </a:solidFill>
                  <a:latin typeface="Times New Roman" panose="02020603050405020304" pitchFamily="18" charset="0"/>
                  <a:ea typeface="华文中宋" panose="02010600040101010101" pitchFamily="2" charset="-122"/>
                </a:rPr>
                <a:t>需求分析</a:t>
              </a:r>
              <a:endParaRPr lang="en-US" altLang="zh-CN" sz="2800" dirty="0">
                <a:solidFill>
                  <a:schemeClr val="bg1"/>
                </a:solidFill>
                <a:latin typeface="Times New Roman" panose="02020603050405020304" pitchFamily="18" charset="0"/>
                <a:ea typeface="华文中宋" panose="02010600040101010101" pitchFamily="2" charset="-122"/>
              </a:endParaRPr>
            </a:p>
          </p:txBody>
        </p:sp>
      </p:grpSp>
      <p:grpSp>
        <p:nvGrpSpPr>
          <p:cNvPr id="51208" name="组合 51207"/>
          <p:cNvGrpSpPr/>
          <p:nvPr/>
        </p:nvGrpSpPr>
        <p:grpSpPr>
          <a:xfrm>
            <a:off x="4573588" y="2565400"/>
            <a:ext cx="1943100" cy="935038"/>
            <a:chOff x="0" y="0"/>
            <a:chExt cx="1247" cy="576"/>
          </a:xfrm>
        </p:grpSpPr>
        <p:sp>
          <p:nvSpPr>
            <p:cNvPr id="51209" name="未知"/>
            <p:cNvSpPr/>
            <p:nvPr/>
          </p:nvSpPr>
          <p:spPr>
            <a:xfrm>
              <a:off x="0" y="0"/>
              <a:ext cx="1247" cy="576"/>
            </a:xfrm>
            <a:custGeom>
              <a:avLst/>
              <a:gdLst>
                <a:gd name="txL" fmla="*/ 0 w 1247"/>
                <a:gd name="txT" fmla="*/ 0 h 576"/>
                <a:gd name="txR" fmla="*/ 1247 w 1247"/>
                <a:gd name="txB" fmla="*/ 576 h 576"/>
              </a:gdLst>
              <a:ahLst/>
              <a:cxnLst>
                <a:cxn ang="0">
                  <a:pos x="0" y="0"/>
                </a:cxn>
                <a:cxn ang="0">
                  <a:pos x="1143" y="0"/>
                </a:cxn>
                <a:cxn ang="0">
                  <a:pos x="1247" y="288"/>
                </a:cxn>
                <a:cxn ang="0">
                  <a:pos x="1143" y="576"/>
                </a:cxn>
                <a:cxn ang="0">
                  <a:pos x="0" y="576"/>
                </a:cxn>
                <a:cxn ang="0">
                  <a:pos x="104" y="288"/>
                </a:cxn>
                <a:cxn ang="0">
                  <a:pos x="0" y="0"/>
                </a:cxn>
              </a:cxnLst>
              <a:rect l="txL" t="txT" r="txR" b="txB"/>
              <a:pathLst>
                <a:path w="1247" h="576">
                  <a:moveTo>
                    <a:pt x="0" y="0"/>
                  </a:moveTo>
                  <a:lnTo>
                    <a:pt x="1143" y="0"/>
                  </a:lnTo>
                  <a:lnTo>
                    <a:pt x="1247" y="288"/>
                  </a:lnTo>
                  <a:lnTo>
                    <a:pt x="1143" y="576"/>
                  </a:lnTo>
                  <a:lnTo>
                    <a:pt x="0" y="576"/>
                  </a:lnTo>
                  <a:lnTo>
                    <a:pt x="104" y="288"/>
                  </a:lnTo>
                  <a:lnTo>
                    <a:pt x="0" y="0"/>
                  </a:lnTo>
                  <a:close/>
                </a:path>
              </a:pathLst>
            </a:custGeom>
            <a:solidFill>
              <a:srgbClr val="FF0000"/>
            </a:solidFill>
            <a:ln w="9525" cap="flat" cmpd="sng">
              <a:solidFill>
                <a:schemeClr val="tx1"/>
              </a:solidFill>
              <a:prstDash val="solid"/>
              <a:miter/>
              <a:headEnd type="none" w="med" len="med"/>
              <a:tailEnd type="none" w="med" len="med"/>
            </a:ln>
          </p:spPr>
          <p:txBody>
            <a:bodyPr wrap="none" lIns="45720" tIns="0" rIns="45720" bIns="0" anchor="ctr" anchorCtr="0">
              <a:spAutoFit/>
            </a:bodyPr>
            <a:p>
              <a:endParaRPr lang="zh-CN" altLang="en-US" dirty="0">
                <a:latin typeface="Frutiger 45 Light" pitchFamily="2" charset="0"/>
              </a:endParaRPr>
            </a:p>
          </p:txBody>
        </p:sp>
        <p:sp>
          <p:nvSpPr>
            <p:cNvPr id="51210" name="Rectangle 10"/>
            <p:cNvSpPr/>
            <p:nvPr/>
          </p:nvSpPr>
          <p:spPr>
            <a:xfrm>
              <a:off x="136" y="32"/>
              <a:ext cx="1008" cy="496"/>
            </a:xfrm>
            <a:prstGeom prst="rect">
              <a:avLst/>
            </a:prstGeom>
            <a:noFill/>
            <a:ln w="9525">
              <a:noFill/>
            </a:ln>
          </p:spPr>
          <p:txBody>
            <a:bodyPr lIns="45720" tIns="0" rIns="45720" bIns="0" anchor="ctr" anchorCtr="0"/>
            <a:p>
              <a:pPr marL="342900" indent="-342900" algn="l">
                <a:spcBef>
                  <a:spcPct val="20000"/>
                </a:spcBef>
                <a:buClr>
                  <a:srgbClr val="FF3300"/>
                </a:buClr>
                <a:buFont typeface="Wingdings" panose="05000000000000000000" pitchFamily="2" charset="2"/>
              </a:pPr>
              <a:r>
                <a:rPr lang="zh-TW" altLang="en-US" sz="2800" dirty="0">
                  <a:solidFill>
                    <a:schemeClr val="bg1"/>
                  </a:solidFill>
                  <a:latin typeface="Times New Roman" panose="02020603050405020304" pitchFamily="18" charset="0"/>
                  <a:ea typeface="华文中宋" panose="02010600040101010101" pitchFamily="2" charset="-122"/>
                </a:rPr>
                <a:t>产品介绍</a:t>
              </a:r>
              <a:endParaRPr lang="zh-TW" altLang="en-US" sz="2800" dirty="0">
                <a:solidFill>
                  <a:schemeClr val="bg1"/>
                </a:solidFill>
                <a:latin typeface="Times New Roman" panose="02020603050405020304" pitchFamily="18" charset="0"/>
                <a:ea typeface="华文中宋" panose="02010600040101010101" pitchFamily="2" charset="-122"/>
              </a:endParaRPr>
            </a:p>
          </p:txBody>
        </p:sp>
      </p:grpSp>
      <p:grpSp>
        <p:nvGrpSpPr>
          <p:cNvPr id="51211" name="组合 51210"/>
          <p:cNvGrpSpPr/>
          <p:nvPr/>
        </p:nvGrpSpPr>
        <p:grpSpPr>
          <a:xfrm>
            <a:off x="6445250" y="2565400"/>
            <a:ext cx="1944688" cy="935038"/>
            <a:chOff x="0" y="0"/>
            <a:chExt cx="1246" cy="576"/>
          </a:xfrm>
        </p:grpSpPr>
        <p:sp>
          <p:nvSpPr>
            <p:cNvPr id="51212" name="未知"/>
            <p:cNvSpPr/>
            <p:nvPr/>
          </p:nvSpPr>
          <p:spPr>
            <a:xfrm>
              <a:off x="0" y="0"/>
              <a:ext cx="1246" cy="576"/>
            </a:xfrm>
            <a:custGeom>
              <a:avLst/>
              <a:gdLst>
                <a:gd name="txL" fmla="*/ 0 w 1246"/>
                <a:gd name="txT" fmla="*/ 0 h 576"/>
                <a:gd name="txR" fmla="*/ 1246 w 1246"/>
                <a:gd name="txB" fmla="*/ 576 h 576"/>
              </a:gdLst>
              <a:ahLst/>
              <a:cxnLst>
                <a:cxn ang="0">
                  <a:pos x="0" y="0"/>
                </a:cxn>
                <a:cxn ang="0">
                  <a:pos x="1142" y="0"/>
                </a:cxn>
                <a:cxn ang="0">
                  <a:pos x="1246" y="288"/>
                </a:cxn>
                <a:cxn ang="0">
                  <a:pos x="1142" y="576"/>
                </a:cxn>
                <a:cxn ang="0">
                  <a:pos x="0" y="576"/>
                </a:cxn>
                <a:cxn ang="0">
                  <a:pos x="104" y="288"/>
                </a:cxn>
                <a:cxn ang="0">
                  <a:pos x="0" y="0"/>
                </a:cxn>
              </a:cxnLst>
              <a:rect l="txL" t="txT" r="txR" b="txB"/>
              <a:pathLst>
                <a:path w="1246" h="576">
                  <a:moveTo>
                    <a:pt x="0" y="0"/>
                  </a:moveTo>
                  <a:lnTo>
                    <a:pt x="1142" y="0"/>
                  </a:lnTo>
                  <a:lnTo>
                    <a:pt x="1246" y="288"/>
                  </a:lnTo>
                  <a:lnTo>
                    <a:pt x="1142" y="576"/>
                  </a:lnTo>
                  <a:lnTo>
                    <a:pt x="0" y="576"/>
                  </a:lnTo>
                  <a:lnTo>
                    <a:pt x="104" y="288"/>
                  </a:lnTo>
                  <a:lnTo>
                    <a:pt x="0" y="0"/>
                  </a:lnTo>
                  <a:close/>
                </a:path>
              </a:pathLst>
            </a:custGeom>
            <a:solidFill>
              <a:schemeClr val="accent1"/>
            </a:solidFill>
            <a:ln w="9525" cap="flat" cmpd="sng">
              <a:solidFill>
                <a:schemeClr val="tx1"/>
              </a:solidFill>
              <a:prstDash val="solid"/>
              <a:miter/>
              <a:headEnd type="none" w="med" len="med"/>
              <a:tailEnd type="none" w="med" len="med"/>
            </a:ln>
          </p:spPr>
          <p:txBody>
            <a:bodyPr wrap="none" lIns="45720" tIns="0" rIns="45720" bIns="0" anchor="ctr" anchorCtr="0">
              <a:spAutoFit/>
            </a:bodyPr>
            <a:p>
              <a:endParaRPr lang="zh-CN" altLang="en-US" dirty="0">
                <a:latin typeface="Frutiger 45 Light" pitchFamily="2" charset="0"/>
              </a:endParaRPr>
            </a:p>
          </p:txBody>
        </p:sp>
        <p:sp>
          <p:nvSpPr>
            <p:cNvPr id="51213" name="Rectangle 13"/>
            <p:cNvSpPr/>
            <p:nvPr/>
          </p:nvSpPr>
          <p:spPr>
            <a:xfrm>
              <a:off x="136" y="32"/>
              <a:ext cx="1007" cy="496"/>
            </a:xfrm>
            <a:prstGeom prst="rect">
              <a:avLst/>
            </a:prstGeom>
            <a:noFill/>
            <a:ln w="9525">
              <a:noFill/>
            </a:ln>
          </p:spPr>
          <p:txBody>
            <a:bodyPr lIns="45720" tIns="0" rIns="45720" bIns="0" anchor="ctr" anchorCtr="0"/>
            <a:p>
              <a:pPr marL="342900" indent="-342900" algn="l">
                <a:spcBef>
                  <a:spcPct val="20000"/>
                </a:spcBef>
                <a:buClr>
                  <a:srgbClr val="FF3300"/>
                </a:buClr>
                <a:buFont typeface="Wingdings" panose="05000000000000000000" pitchFamily="2" charset="2"/>
              </a:pPr>
              <a:r>
                <a:rPr lang="zh-TW" altLang="en-US" sz="2800" dirty="0">
                  <a:solidFill>
                    <a:schemeClr val="bg1"/>
                  </a:solidFill>
                  <a:latin typeface="Times New Roman" panose="02020603050405020304" pitchFamily="18" charset="0"/>
                  <a:ea typeface="华文中宋" panose="02010600040101010101" pitchFamily="2" charset="-122"/>
                </a:rPr>
                <a:t>促成成交</a:t>
              </a:r>
              <a:endParaRPr lang="zh-TW" altLang="en-US" sz="2800" dirty="0">
                <a:solidFill>
                  <a:schemeClr val="bg1"/>
                </a:solidFill>
                <a:latin typeface="Times New Roman" panose="02020603050405020304" pitchFamily="18" charset="0"/>
                <a:ea typeface="华文中宋" panose="02010600040101010101" pitchFamily="2" charset="-122"/>
              </a:endParaRPr>
            </a:p>
          </p:txBody>
        </p:sp>
      </p:grpSp>
      <p:sp>
        <p:nvSpPr>
          <p:cNvPr id="51214" name="Rectangle 14"/>
          <p:cNvSpPr/>
          <p:nvPr/>
        </p:nvSpPr>
        <p:spPr>
          <a:xfrm>
            <a:off x="612775" y="765175"/>
            <a:ext cx="7773988" cy="1143000"/>
          </a:xfrm>
          <a:prstGeom prst="rect">
            <a:avLst/>
          </a:prstGeom>
          <a:noFill/>
          <a:ln w="9525">
            <a:noFill/>
          </a:ln>
        </p:spPr>
        <p:txBody>
          <a:bodyPr anchor="ctr" anchorCtr="0"/>
          <a:p>
            <a:r>
              <a:rPr lang="zh-TW" altLang="en-US" sz="4000" b="0" dirty="0">
                <a:solidFill>
                  <a:srgbClr val="FF3300"/>
                </a:solidFill>
                <a:latin typeface="Times New Roman" panose="02020603050405020304" pitchFamily="18" charset="0"/>
                <a:ea typeface="华文新魏" panose="02010800040101010101" pitchFamily="2" charset="-122"/>
              </a:rPr>
              <a:t>信用卡销售流程</a:t>
            </a:r>
            <a:endParaRPr lang="zh-TW" altLang="en-US" sz="4000" b="0" dirty="0">
              <a:solidFill>
                <a:srgbClr val="FF3300"/>
              </a:solidFill>
              <a:latin typeface="Times New Roman" panose="02020603050405020304" pitchFamily="18" charset="0"/>
              <a:ea typeface="华文新魏" panose="02010800040101010101" pitchFamily="2" charset="-122"/>
            </a:endParaRPr>
          </a:p>
        </p:txBody>
      </p:sp>
      <p:graphicFrame>
        <p:nvGraphicFramePr>
          <p:cNvPr id="51215" name="Object 15"/>
          <p:cNvGraphicFramePr>
            <a:graphicFrameLocks noChangeAspect="1"/>
          </p:cNvGraphicFramePr>
          <p:nvPr/>
        </p:nvGraphicFramePr>
        <p:xfrm>
          <a:off x="5221288" y="4076700"/>
          <a:ext cx="2592387" cy="1736725"/>
        </p:xfrm>
        <a:graphic>
          <a:graphicData uri="http://schemas.openxmlformats.org/presentationml/2006/ole">
            <mc:AlternateContent xmlns:mc="http://schemas.openxmlformats.org/markup-compatibility/2006">
              <mc:Choice xmlns:v="urn:schemas-microsoft-com:vml" Requires="v">
                <p:oleObj spid="_x0000_s3078" name="" r:id="rId1" imgW="913765" imgH="1176655" progId="">
                  <p:embed/>
                </p:oleObj>
              </mc:Choice>
              <mc:Fallback>
                <p:oleObj name="" r:id="rId1" imgW="913765" imgH="1176655" progId="">
                  <p:embed/>
                  <p:pic>
                    <p:nvPicPr>
                      <p:cNvPr id="0" name="图片 3077"/>
                      <p:cNvPicPr/>
                      <p:nvPr/>
                    </p:nvPicPr>
                    <p:blipFill>
                      <a:blip r:embed="rId2"/>
                      <a:stretch>
                        <a:fillRect/>
                      </a:stretch>
                    </p:blipFill>
                    <p:spPr>
                      <a:xfrm>
                        <a:off x="5221288" y="4076700"/>
                        <a:ext cx="2592387" cy="1736725"/>
                      </a:xfrm>
                      <a:prstGeom prst="rect">
                        <a:avLst/>
                      </a:prstGeom>
                      <a:noFill/>
                      <a:ln w="38100">
                        <a:noFill/>
                        <a:miter/>
                      </a:ln>
                    </p:spPr>
                  </p:pic>
                </p:oleObj>
              </mc:Fallback>
            </mc:AlternateContent>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3250" name="Picture 2" descr="bow_tie_10"/>
          <p:cNvPicPr>
            <a:picLocks noChangeAspect="1"/>
          </p:cNvPicPr>
          <p:nvPr>
            <p:ph type="body" idx="4294967295"/>
          </p:nvPr>
        </p:nvPicPr>
        <p:blipFill>
          <a:blip r:embed="rId1"/>
          <a:stretch>
            <a:fillRect/>
          </a:stretch>
        </p:blipFill>
        <p:spPr>
          <a:xfrm>
            <a:off x="612775" y="2997200"/>
            <a:ext cx="1862138" cy="2890838"/>
          </a:xfrm>
          <a:ln/>
        </p:spPr>
      </p:pic>
      <p:sp>
        <p:nvSpPr>
          <p:cNvPr id="53251" name="AutoShape 3"/>
          <p:cNvSpPr/>
          <p:nvPr/>
        </p:nvSpPr>
        <p:spPr>
          <a:xfrm>
            <a:off x="2112963" y="1628775"/>
            <a:ext cx="2747962" cy="1655763"/>
          </a:xfrm>
          <a:prstGeom prst="cloudCallout">
            <a:avLst>
              <a:gd name="adj1" fmla="val -36250"/>
              <a:gd name="adj2" fmla="val 67352"/>
            </a:avLst>
          </a:prstGeom>
          <a:gradFill rotWithShape="1">
            <a:gsLst>
              <a:gs pos="0">
                <a:schemeClr val="accent1"/>
              </a:gs>
              <a:gs pos="50000">
                <a:srgbClr val="005E47"/>
              </a:gs>
              <a:gs pos="100000">
                <a:schemeClr val="accent1"/>
              </a:gs>
            </a:gsLst>
            <a:lin ang="5400000" scaled="1"/>
            <a:tileRect/>
          </a:gradFill>
          <a:ln w="9525">
            <a:noFill/>
          </a:ln>
        </p:spPr>
        <p:txBody>
          <a:bodyPr anchor="ctr" anchorCtr="0"/>
          <a:p>
            <a:endParaRPr lang="zh-CN" altLang="en-US" sz="1800" b="0" dirty="0">
              <a:latin typeface="Frutiger 45 Light" pitchFamily="2" charset="0"/>
              <a:ea typeface="宋体" panose="02010600030101010101" pitchFamily="2" charset="-122"/>
            </a:endParaRPr>
          </a:p>
        </p:txBody>
      </p:sp>
      <p:sp>
        <p:nvSpPr>
          <p:cNvPr id="53252" name="Text Box 4"/>
          <p:cNvSpPr txBox="1"/>
          <p:nvPr/>
        </p:nvSpPr>
        <p:spPr>
          <a:xfrm>
            <a:off x="2511425" y="1881188"/>
            <a:ext cx="2062163" cy="1187450"/>
          </a:xfrm>
          <a:prstGeom prst="rect">
            <a:avLst/>
          </a:prstGeom>
          <a:noFill/>
          <a:ln w="9525">
            <a:noFill/>
          </a:ln>
        </p:spPr>
        <p:txBody>
          <a:bodyPr>
            <a:spAutoFit/>
          </a:bodyPr>
          <a:p>
            <a:pPr algn="l">
              <a:spcBef>
                <a:spcPct val="50000"/>
              </a:spcBef>
            </a:pPr>
            <a:r>
              <a:rPr lang="zh-CN" altLang="en-US" dirty="0">
                <a:solidFill>
                  <a:schemeClr val="bg1"/>
                </a:solidFill>
                <a:latin typeface="Frutiger 45 Light" pitchFamily="2" charset="0"/>
                <a:ea typeface="宋体" panose="02010600030101010101" pitchFamily="2" charset="-122"/>
              </a:rPr>
              <a:t>回顾一下我行信用卡有哪些功能？</a:t>
            </a:r>
            <a:endParaRPr lang="en-US" altLang="zh-CN" dirty="0">
              <a:solidFill>
                <a:schemeClr val="bg1"/>
              </a:solidFill>
              <a:latin typeface="Frutiger 45 Light" pitchFamily="2" charset="0"/>
              <a:ea typeface="宋体" panose="02010600030101010101" pitchFamily="2" charset="-122"/>
            </a:endParaRPr>
          </a:p>
        </p:txBody>
      </p:sp>
      <p:sp>
        <p:nvSpPr>
          <p:cNvPr id="53253" name="Text Box 5"/>
          <p:cNvSpPr txBox="1"/>
          <p:nvPr/>
        </p:nvSpPr>
        <p:spPr>
          <a:xfrm>
            <a:off x="5005388" y="1628775"/>
            <a:ext cx="3600450" cy="3743325"/>
          </a:xfrm>
          <a:prstGeom prst="rect">
            <a:avLst/>
          </a:prstGeom>
          <a:noFill/>
          <a:ln w="9525">
            <a:noFill/>
          </a:ln>
        </p:spPr>
        <p:txBody>
          <a:bodyPr>
            <a:spAutoFit/>
          </a:bodyPr>
          <a:p>
            <a:pPr algn="l">
              <a:spcBef>
                <a:spcPct val="50000"/>
              </a:spcBef>
            </a:pPr>
            <a:r>
              <a:rPr lang="zh-CN" altLang="en-US" b="0" dirty="0">
                <a:latin typeface="Frutiger 45 Light" pitchFamily="2" charset="0"/>
                <a:ea typeface="华文中宋" panose="02010600040101010101" pitchFamily="2" charset="-122"/>
              </a:rPr>
              <a:t>刷卡消费</a:t>
            </a:r>
            <a:endParaRPr lang="zh-CN" altLang="en-US" b="0" dirty="0">
              <a:latin typeface="Frutiger 45 Light" pitchFamily="2" charset="0"/>
              <a:ea typeface="华文中宋" panose="02010600040101010101" pitchFamily="2" charset="-122"/>
            </a:endParaRPr>
          </a:p>
          <a:p>
            <a:pPr algn="l">
              <a:spcBef>
                <a:spcPct val="50000"/>
              </a:spcBef>
            </a:pPr>
            <a:r>
              <a:rPr lang="zh-CN" altLang="en-US" b="0" dirty="0">
                <a:latin typeface="Frutiger 45 Light" pitchFamily="2" charset="0"/>
                <a:ea typeface="华文中宋" panose="02010600040101010101" pitchFamily="2" charset="-122"/>
              </a:rPr>
              <a:t>预借现金</a:t>
            </a:r>
            <a:endParaRPr lang="zh-CN" altLang="en-US" b="0" dirty="0">
              <a:latin typeface="Frutiger 45 Light" pitchFamily="2" charset="0"/>
              <a:ea typeface="华文中宋" panose="02010600040101010101" pitchFamily="2" charset="-122"/>
            </a:endParaRPr>
          </a:p>
          <a:p>
            <a:pPr algn="l">
              <a:spcBef>
                <a:spcPct val="50000"/>
              </a:spcBef>
            </a:pPr>
            <a:r>
              <a:rPr lang="zh-CN" altLang="en-US" b="0" dirty="0">
                <a:latin typeface="Frutiger 45 Light" pitchFamily="2" charset="0"/>
                <a:ea typeface="华文中宋" panose="02010600040101010101" pitchFamily="2" charset="-122"/>
              </a:rPr>
              <a:t>分期付款</a:t>
            </a:r>
            <a:endParaRPr lang="zh-CN" altLang="en-US" b="0" dirty="0">
              <a:latin typeface="Frutiger 45 Light" pitchFamily="2" charset="0"/>
              <a:ea typeface="华文中宋" panose="02010600040101010101" pitchFamily="2" charset="-122"/>
            </a:endParaRPr>
          </a:p>
          <a:p>
            <a:pPr algn="l">
              <a:spcBef>
                <a:spcPct val="50000"/>
              </a:spcBef>
            </a:pPr>
            <a:r>
              <a:rPr lang="zh-CN" altLang="en-US" b="0" dirty="0">
                <a:latin typeface="Frutiger 45 Light" pitchFamily="2" charset="0"/>
                <a:ea typeface="华文中宋" panose="02010600040101010101" pitchFamily="2" charset="-122"/>
              </a:rPr>
              <a:t>积分兑换礼品</a:t>
            </a:r>
            <a:endParaRPr lang="zh-CN" altLang="en-US" b="0" dirty="0">
              <a:latin typeface="Frutiger 45 Light" pitchFamily="2" charset="0"/>
              <a:ea typeface="华文中宋" panose="02010600040101010101" pitchFamily="2" charset="-122"/>
            </a:endParaRPr>
          </a:p>
          <a:p>
            <a:pPr algn="l">
              <a:spcBef>
                <a:spcPct val="50000"/>
              </a:spcBef>
            </a:pPr>
            <a:r>
              <a:rPr lang="zh-CN" altLang="en-US" b="0" dirty="0">
                <a:latin typeface="Frutiger 45 Light" pitchFamily="2" charset="0"/>
                <a:ea typeface="华文中宋" panose="02010600040101010101" pitchFamily="2" charset="-122"/>
              </a:rPr>
              <a:t>市场活动丰富多彩</a:t>
            </a:r>
            <a:endParaRPr lang="zh-CN" altLang="en-US" b="0" dirty="0">
              <a:latin typeface="Frutiger 45 Light" pitchFamily="2" charset="0"/>
              <a:ea typeface="华文中宋" panose="02010600040101010101" pitchFamily="2" charset="-122"/>
            </a:endParaRPr>
          </a:p>
          <a:p>
            <a:pPr algn="l">
              <a:spcBef>
                <a:spcPct val="50000"/>
              </a:spcBef>
            </a:pPr>
            <a:r>
              <a:rPr lang="zh-CN" altLang="en-US" b="0" dirty="0">
                <a:latin typeface="Frutiger 45 Light" pitchFamily="2" charset="0"/>
                <a:ea typeface="华文中宋" panose="02010600040101010101" pitchFamily="2" charset="-122"/>
              </a:rPr>
              <a:t>填表礼</a:t>
            </a:r>
            <a:endParaRPr lang="zh-CN" altLang="en-US" b="0" dirty="0">
              <a:latin typeface="Frutiger 45 Light" pitchFamily="2" charset="0"/>
              <a:ea typeface="华文中宋" panose="02010600040101010101" pitchFamily="2" charset="-122"/>
            </a:endParaRPr>
          </a:p>
          <a:p>
            <a:pPr algn="l">
              <a:spcBef>
                <a:spcPct val="50000"/>
              </a:spcBef>
            </a:pPr>
            <a:r>
              <a:rPr lang="en-US" altLang="zh-CN" dirty="0">
                <a:latin typeface="宋体" panose="02010600030101010101" pitchFamily="2" charset="-122"/>
              </a:rPr>
              <a:t>……</a:t>
            </a:r>
            <a:endParaRPr lang="en-US" altLang="zh-CN" dirty="0">
              <a:latin typeface="Frutiger 45 Light" pitchFamily="2" charset="0"/>
            </a:endParaRPr>
          </a:p>
        </p:txBody>
      </p:sp>
      <p:sp>
        <p:nvSpPr>
          <p:cNvPr id="53254" name="Rectangle 6"/>
          <p:cNvSpPr>
            <a:spLocks noGrp="1"/>
          </p:cNvSpPr>
          <p:nvPr>
            <p:ph type="title" idx="4294967295"/>
          </p:nvPr>
        </p:nvSpPr>
        <p:spPr>
          <a:xfrm>
            <a:off x="755650" y="476250"/>
            <a:ext cx="7773988" cy="1143000"/>
          </a:xfrm>
          <a:ln/>
        </p:spPr>
        <p:txBody>
          <a:bodyPr vert="horz" wrap="square" anchor="ctr" anchorCtr="0"/>
          <a:p>
            <a:pPr eaLnBrk="1" hangingPunct="1"/>
            <a:r>
              <a:rPr lang="zh-TW" altLang="en-US" dirty="0">
                <a:solidFill>
                  <a:srgbClr val="FF3300"/>
                </a:solidFill>
              </a:rPr>
              <a:t>产品介绍</a:t>
            </a:r>
            <a:endParaRPr lang="zh-TW" altLang="en-US" dirty="0">
              <a:solidFill>
                <a:srgbClr val="FF33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3251"/>
                                        </p:tgtEl>
                                        <p:attrNameLst>
                                          <p:attrName>style.visibility</p:attrName>
                                        </p:attrNameLst>
                                      </p:cBhvr>
                                      <p:to>
                                        <p:strVal val="visible"/>
                                      </p:to>
                                    </p:set>
                                    <p:animEffect transition="in" filter="blinds(horizontal)">
                                      <p:cBhvr>
                                        <p:cTn id="7" dur="500"/>
                                        <p:tgtEl>
                                          <p:spTgt spid="53251"/>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53252"/>
                                        </p:tgtEl>
                                        <p:attrNameLst>
                                          <p:attrName>style.visibility</p:attrName>
                                        </p:attrNameLst>
                                      </p:cBhvr>
                                      <p:to>
                                        <p:strVal val="visible"/>
                                      </p:to>
                                    </p:set>
                                    <p:animEffect transition="in" filter="blinds(horizontal)">
                                      <p:cBhvr>
                                        <p:cTn id="10" dur="500"/>
                                        <p:tgtEl>
                                          <p:spTgt spid="5325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53253">
                                            <p:txEl>
                                              <p:charRg st="0" end="5"/>
                                            </p:txEl>
                                          </p:spTgt>
                                        </p:tgtEl>
                                        <p:attrNameLst>
                                          <p:attrName>style.visibility</p:attrName>
                                        </p:attrNameLst>
                                      </p:cBhvr>
                                      <p:to>
                                        <p:strVal val="visible"/>
                                      </p:to>
                                    </p:set>
                                    <p:animEffect transition="in" filter="fade">
                                      <p:cBhvr>
                                        <p:cTn id="15" dur="2000"/>
                                        <p:tgtEl>
                                          <p:spTgt spid="53253">
                                            <p:txEl>
                                              <p:charRg st="0" end="5"/>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53253">
                                            <p:txEl>
                                              <p:charRg st="5" end="10"/>
                                            </p:txEl>
                                          </p:spTgt>
                                        </p:tgtEl>
                                        <p:attrNameLst>
                                          <p:attrName>style.visibility</p:attrName>
                                        </p:attrNameLst>
                                      </p:cBhvr>
                                      <p:to>
                                        <p:strVal val="visible"/>
                                      </p:to>
                                    </p:set>
                                    <p:animEffect transition="in" filter="fade">
                                      <p:cBhvr>
                                        <p:cTn id="18" dur="2000"/>
                                        <p:tgtEl>
                                          <p:spTgt spid="53253">
                                            <p:txEl>
                                              <p:charRg st="5" end="10"/>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53253">
                                            <p:txEl>
                                              <p:charRg st="10" end="15"/>
                                            </p:txEl>
                                          </p:spTgt>
                                        </p:tgtEl>
                                        <p:attrNameLst>
                                          <p:attrName>style.visibility</p:attrName>
                                        </p:attrNameLst>
                                      </p:cBhvr>
                                      <p:to>
                                        <p:strVal val="visible"/>
                                      </p:to>
                                    </p:set>
                                    <p:animEffect transition="in" filter="fade">
                                      <p:cBhvr>
                                        <p:cTn id="21" dur="2000"/>
                                        <p:tgtEl>
                                          <p:spTgt spid="53253">
                                            <p:txEl>
                                              <p:charRg st="10" end="1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53253">
                                            <p:txEl>
                                              <p:charRg st="15" end="22"/>
                                            </p:txEl>
                                          </p:spTgt>
                                        </p:tgtEl>
                                        <p:attrNameLst>
                                          <p:attrName>style.visibility</p:attrName>
                                        </p:attrNameLst>
                                      </p:cBhvr>
                                      <p:to>
                                        <p:strVal val="visible"/>
                                      </p:to>
                                    </p:set>
                                    <p:animEffect transition="in" filter="fade">
                                      <p:cBhvr>
                                        <p:cTn id="24" dur="2000"/>
                                        <p:tgtEl>
                                          <p:spTgt spid="53253">
                                            <p:txEl>
                                              <p:charRg st="15" end="22"/>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53253">
                                            <p:txEl>
                                              <p:charRg st="22" end="31"/>
                                            </p:txEl>
                                          </p:spTgt>
                                        </p:tgtEl>
                                        <p:attrNameLst>
                                          <p:attrName>style.visibility</p:attrName>
                                        </p:attrNameLst>
                                      </p:cBhvr>
                                      <p:to>
                                        <p:strVal val="visible"/>
                                      </p:to>
                                    </p:set>
                                    <p:animEffect transition="in" filter="fade">
                                      <p:cBhvr>
                                        <p:cTn id="27" dur="2000"/>
                                        <p:tgtEl>
                                          <p:spTgt spid="53253">
                                            <p:txEl>
                                              <p:charRg st="22" end="31"/>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53253">
                                            <p:txEl>
                                              <p:charRg st="31" end="35"/>
                                            </p:txEl>
                                          </p:spTgt>
                                        </p:tgtEl>
                                        <p:attrNameLst>
                                          <p:attrName>style.visibility</p:attrName>
                                        </p:attrNameLst>
                                      </p:cBhvr>
                                      <p:to>
                                        <p:strVal val="visible"/>
                                      </p:to>
                                    </p:set>
                                    <p:animEffect transition="in" filter="fade">
                                      <p:cBhvr>
                                        <p:cTn id="30" dur="2000"/>
                                        <p:tgtEl>
                                          <p:spTgt spid="53253">
                                            <p:txEl>
                                              <p:charRg st="31" end="35"/>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53253">
                                            <p:txEl>
                                              <p:charRg st="35" end="38"/>
                                            </p:txEl>
                                          </p:spTgt>
                                        </p:tgtEl>
                                        <p:attrNameLst>
                                          <p:attrName>style.visibility</p:attrName>
                                        </p:attrNameLst>
                                      </p:cBhvr>
                                      <p:to>
                                        <p:strVal val="visible"/>
                                      </p:to>
                                    </p:set>
                                    <p:animEffect transition="in" filter="fade">
                                      <p:cBhvr>
                                        <p:cTn id="33" dur="2000"/>
                                        <p:tgtEl>
                                          <p:spTgt spid="53253">
                                            <p:txEl>
                                              <p:charRg st="35" end="3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1" grpId="0" animBg="1"/>
      <p:bldP spid="5325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Rectangle 2"/>
          <p:cNvSpPr>
            <a:spLocks noGrp="1"/>
          </p:cNvSpPr>
          <p:nvPr>
            <p:ph type="title" idx="4294967295"/>
          </p:nvPr>
        </p:nvSpPr>
        <p:spPr>
          <a:xfrm>
            <a:off x="612775" y="549275"/>
            <a:ext cx="7773988" cy="1143000"/>
          </a:xfrm>
          <a:ln/>
        </p:spPr>
        <p:txBody>
          <a:bodyPr vert="horz" wrap="square" anchor="ctr" anchorCtr="0"/>
          <a:p>
            <a:pPr eaLnBrk="1" hangingPunct="1"/>
            <a:r>
              <a:rPr lang="en-US" altLang="zh-CN" dirty="0">
                <a:solidFill>
                  <a:srgbClr val="FF3300"/>
                </a:solidFill>
              </a:rPr>
              <a:t>FAB</a:t>
            </a:r>
            <a:r>
              <a:rPr lang="zh-CN" altLang="en-US" dirty="0">
                <a:solidFill>
                  <a:srgbClr val="FF3300"/>
                </a:solidFill>
              </a:rPr>
              <a:t>产品介绍法</a:t>
            </a:r>
            <a:endParaRPr lang="zh-CN" altLang="en-US" dirty="0">
              <a:solidFill>
                <a:srgbClr val="FF3300"/>
              </a:solidFill>
            </a:endParaRPr>
          </a:p>
        </p:txBody>
      </p:sp>
      <p:sp>
        <p:nvSpPr>
          <p:cNvPr id="55299" name="Rectangle 3"/>
          <p:cNvSpPr>
            <a:spLocks noGrp="1"/>
          </p:cNvSpPr>
          <p:nvPr>
            <p:ph type="body" idx="4294967295"/>
          </p:nvPr>
        </p:nvSpPr>
        <p:spPr>
          <a:xfrm>
            <a:off x="684213" y="1700213"/>
            <a:ext cx="7773987" cy="4114800"/>
          </a:xfrm>
          <a:ln/>
        </p:spPr>
        <p:txBody>
          <a:bodyPr vert="horz" wrap="square" anchor="t" anchorCtr="0"/>
          <a:p>
            <a:pPr eaLnBrk="1" hangingPunct="1">
              <a:lnSpc>
                <a:spcPct val="90000"/>
              </a:lnSpc>
              <a:buNone/>
            </a:pPr>
            <a:r>
              <a:rPr lang="en-US" altLang="zh-CN" sz="2400" dirty="0">
                <a:solidFill>
                  <a:srgbClr val="000066"/>
                </a:solidFill>
              </a:rPr>
              <a:t>F</a:t>
            </a:r>
            <a:r>
              <a:rPr lang="zh-CN" altLang="en-US" sz="2400" dirty="0">
                <a:solidFill>
                  <a:srgbClr val="000066"/>
                </a:solidFill>
              </a:rPr>
              <a:t>（特性</a:t>
            </a:r>
            <a:r>
              <a:rPr lang="en-US" altLang="zh-CN" sz="2400" dirty="0">
                <a:solidFill>
                  <a:srgbClr val="000066"/>
                </a:solidFill>
              </a:rPr>
              <a:t>Features</a:t>
            </a:r>
            <a:r>
              <a:rPr lang="zh-CN" altLang="en-US" sz="2400" dirty="0">
                <a:solidFill>
                  <a:srgbClr val="FF9900"/>
                </a:solidFill>
              </a:rPr>
              <a:t>）</a:t>
            </a:r>
            <a:endParaRPr lang="zh-CN" altLang="en-US" sz="2400" dirty="0">
              <a:solidFill>
                <a:srgbClr val="FF9900"/>
              </a:solidFill>
            </a:endParaRPr>
          </a:p>
          <a:p>
            <a:pPr eaLnBrk="1" hangingPunct="1">
              <a:lnSpc>
                <a:spcPct val="90000"/>
              </a:lnSpc>
            </a:pPr>
            <a:r>
              <a:rPr lang="zh-CN" altLang="en-US" sz="2400" dirty="0"/>
              <a:t>是指要深刻挖掘产品的潜质，强调该产品的特质、特性等基本功能</a:t>
            </a:r>
            <a:endParaRPr lang="zh-CN" altLang="en-US" sz="2400" dirty="0"/>
          </a:p>
          <a:p>
            <a:pPr eaLnBrk="1" hangingPunct="1">
              <a:lnSpc>
                <a:spcPct val="90000"/>
              </a:lnSpc>
            </a:pPr>
            <a:endParaRPr lang="zh-CN" altLang="en-US" sz="1600" dirty="0"/>
          </a:p>
          <a:p>
            <a:pPr eaLnBrk="1" hangingPunct="1">
              <a:lnSpc>
                <a:spcPct val="90000"/>
              </a:lnSpc>
              <a:buNone/>
            </a:pPr>
            <a:r>
              <a:rPr lang="en-US" altLang="zh-CN" sz="2400" dirty="0">
                <a:solidFill>
                  <a:srgbClr val="000066"/>
                </a:solidFill>
              </a:rPr>
              <a:t>A</a:t>
            </a:r>
            <a:r>
              <a:rPr lang="zh-CN" altLang="en-US" sz="2400" dirty="0">
                <a:solidFill>
                  <a:srgbClr val="000066"/>
                </a:solidFill>
              </a:rPr>
              <a:t>（优势</a:t>
            </a:r>
            <a:r>
              <a:rPr lang="en-US" altLang="zh-CN" sz="2400" dirty="0">
                <a:solidFill>
                  <a:srgbClr val="000066"/>
                </a:solidFill>
              </a:rPr>
              <a:t>Advantages</a:t>
            </a:r>
            <a:r>
              <a:rPr lang="zh-CN" altLang="en-US" sz="2400" dirty="0">
                <a:solidFill>
                  <a:srgbClr val="000066"/>
                </a:solidFill>
              </a:rPr>
              <a:t>）</a:t>
            </a:r>
            <a:endParaRPr lang="zh-CN" altLang="en-US" sz="2400" dirty="0">
              <a:solidFill>
                <a:srgbClr val="000066"/>
              </a:solidFill>
            </a:endParaRPr>
          </a:p>
          <a:p>
            <a:pPr eaLnBrk="1" hangingPunct="1">
              <a:lnSpc>
                <a:spcPct val="90000"/>
              </a:lnSpc>
            </a:pPr>
            <a:r>
              <a:rPr lang="zh-CN" altLang="en-US" sz="2400" dirty="0"/>
              <a:t>是要向顾客证明一种商品的优势，给顾客一个购买此种商品的理由</a:t>
            </a:r>
            <a:endParaRPr lang="zh-CN" altLang="en-US" sz="2400" dirty="0"/>
          </a:p>
          <a:p>
            <a:pPr eaLnBrk="1" hangingPunct="1">
              <a:lnSpc>
                <a:spcPct val="90000"/>
              </a:lnSpc>
            </a:pPr>
            <a:endParaRPr lang="zh-CN" altLang="en-US" sz="1600" dirty="0"/>
          </a:p>
          <a:p>
            <a:pPr eaLnBrk="1" hangingPunct="1">
              <a:lnSpc>
                <a:spcPct val="90000"/>
              </a:lnSpc>
              <a:buNone/>
            </a:pPr>
            <a:r>
              <a:rPr lang="en-US" altLang="zh-CN" sz="2400" dirty="0">
                <a:solidFill>
                  <a:srgbClr val="000066"/>
                </a:solidFill>
              </a:rPr>
              <a:t>B</a:t>
            </a:r>
            <a:r>
              <a:rPr lang="zh-CN" altLang="en-US" sz="2400" dirty="0">
                <a:solidFill>
                  <a:srgbClr val="000066"/>
                </a:solidFill>
              </a:rPr>
              <a:t>（利益</a:t>
            </a:r>
            <a:r>
              <a:rPr lang="en-US" altLang="zh-CN" sz="2400" dirty="0">
                <a:solidFill>
                  <a:srgbClr val="000066"/>
                </a:solidFill>
              </a:rPr>
              <a:t>Benefits</a:t>
            </a:r>
            <a:r>
              <a:rPr lang="zh-CN" altLang="en-US" sz="2400" dirty="0">
                <a:solidFill>
                  <a:srgbClr val="000066"/>
                </a:solidFill>
              </a:rPr>
              <a:t>）</a:t>
            </a:r>
            <a:endParaRPr lang="zh-CN" altLang="en-US" sz="2400" dirty="0">
              <a:solidFill>
                <a:srgbClr val="000066"/>
              </a:solidFill>
            </a:endParaRPr>
          </a:p>
          <a:p>
            <a:pPr eaLnBrk="1" hangingPunct="1">
              <a:lnSpc>
                <a:spcPct val="90000"/>
              </a:lnSpc>
            </a:pPr>
            <a:r>
              <a:rPr lang="zh-CN" altLang="en-US" sz="2400" dirty="0"/>
              <a:t>不仅仅要说出产品的优越性，更要强调产品给消费者所带来的实实在在的利益</a:t>
            </a:r>
            <a:endParaRPr lang="en-US" altLang="zh-CN"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5299">
                                            <p:txEl>
                                              <p:charRg st="0" end="14"/>
                                            </p:txEl>
                                          </p:spTgt>
                                        </p:tgtEl>
                                        <p:attrNameLst>
                                          <p:attrName>style.visibility</p:attrName>
                                        </p:attrNameLst>
                                      </p:cBhvr>
                                      <p:to>
                                        <p:strVal val="visible"/>
                                      </p:to>
                                    </p:set>
                                    <p:animEffect transition="in" filter="blinds(horizontal)">
                                      <p:cBhvr>
                                        <p:cTn id="7" dur="500"/>
                                        <p:tgtEl>
                                          <p:spTgt spid="55299">
                                            <p:txEl>
                                              <p:charRg st="0" end="14"/>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55299">
                                            <p:txEl>
                                              <p:charRg st="14" end="44"/>
                                            </p:txEl>
                                          </p:spTgt>
                                        </p:tgtEl>
                                        <p:attrNameLst>
                                          <p:attrName>style.visibility</p:attrName>
                                        </p:attrNameLst>
                                      </p:cBhvr>
                                      <p:to>
                                        <p:strVal val="visible"/>
                                      </p:to>
                                    </p:set>
                                    <p:animEffect transition="in" filter="blinds(horizontal)">
                                      <p:cBhvr>
                                        <p:cTn id="10" dur="500"/>
                                        <p:tgtEl>
                                          <p:spTgt spid="55299">
                                            <p:txEl>
                                              <p:charRg st="14" end="44"/>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55299">
                                            <p:txEl>
                                              <p:charRg st="45" end="61"/>
                                            </p:txEl>
                                          </p:spTgt>
                                        </p:tgtEl>
                                        <p:attrNameLst>
                                          <p:attrName>style.visibility</p:attrName>
                                        </p:attrNameLst>
                                      </p:cBhvr>
                                      <p:to>
                                        <p:strVal val="visible"/>
                                      </p:to>
                                    </p:set>
                                    <p:animEffect transition="in" filter="blinds(horizontal)">
                                      <p:cBhvr>
                                        <p:cTn id="15" dur="500"/>
                                        <p:tgtEl>
                                          <p:spTgt spid="55299">
                                            <p:txEl>
                                              <p:charRg st="45" end="61"/>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55299">
                                            <p:txEl>
                                              <p:charRg st="61" end="91"/>
                                            </p:txEl>
                                          </p:spTgt>
                                        </p:tgtEl>
                                        <p:attrNameLst>
                                          <p:attrName>style.visibility</p:attrName>
                                        </p:attrNameLst>
                                      </p:cBhvr>
                                      <p:to>
                                        <p:strVal val="visible"/>
                                      </p:to>
                                    </p:set>
                                    <p:animEffect transition="in" filter="blinds(horizontal)">
                                      <p:cBhvr>
                                        <p:cTn id="18" dur="500"/>
                                        <p:tgtEl>
                                          <p:spTgt spid="55299">
                                            <p:txEl>
                                              <p:charRg st="61" end="9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55299">
                                            <p:txEl>
                                              <p:charRg st="92" end="106"/>
                                            </p:txEl>
                                          </p:spTgt>
                                        </p:tgtEl>
                                        <p:attrNameLst>
                                          <p:attrName>style.visibility</p:attrName>
                                        </p:attrNameLst>
                                      </p:cBhvr>
                                      <p:to>
                                        <p:strVal val="visible"/>
                                      </p:to>
                                    </p:set>
                                    <p:animEffect transition="in" filter="blinds(horizontal)">
                                      <p:cBhvr>
                                        <p:cTn id="23" dur="500"/>
                                        <p:tgtEl>
                                          <p:spTgt spid="55299">
                                            <p:txEl>
                                              <p:charRg st="92" end="106"/>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55299">
                                            <p:txEl>
                                              <p:charRg st="106" end="141"/>
                                            </p:txEl>
                                          </p:spTgt>
                                        </p:tgtEl>
                                        <p:attrNameLst>
                                          <p:attrName>style.visibility</p:attrName>
                                        </p:attrNameLst>
                                      </p:cBhvr>
                                      <p:to>
                                        <p:strVal val="visible"/>
                                      </p:to>
                                    </p:set>
                                    <p:animEffect transition="in" filter="blinds(horizontal)">
                                      <p:cBhvr>
                                        <p:cTn id="26" dur="500"/>
                                        <p:tgtEl>
                                          <p:spTgt spid="55299">
                                            <p:txEl>
                                              <p:charRg st="106" end="14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Rectangle 2"/>
          <p:cNvSpPr>
            <a:spLocks noGrp="1"/>
          </p:cNvSpPr>
          <p:nvPr>
            <p:ph type="title" idx="4294967295"/>
          </p:nvPr>
        </p:nvSpPr>
        <p:spPr>
          <a:xfrm>
            <a:off x="612775" y="765175"/>
            <a:ext cx="7773988" cy="658813"/>
          </a:xfrm>
          <a:ln/>
        </p:spPr>
        <p:txBody>
          <a:bodyPr vert="horz" wrap="square" anchor="ctr" anchorCtr="0"/>
          <a:p>
            <a:pPr algn="l" eaLnBrk="1" hangingPunct="1"/>
            <a:r>
              <a:rPr lang="en-US" altLang="zh-CN" dirty="0">
                <a:solidFill>
                  <a:srgbClr val="000066"/>
                </a:solidFill>
              </a:rPr>
              <a:t>FAB</a:t>
            </a:r>
            <a:r>
              <a:rPr lang="zh-CN" altLang="en-US" dirty="0">
                <a:solidFill>
                  <a:srgbClr val="000066"/>
                </a:solidFill>
              </a:rPr>
              <a:t>介绍法举例</a:t>
            </a:r>
            <a:endParaRPr lang="zh-CN" altLang="en-US" dirty="0">
              <a:solidFill>
                <a:srgbClr val="000066"/>
              </a:solidFill>
            </a:endParaRPr>
          </a:p>
        </p:txBody>
      </p:sp>
      <p:sp>
        <p:nvSpPr>
          <p:cNvPr id="57347" name="Rectangle 3"/>
          <p:cNvSpPr>
            <a:spLocks noGrp="1"/>
          </p:cNvSpPr>
          <p:nvPr>
            <p:ph type="body" idx="4294967295"/>
          </p:nvPr>
        </p:nvSpPr>
        <p:spPr>
          <a:xfrm>
            <a:off x="612775" y="1773238"/>
            <a:ext cx="7773988" cy="4248150"/>
          </a:xfrm>
          <a:ln/>
        </p:spPr>
        <p:txBody>
          <a:bodyPr vert="horz" wrap="square" anchor="t" anchorCtr="0"/>
          <a:p>
            <a:pPr eaLnBrk="1" hangingPunct="1"/>
            <a:r>
              <a:rPr lang="zh-CN" altLang="en-US" sz="2400" dirty="0">
                <a:latin typeface="楷体_GB2312" pitchFamily="49" charset="-122"/>
                <a:ea typeface="楷体_GB2312" pitchFamily="49" charset="-122"/>
              </a:rPr>
              <a:t>我们信用卡可以在任何一家银行的</a:t>
            </a:r>
            <a:r>
              <a:rPr lang="en-US" altLang="zh-CN" sz="2400" dirty="0">
                <a:latin typeface="楷体_GB2312" pitchFamily="49" charset="-122"/>
                <a:ea typeface="楷体_GB2312" pitchFamily="49" charset="-122"/>
              </a:rPr>
              <a:t>ATM</a:t>
            </a:r>
            <a:r>
              <a:rPr lang="zh-CN" altLang="en-US" sz="2400" dirty="0">
                <a:latin typeface="楷体_GB2312" pitchFamily="49" charset="-122"/>
                <a:ea typeface="楷体_GB2312" pitchFamily="49" charset="-122"/>
              </a:rPr>
              <a:t>机上提取现金（</a:t>
            </a:r>
            <a:r>
              <a:rPr lang="en-US" altLang="zh-CN" sz="2400" dirty="0">
                <a:latin typeface="楷体_GB2312" pitchFamily="49" charset="-122"/>
                <a:ea typeface="楷体_GB2312" pitchFamily="49" charset="-122"/>
              </a:rPr>
              <a:t>F</a:t>
            </a:r>
            <a:r>
              <a:rPr lang="zh-CN" altLang="en-US" sz="2400" dirty="0">
                <a:latin typeface="楷体_GB2312" pitchFamily="49" charset="-122"/>
                <a:ea typeface="楷体_GB2312" pitchFamily="49" charset="-122"/>
              </a:rPr>
              <a:t>），而且青年卡可以全额取现，你就可以在急需用钱的时候进行周转了，非常方便（</a:t>
            </a:r>
            <a:r>
              <a:rPr lang="en-US" altLang="zh-CN" sz="2400" dirty="0">
                <a:latin typeface="楷体_GB2312" pitchFamily="49" charset="-122"/>
                <a:ea typeface="楷体_GB2312" pitchFamily="49" charset="-122"/>
              </a:rPr>
              <a:t>B</a:t>
            </a:r>
            <a:r>
              <a:rPr lang="zh-CN" altLang="en-US" sz="2400" dirty="0">
                <a:latin typeface="楷体_GB2312" pitchFamily="49" charset="-122"/>
                <a:ea typeface="楷体_GB2312" pitchFamily="49" charset="-122"/>
              </a:rPr>
              <a:t>）</a:t>
            </a:r>
            <a:endParaRPr lang="zh-CN" altLang="en-US" sz="2400" dirty="0">
              <a:latin typeface="楷体_GB2312" pitchFamily="49" charset="-122"/>
              <a:ea typeface="楷体_GB2312" pitchFamily="49" charset="-122"/>
            </a:endParaRPr>
          </a:p>
          <a:p>
            <a:pPr eaLnBrk="1" hangingPunct="1"/>
            <a:endParaRPr lang="zh-CN" altLang="en-US" sz="1800" dirty="0">
              <a:latin typeface="楷体_GB2312" pitchFamily="49" charset="-122"/>
              <a:ea typeface="楷体_GB2312" pitchFamily="49" charset="-122"/>
            </a:endParaRPr>
          </a:p>
          <a:p>
            <a:pPr eaLnBrk="1" hangingPunct="1"/>
            <a:r>
              <a:rPr lang="zh-CN" altLang="en-US" sz="2400" dirty="0">
                <a:latin typeface="楷体_GB2312" pitchFamily="49" charset="-122"/>
                <a:ea typeface="楷体_GB2312" pitchFamily="49" charset="-122"/>
              </a:rPr>
              <a:t>你不用预存现金，就能用这张卡片刷卡消费（</a:t>
            </a:r>
            <a:r>
              <a:rPr lang="en-US" altLang="zh-CN" sz="2400" dirty="0">
                <a:latin typeface="楷体_GB2312" pitchFamily="49" charset="-122"/>
                <a:ea typeface="楷体_GB2312" pitchFamily="49" charset="-122"/>
              </a:rPr>
              <a:t>F</a:t>
            </a:r>
            <a:r>
              <a:rPr lang="zh-CN" altLang="en-US" sz="2400" dirty="0">
                <a:latin typeface="楷体_GB2312" pitchFamily="49" charset="-122"/>
                <a:ea typeface="楷体_GB2312" pitchFamily="49" charset="-122"/>
              </a:rPr>
              <a:t>）</a:t>
            </a:r>
            <a:r>
              <a:rPr lang="en-US" altLang="zh-CN" sz="2400" dirty="0">
                <a:latin typeface="楷体_GB2312" pitchFamily="49" charset="-122"/>
                <a:ea typeface="楷体_GB2312" pitchFamily="49" charset="-122"/>
              </a:rPr>
              <a:t>,</a:t>
            </a:r>
            <a:r>
              <a:rPr lang="zh-CN" altLang="en-US" sz="2400" dirty="0">
                <a:latin typeface="楷体_GB2312" pitchFamily="49" charset="-122"/>
                <a:ea typeface="楷体_GB2312" pitchFamily="49" charset="-122"/>
              </a:rPr>
              <a:t>并且能享受最长</a:t>
            </a:r>
            <a:r>
              <a:rPr lang="en-US" altLang="zh-CN" sz="2400" dirty="0">
                <a:latin typeface="楷体_GB2312" pitchFamily="49" charset="-122"/>
                <a:ea typeface="楷体_GB2312" pitchFamily="49" charset="-122"/>
              </a:rPr>
              <a:t>56</a:t>
            </a:r>
            <a:r>
              <a:rPr lang="zh-CN" altLang="en-US" sz="2400" dirty="0">
                <a:latin typeface="楷体_GB2312" pitchFamily="49" charset="-122"/>
                <a:ea typeface="楷体_GB2312" pitchFamily="49" charset="-122"/>
              </a:rPr>
              <a:t>天的免息期</a:t>
            </a:r>
            <a:r>
              <a:rPr lang="en-US" altLang="zh-CN" sz="2400" dirty="0">
                <a:latin typeface="楷体_GB2312" pitchFamily="49" charset="-122"/>
                <a:ea typeface="楷体_GB2312" pitchFamily="49" charset="-122"/>
              </a:rPr>
              <a:t>/</a:t>
            </a:r>
            <a:r>
              <a:rPr lang="zh-CN" altLang="en-US" sz="2400" dirty="0">
                <a:latin typeface="楷体_GB2312" pitchFamily="49" charset="-122"/>
                <a:ea typeface="楷体_GB2312" pitchFamily="49" charset="-122"/>
              </a:rPr>
              <a:t>刷卡消费还有额外的积分奖励（</a:t>
            </a:r>
            <a:r>
              <a:rPr lang="en-US" altLang="zh-CN" sz="2400" dirty="0">
                <a:latin typeface="楷体_GB2312" pitchFamily="49" charset="-122"/>
                <a:ea typeface="楷体_GB2312" pitchFamily="49" charset="-122"/>
              </a:rPr>
              <a:t>A</a:t>
            </a:r>
            <a:r>
              <a:rPr lang="zh-CN" altLang="en-US" sz="2400" dirty="0">
                <a:latin typeface="楷体_GB2312" pitchFamily="49" charset="-122"/>
                <a:ea typeface="楷体_GB2312" pitchFamily="49" charset="-122"/>
              </a:rPr>
              <a:t>），你的资金安排就更加方便</a:t>
            </a:r>
            <a:r>
              <a:rPr lang="en-US" altLang="zh-CN" sz="2400" dirty="0">
                <a:latin typeface="楷体_GB2312" pitchFamily="49" charset="-122"/>
                <a:ea typeface="楷体_GB2312" pitchFamily="49" charset="-122"/>
              </a:rPr>
              <a:t>/</a:t>
            </a:r>
            <a:r>
              <a:rPr lang="zh-CN" altLang="en-US" sz="2400" dirty="0">
                <a:latin typeface="楷体_GB2312" pitchFamily="49" charset="-122"/>
                <a:ea typeface="楷体_GB2312" pitchFamily="49" charset="-122"/>
              </a:rPr>
              <a:t>积分还能换取礼品</a:t>
            </a:r>
            <a:r>
              <a:rPr lang="en-US" altLang="zh-CN" sz="2400" dirty="0">
                <a:latin typeface="楷体_GB2312" pitchFamily="49" charset="-122"/>
                <a:ea typeface="楷体_GB2312" pitchFamily="49" charset="-122"/>
              </a:rPr>
              <a:t>(B)</a:t>
            </a:r>
            <a:r>
              <a:rPr lang="en-US" altLang="zh-CN" sz="2400" dirty="0">
                <a:latin typeface="华文中宋" panose="02010600040101010101" pitchFamily="2" charset="-122"/>
                <a:ea typeface="楷体_GB2312" pitchFamily="49" charset="-122"/>
              </a:rPr>
              <a:t>…</a:t>
            </a:r>
            <a:endParaRPr lang="en-US" altLang="zh-CN" sz="2400" dirty="0">
              <a:latin typeface="楷体_GB2312" pitchFamily="49" charset="-122"/>
              <a:ea typeface="楷体_GB2312" pitchFamily="49" charset="-122"/>
            </a:endParaRPr>
          </a:p>
          <a:p>
            <a:pPr eaLnBrk="1" hangingPunct="1"/>
            <a:endParaRPr lang="en-US" altLang="zh-CN" sz="1600" dirty="0">
              <a:latin typeface="楷体_GB2312" pitchFamily="49" charset="-122"/>
              <a:ea typeface="楷体_GB2312" pitchFamily="49" charset="-122"/>
            </a:endParaRPr>
          </a:p>
          <a:p>
            <a:pPr eaLnBrk="1" hangingPunct="1"/>
            <a:r>
              <a:rPr lang="zh-CN" altLang="en-US" sz="2400" dirty="0">
                <a:latin typeface="楷体_GB2312" pitchFamily="49" charset="-122"/>
                <a:ea typeface="楷体_GB2312" pitchFamily="49" charset="-122"/>
              </a:rPr>
              <a:t>产品介绍练习</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7347">
                                            <p:txEl>
                                              <p:charRg st="0" end="66"/>
                                            </p:txEl>
                                          </p:spTgt>
                                        </p:tgtEl>
                                        <p:attrNameLst>
                                          <p:attrName>style.visibility</p:attrName>
                                        </p:attrNameLst>
                                      </p:cBhvr>
                                      <p:to>
                                        <p:strVal val="visible"/>
                                      </p:to>
                                    </p:set>
                                    <p:animEffect transition="in" filter="blinds(horizontal)">
                                      <p:cBhvr>
                                        <p:cTn id="7" dur="500"/>
                                        <p:tgtEl>
                                          <p:spTgt spid="57347">
                                            <p:txEl>
                                              <p:charRg st="0" end="66"/>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7347">
                                            <p:txEl>
                                              <p:charRg st="67" end="147"/>
                                            </p:txEl>
                                          </p:spTgt>
                                        </p:tgtEl>
                                        <p:attrNameLst>
                                          <p:attrName>style.visibility</p:attrName>
                                        </p:attrNameLst>
                                      </p:cBhvr>
                                      <p:to>
                                        <p:strVal val="visible"/>
                                      </p:to>
                                    </p:set>
                                    <p:animEffect transition="in" filter="blinds(horizontal)">
                                      <p:cBhvr>
                                        <p:cTn id="12" dur="500"/>
                                        <p:tgtEl>
                                          <p:spTgt spid="57347">
                                            <p:txEl>
                                              <p:charRg st="67" end="14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7347">
                                            <p:txEl>
                                              <p:charRg st="148" end="155"/>
                                            </p:txEl>
                                          </p:spTgt>
                                        </p:tgtEl>
                                        <p:attrNameLst>
                                          <p:attrName>style.visibility</p:attrName>
                                        </p:attrNameLst>
                                      </p:cBhvr>
                                      <p:to>
                                        <p:strVal val="visible"/>
                                      </p:to>
                                    </p:set>
                                    <p:animEffect transition="in" filter="blinds(horizontal)">
                                      <p:cBhvr>
                                        <p:cTn id="17" dur="500"/>
                                        <p:tgtEl>
                                          <p:spTgt spid="57347">
                                            <p:txEl>
                                              <p:charRg st="148" end="15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Oval 2"/>
          <p:cNvSpPr/>
          <p:nvPr/>
        </p:nvSpPr>
        <p:spPr>
          <a:xfrm>
            <a:off x="5364163" y="1989138"/>
            <a:ext cx="2952750" cy="2692400"/>
          </a:xfrm>
          <a:prstGeom prst="ellipse">
            <a:avLst/>
          </a:prstGeom>
          <a:gradFill rotWithShape="1">
            <a:gsLst>
              <a:gs pos="0">
                <a:srgbClr val="FF0000">
                  <a:alpha val="70000"/>
                </a:srgbClr>
              </a:gs>
              <a:gs pos="100000">
                <a:srgbClr val="C20000"/>
              </a:gs>
            </a:gsLst>
            <a:path path="shape">
              <a:fillToRect l="50000" t="50000" r="50000" b="50000"/>
            </a:path>
            <a:tileRect/>
          </a:gradFill>
          <a:ln w="9525">
            <a:noFill/>
          </a:ln>
        </p:spPr>
        <p:txBody>
          <a:bodyPr wrap="none" anchor="ctr" anchorCtr="0"/>
          <a:p>
            <a:endParaRPr lang="zh-CN" altLang="en-US" dirty="0">
              <a:latin typeface="Frutiger 45 Light" pitchFamily="2" charset="0"/>
            </a:endParaRPr>
          </a:p>
        </p:txBody>
      </p:sp>
      <p:sp>
        <p:nvSpPr>
          <p:cNvPr id="59395" name="Rectangle 3"/>
          <p:cNvSpPr/>
          <p:nvPr/>
        </p:nvSpPr>
        <p:spPr>
          <a:xfrm>
            <a:off x="6429375" y="2949575"/>
            <a:ext cx="952500" cy="866775"/>
          </a:xfrm>
          <a:prstGeom prst="rect">
            <a:avLst/>
          </a:prstGeom>
          <a:gradFill rotWithShape="1">
            <a:gsLst>
              <a:gs pos="0">
                <a:srgbClr val="FFFF00">
                  <a:alpha val="70000"/>
                </a:srgbClr>
              </a:gs>
              <a:gs pos="100000">
                <a:srgbClr val="D2D200"/>
              </a:gs>
            </a:gsLst>
            <a:path path="shape">
              <a:fillToRect l="50000" t="50000" r="50000" b="50000"/>
            </a:path>
            <a:tileRect/>
          </a:gradFill>
          <a:ln w="9525">
            <a:noFill/>
          </a:ln>
        </p:spPr>
        <p:txBody>
          <a:bodyPr wrap="none" anchor="ctr" anchorCtr="0"/>
          <a:p>
            <a:r>
              <a:rPr lang="zh-CN" altLang="en-US" sz="3600" b="0" dirty="0">
                <a:solidFill>
                  <a:schemeClr val="bg1"/>
                </a:solidFill>
                <a:latin typeface="Times New Roman" panose="02020603050405020304" pitchFamily="18" charset="0"/>
              </a:rPr>
              <a:t>核心</a:t>
            </a:r>
            <a:endParaRPr lang="zh-CN" altLang="en-US" sz="3600" b="0" dirty="0">
              <a:solidFill>
                <a:schemeClr val="bg1"/>
              </a:solidFill>
              <a:latin typeface="Times New Roman" panose="02020603050405020304" pitchFamily="18" charset="0"/>
            </a:endParaRPr>
          </a:p>
        </p:txBody>
      </p:sp>
      <p:sp>
        <p:nvSpPr>
          <p:cNvPr id="59396" name="Text Box 4"/>
          <p:cNvSpPr txBox="1"/>
          <p:nvPr/>
        </p:nvSpPr>
        <p:spPr>
          <a:xfrm>
            <a:off x="6013450" y="4032250"/>
            <a:ext cx="1677988" cy="457200"/>
          </a:xfrm>
          <a:prstGeom prst="rect">
            <a:avLst/>
          </a:prstGeom>
          <a:noFill/>
          <a:ln w="9525">
            <a:noFill/>
          </a:ln>
        </p:spPr>
        <p:txBody>
          <a:bodyPr>
            <a:spAutoFit/>
          </a:bodyPr>
          <a:p>
            <a:pPr>
              <a:spcBef>
                <a:spcPct val="50000"/>
              </a:spcBef>
            </a:pPr>
            <a:r>
              <a:rPr lang="zh-CN" altLang="en-US" b="0" dirty="0">
                <a:solidFill>
                  <a:schemeClr val="bg1"/>
                </a:solidFill>
                <a:latin typeface="Times New Roman" panose="02020603050405020304" pitchFamily="18" charset="0"/>
                <a:ea typeface="华文中宋" panose="02010600040101010101" pitchFamily="2" charset="-122"/>
              </a:rPr>
              <a:t>准备部分</a:t>
            </a:r>
            <a:endParaRPr lang="zh-CN" altLang="en-US" b="0" dirty="0">
              <a:solidFill>
                <a:schemeClr val="bg1"/>
              </a:solidFill>
              <a:latin typeface="Times New Roman" panose="02020603050405020304" pitchFamily="18" charset="0"/>
              <a:ea typeface="华文中宋" panose="02010600040101010101" pitchFamily="2" charset="-122"/>
            </a:endParaRPr>
          </a:p>
        </p:txBody>
      </p:sp>
      <p:sp>
        <p:nvSpPr>
          <p:cNvPr id="59397" name="Text Box 5"/>
          <p:cNvSpPr txBox="1"/>
          <p:nvPr/>
        </p:nvSpPr>
        <p:spPr>
          <a:xfrm>
            <a:off x="1885950" y="3040063"/>
            <a:ext cx="838200" cy="457200"/>
          </a:xfrm>
          <a:prstGeom prst="rect">
            <a:avLst/>
          </a:prstGeom>
          <a:noFill/>
          <a:ln w="9525">
            <a:noFill/>
          </a:ln>
        </p:spPr>
        <p:txBody>
          <a:bodyPr>
            <a:spAutoFit/>
          </a:bodyPr>
          <a:p>
            <a:pPr>
              <a:spcBef>
                <a:spcPct val="50000"/>
              </a:spcBef>
            </a:pPr>
            <a:r>
              <a:rPr lang="zh-CN" altLang="en-US" dirty="0">
                <a:solidFill>
                  <a:schemeClr val="bg1"/>
                </a:solidFill>
                <a:latin typeface="Times New Roman" panose="02020603050405020304" pitchFamily="18" charset="0"/>
                <a:ea typeface="华文中宋" panose="02010600040101010101" pitchFamily="2" charset="-122"/>
              </a:rPr>
              <a:t>核心</a:t>
            </a:r>
            <a:endParaRPr lang="zh-CN" altLang="en-US" dirty="0">
              <a:solidFill>
                <a:schemeClr val="bg1"/>
              </a:solidFill>
              <a:latin typeface="Times New Roman" panose="02020603050405020304" pitchFamily="18" charset="0"/>
              <a:ea typeface="华文中宋" panose="02010600040101010101" pitchFamily="2" charset="-122"/>
            </a:endParaRPr>
          </a:p>
        </p:txBody>
      </p:sp>
      <p:sp>
        <p:nvSpPr>
          <p:cNvPr id="59398" name="Rectangle 6"/>
          <p:cNvSpPr>
            <a:spLocks noGrp="1"/>
          </p:cNvSpPr>
          <p:nvPr>
            <p:ph type="title" idx="4294967295"/>
          </p:nvPr>
        </p:nvSpPr>
        <p:spPr>
          <a:xfrm>
            <a:off x="900113" y="476250"/>
            <a:ext cx="7773987" cy="1143000"/>
          </a:xfrm>
          <a:ln/>
        </p:spPr>
        <p:txBody>
          <a:bodyPr vert="horz" wrap="square" anchor="ctr" anchorCtr="0"/>
          <a:p>
            <a:pPr eaLnBrk="1" hangingPunct="1"/>
            <a:r>
              <a:rPr lang="zh-TW" altLang="en-US" sz="4000" dirty="0">
                <a:solidFill>
                  <a:srgbClr val="FF3300"/>
                </a:solidFill>
              </a:rPr>
              <a:t>产品介绍框架</a:t>
            </a:r>
            <a:endParaRPr lang="zh-TW" altLang="en-US" sz="4000" dirty="0">
              <a:solidFill>
                <a:srgbClr val="FF3300"/>
              </a:solidFill>
            </a:endParaRPr>
          </a:p>
        </p:txBody>
      </p:sp>
      <p:sp>
        <p:nvSpPr>
          <p:cNvPr id="59399" name="Rectangle 7"/>
          <p:cNvSpPr>
            <a:spLocks noGrp="1"/>
          </p:cNvSpPr>
          <p:nvPr>
            <p:ph type="body" idx="4294967295"/>
          </p:nvPr>
        </p:nvSpPr>
        <p:spPr>
          <a:xfrm>
            <a:off x="323850" y="1989138"/>
            <a:ext cx="4608513" cy="2808287"/>
          </a:xfrm>
          <a:ln/>
        </p:spPr>
        <p:txBody>
          <a:bodyPr vert="horz" wrap="square" anchor="t" anchorCtr="0"/>
          <a:p>
            <a:pPr eaLnBrk="1" hangingPunct="1">
              <a:lnSpc>
                <a:spcPct val="90000"/>
              </a:lnSpc>
              <a:buNone/>
            </a:pPr>
            <a:r>
              <a:rPr lang="zh-CN" altLang="en-US" sz="2400" dirty="0">
                <a:solidFill>
                  <a:srgbClr val="000066"/>
                </a:solidFill>
              </a:rPr>
              <a:t>核心部分</a:t>
            </a:r>
            <a:endParaRPr lang="zh-CN" altLang="en-US" sz="2400" dirty="0">
              <a:solidFill>
                <a:srgbClr val="000066"/>
              </a:solidFill>
            </a:endParaRPr>
          </a:p>
          <a:p>
            <a:pPr eaLnBrk="1" hangingPunct="1">
              <a:lnSpc>
                <a:spcPct val="90000"/>
              </a:lnSpc>
            </a:pPr>
            <a:r>
              <a:rPr lang="zh-CN" altLang="en-US" sz="2400" dirty="0"/>
              <a:t>产品的利益，好处，用于介绍</a:t>
            </a:r>
            <a:endParaRPr lang="zh-CN" altLang="en-US" sz="2400" dirty="0"/>
          </a:p>
          <a:p>
            <a:pPr eaLnBrk="1" hangingPunct="1">
              <a:lnSpc>
                <a:spcPct val="90000"/>
              </a:lnSpc>
              <a:buNone/>
            </a:pPr>
            <a:endParaRPr lang="zh-CN" altLang="en-US" sz="2400" dirty="0"/>
          </a:p>
          <a:p>
            <a:pPr eaLnBrk="1" hangingPunct="1">
              <a:lnSpc>
                <a:spcPct val="90000"/>
              </a:lnSpc>
              <a:buNone/>
            </a:pPr>
            <a:r>
              <a:rPr lang="zh-CN" altLang="en-US" sz="2400" dirty="0">
                <a:solidFill>
                  <a:srgbClr val="000066"/>
                </a:solidFill>
              </a:rPr>
              <a:t>准备部分</a:t>
            </a:r>
            <a:endParaRPr lang="en-US" altLang="zh-CN" sz="2400" dirty="0">
              <a:solidFill>
                <a:srgbClr val="000066"/>
              </a:solidFill>
            </a:endParaRPr>
          </a:p>
          <a:p>
            <a:pPr eaLnBrk="1" hangingPunct="1">
              <a:lnSpc>
                <a:spcPct val="90000"/>
              </a:lnSpc>
            </a:pPr>
            <a:r>
              <a:rPr lang="zh-CN" altLang="en-US" sz="2400" dirty="0"/>
              <a:t>销售员该掌握，用于答疑</a:t>
            </a:r>
            <a:endParaRPr lang="zh-CN" altLang="en-US" sz="2400" dirty="0"/>
          </a:p>
        </p:txBody>
      </p:sp>
      <p:sp>
        <p:nvSpPr>
          <p:cNvPr id="59400" name="Text Box 8" descr="新闻纸"/>
          <p:cNvSpPr txBox="1"/>
          <p:nvPr/>
        </p:nvSpPr>
        <p:spPr>
          <a:xfrm>
            <a:off x="1116013" y="4724400"/>
            <a:ext cx="5472112" cy="1465263"/>
          </a:xfrm>
          <a:prstGeom prst="rect">
            <a:avLst/>
          </a:prstGeom>
          <a:noFill/>
          <a:ln w="9525">
            <a:noFill/>
          </a:ln>
        </p:spPr>
        <p:txBody>
          <a:bodyPr>
            <a:spAutoFit/>
          </a:bodyPr>
          <a:p>
            <a:pPr>
              <a:spcBef>
                <a:spcPct val="50000"/>
              </a:spcBef>
            </a:pPr>
            <a:r>
              <a:rPr lang="zh-CN" altLang="en-US" sz="3600" dirty="0">
                <a:solidFill>
                  <a:srgbClr val="FF0000"/>
                </a:solidFill>
                <a:latin typeface="华文隶书" panose="02010800040101010101" pitchFamily="2" charset="-122"/>
                <a:ea typeface="华文隶书" panose="02010800040101010101" pitchFamily="2" charset="-122"/>
              </a:rPr>
              <a:t>话留三分</a:t>
            </a:r>
            <a:endParaRPr lang="zh-CN" altLang="en-US" sz="3600" dirty="0">
              <a:solidFill>
                <a:srgbClr val="FF0000"/>
              </a:solidFill>
              <a:latin typeface="华文隶书" panose="02010800040101010101" pitchFamily="2" charset="-122"/>
              <a:ea typeface="华文隶书" panose="02010800040101010101" pitchFamily="2" charset="-122"/>
            </a:endParaRPr>
          </a:p>
          <a:p>
            <a:pPr>
              <a:spcBef>
                <a:spcPct val="50000"/>
              </a:spcBef>
            </a:pPr>
            <a:r>
              <a:rPr lang="zh-CN" altLang="en-US" sz="3600" dirty="0">
                <a:solidFill>
                  <a:srgbClr val="FF0000"/>
                </a:solidFill>
                <a:latin typeface="华文隶书" panose="02010800040101010101" pitchFamily="2" charset="-122"/>
                <a:ea typeface="华文隶书" panose="02010800040101010101" pitchFamily="2" charset="-122"/>
              </a:rPr>
              <a:t>                             希望永存</a:t>
            </a:r>
            <a:endParaRPr lang="zh-CN" altLang="en-US" sz="3600" dirty="0">
              <a:solidFill>
                <a:srgbClr val="FF0000"/>
              </a:solidFill>
              <a:latin typeface="华文隶书" panose="02010800040101010101" pitchFamily="2" charset="-122"/>
              <a:ea typeface="华文隶书"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9399">
                                            <p:txEl>
                                              <p:charRg st="0" end="5"/>
                                            </p:txEl>
                                          </p:spTgt>
                                        </p:tgtEl>
                                        <p:attrNameLst>
                                          <p:attrName>style.visibility</p:attrName>
                                        </p:attrNameLst>
                                      </p:cBhvr>
                                      <p:to>
                                        <p:strVal val="visible"/>
                                      </p:to>
                                    </p:set>
                                    <p:animEffect transition="in" filter="blinds(horizontal)">
                                      <p:cBhvr>
                                        <p:cTn id="7" dur="500"/>
                                        <p:tgtEl>
                                          <p:spTgt spid="59399">
                                            <p:txEl>
                                              <p:charRg st="0" end="5"/>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59399">
                                            <p:txEl>
                                              <p:charRg st="5" end="19"/>
                                            </p:txEl>
                                          </p:spTgt>
                                        </p:tgtEl>
                                        <p:attrNameLst>
                                          <p:attrName>style.visibility</p:attrName>
                                        </p:attrNameLst>
                                      </p:cBhvr>
                                      <p:to>
                                        <p:strVal val="visible"/>
                                      </p:to>
                                    </p:set>
                                    <p:animEffect transition="in" filter="blinds(horizontal)">
                                      <p:cBhvr>
                                        <p:cTn id="10" dur="500"/>
                                        <p:tgtEl>
                                          <p:spTgt spid="59399">
                                            <p:txEl>
                                              <p:charRg st="5" end="19"/>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59399">
                                            <p:txEl>
                                              <p:charRg st="20" end="25"/>
                                            </p:txEl>
                                          </p:spTgt>
                                        </p:tgtEl>
                                        <p:attrNameLst>
                                          <p:attrName>style.visibility</p:attrName>
                                        </p:attrNameLst>
                                      </p:cBhvr>
                                      <p:to>
                                        <p:strVal val="visible"/>
                                      </p:to>
                                    </p:set>
                                    <p:animEffect transition="in" filter="blinds(horizontal)">
                                      <p:cBhvr>
                                        <p:cTn id="15" dur="500"/>
                                        <p:tgtEl>
                                          <p:spTgt spid="59399">
                                            <p:txEl>
                                              <p:charRg st="20" end="25"/>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59399">
                                            <p:txEl>
                                              <p:charRg st="25" end="37"/>
                                            </p:txEl>
                                          </p:spTgt>
                                        </p:tgtEl>
                                        <p:attrNameLst>
                                          <p:attrName>style.visibility</p:attrName>
                                        </p:attrNameLst>
                                      </p:cBhvr>
                                      <p:to>
                                        <p:strVal val="visible"/>
                                      </p:to>
                                    </p:set>
                                    <p:animEffect transition="in" filter="blinds(horizontal)">
                                      <p:cBhvr>
                                        <p:cTn id="18" dur="500"/>
                                        <p:tgtEl>
                                          <p:spTgt spid="59399">
                                            <p:txEl>
                                              <p:charRg st="25" end="37"/>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8" presetClass="entr" presetSubtype="0" accel="50000" fill="hold" grpId="0" nodeType="clickEffect">
                                  <p:stCondLst>
                                    <p:cond delay="0"/>
                                  </p:stCondLst>
                                  <p:iterate type="lt">
                                    <p:tmPct val="50000"/>
                                  </p:iterate>
                                  <p:childTnLst>
                                    <p:set>
                                      <p:cBhvr>
                                        <p:cTn id="22" dur="1" fill="hold">
                                          <p:stCondLst>
                                            <p:cond delay="0"/>
                                          </p:stCondLst>
                                        </p:cTn>
                                        <p:tgtEl>
                                          <p:spTgt spid="59400"/>
                                        </p:tgtEl>
                                        <p:attrNameLst>
                                          <p:attrName>style.visibility</p:attrName>
                                        </p:attrNameLst>
                                      </p:cBhvr>
                                      <p:to>
                                        <p:strVal val="visible"/>
                                      </p:to>
                                    </p:set>
                                    <p:set>
                                      <p:cBhvr>
                                        <p:cTn id="23" dur="455" fill="hold">
                                          <p:stCondLst>
                                            <p:cond delay="0"/>
                                          </p:stCondLst>
                                        </p:cTn>
                                        <p:tgtEl>
                                          <p:spTgt spid="59400"/>
                                        </p:tgtEl>
                                        <p:attrNameLst>
                                          <p:attrName>style.rotation</p:attrName>
                                        </p:attrNameLst>
                                      </p:cBhvr>
                                      <p:to>
                                        <p:strVal val="-45.0"/>
                                      </p:to>
                                    </p:set>
                                    <p:anim calcmode="lin" valueType="num">
                                      <p:cBhvr>
                                        <p:cTn id="24" dur="455" fill="hold">
                                          <p:stCondLst>
                                            <p:cond delay="455"/>
                                          </p:stCondLst>
                                        </p:cTn>
                                        <p:tgtEl>
                                          <p:spTgt spid="59400"/>
                                        </p:tgtEl>
                                        <p:attrNameLst>
                                          <p:attrName>style.rotation</p:attrName>
                                        </p:attrNameLst>
                                      </p:cBhvr>
                                      <p:tavLst>
                                        <p:tav tm="0">
                                          <p:val>
                                            <p:fltVal val="-45.000000"/>
                                          </p:val>
                                        </p:tav>
                                        <p:tav tm="69900">
                                          <p:val>
                                            <p:fltVal val="45.000000"/>
                                          </p:val>
                                        </p:tav>
                                        <p:tav tm="100000">
                                          <p:val>
                                            <p:fltVal val="0.000000"/>
                                          </p:val>
                                        </p:tav>
                                      </p:tavLst>
                                    </p:anim>
                                    <p:anim calcmode="lin" valueType="num">
                                      <p:cBhvr>
                                        <p:cTn id="25" dur="455" fill="hold">
                                          <p:stCondLst>
                                            <p:cond delay="0"/>
                                          </p:stCondLst>
                                        </p:cTn>
                                        <p:tgtEl>
                                          <p:spTgt spid="59400"/>
                                        </p:tgtEl>
                                        <p:attrNameLst>
                                          <p:attrName>ppt_y</p:attrName>
                                        </p:attrNameLst>
                                      </p:cBhvr>
                                      <p:tavLst>
                                        <p:tav tm="0">
                                          <p:val>
                                            <p:strVal val="#ppt_y-1"/>
                                          </p:val>
                                        </p:tav>
                                        <p:tav tm="100000">
                                          <p:val>
                                            <p:strVal val="#ppt_y-(0.354*#ppt_w-0.172*#ppt_h)"/>
                                          </p:val>
                                        </p:tav>
                                      </p:tavLst>
                                    </p:anim>
                                    <p:anim calcmode="lin" valueType="num">
                                      <p:cBhvr>
                                        <p:cTn id="26" dur="156" decel="50000" autoRev="1" fill="hold">
                                          <p:stCondLst>
                                            <p:cond delay="455"/>
                                          </p:stCondLst>
                                        </p:cTn>
                                        <p:tgtEl>
                                          <p:spTgt spid="59400"/>
                                        </p:tgtEl>
                                        <p:attrNameLst>
                                          <p:attrName>ppt_y</p:attrName>
                                        </p:attrNameLst>
                                      </p:cBhvr>
                                      <p:tavLst>
                                        <p:tav tm="0">
                                          <p:val>
                                            <p:strVal val="#ppt_y-(0.354*#ppt_w-0.172*#ppt_h)"/>
                                          </p:val>
                                        </p:tav>
                                        <p:tav tm="100000">
                                          <p:val>
                                            <p:strVal val="#ppt_y-(0.354*#ppt_w-0.172*#ppt_h)-#ppt_h/2"/>
                                          </p:val>
                                        </p:tav>
                                      </p:tavLst>
                                    </p:anim>
                                    <p:anim calcmode="lin" valueType="num">
                                      <p:cBhvr>
                                        <p:cTn id="27" dur="136" fill="hold">
                                          <p:stCondLst>
                                            <p:cond delay="864"/>
                                          </p:stCondLst>
                                        </p:cTn>
                                        <p:tgtEl>
                                          <p:spTgt spid="59400"/>
                                        </p:tgtEl>
                                        <p:attrNameLst>
                                          <p:attrName>ppt_y</p:attrName>
                                        </p:attrNameLst>
                                      </p:cBhvr>
                                      <p:tavLst>
                                        <p:tav tm="0">
                                          <p:val>
                                            <p:strVal val="#ppt_y-(0.354*#ppt_w-0.172*#ppt_h)"/>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00"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1442" name="Picture 2" descr="图片1"/>
          <p:cNvPicPr>
            <a:picLocks noChangeAspect="1"/>
          </p:cNvPicPr>
          <p:nvPr/>
        </p:nvPicPr>
        <p:blipFill>
          <a:blip r:embed="rId1"/>
          <a:stretch>
            <a:fillRect/>
          </a:stretch>
        </p:blipFill>
        <p:spPr>
          <a:xfrm>
            <a:off x="1763713" y="1844675"/>
            <a:ext cx="5619750" cy="3749675"/>
          </a:xfrm>
          <a:prstGeom prst="rect">
            <a:avLst/>
          </a:prstGeom>
          <a:noFill/>
          <a:ln w="9525">
            <a:noFill/>
          </a:ln>
        </p:spPr>
      </p:pic>
      <p:sp>
        <p:nvSpPr>
          <p:cNvPr id="61443" name="Rectangle 3"/>
          <p:cNvSpPr>
            <a:spLocks noGrp="1"/>
          </p:cNvSpPr>
          <p:nvPr>
            <p:ph type="title" idx="4294967295"/>
          </p:nvPr>
        </p:nvSpPr>
        <p:spPr>
          <a:xfrm>
            <a:off x="539750" y="549275"/>
            <a:ext cx="7773988" cy="1143000"/>
          </a:xfrm>
          <a:ln/>
        </p:spPr>
        <p:txBody>
          <a:bodyPr vert="horz" wrap="square" anchor="ctr" anchorCtr="0"/>
          <a:p>
            <a:pPr eaLnBrk="1" hangingPunct="1"/>
            <a:r>
              <a:rPr lang="zh-TW" altLang="en-US">
                <a:solidFill>
                  <a:srgbClr val="FF3300"/>
                </a:solidFill>
              </a:rPr>
              <a:t>产品介绍的层次性</a:t>
            </a:r>
            <a:endParaRPr lang="zh-TW" altLang="en-US">
              <a:solidFill>
                <a:srgbClr val="FF3300"/>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63490" name="Object 2">
            <a:hlinkClick r:id="" action="ppaction://ole?verb="/>
          </p:cNvPr>
          <p:cNvGraphicFramePr/>
          <p:nvPr>
            <p:ph sz="half" idx="1"/>
          </p:nvPr>
        </p:nvGraphicFramePr>
        <p:xfrm>
          <a:off x="7381875" y="5229225"/>
          <a:ext cx="1184275" cy="984250"/>
        </p:xfrm>
        <a:graphic>
          <a:graphicData uri="http://schemas.openxmlformats.org/presentationml/2006/ole">
            <mc:AlternateContent xmlns:mc="http://schemas.openxmlformats.org/markup-compatibility/2006">
              <mc:Choice xmlns:v="urn:schemas-microsoft-com:vml" Requires="v">
                <p:oleObj spid="_x0000_s3079" name="" r:id="rId1" imgW="2334260" imgH="2061845" progId="MS_ClipArt_Gallery.5">
                  <p:embed/>
                </p:oleObj>
              </mc:Choice>
              <mc:Fallback>
                <p:oleObj name="" r:id="rId1" imgW="2334260" imgH="2061845" progId="MS_ClipArt_Gallery.5">
                  <p:embed/>
                  <p:pic>
                    <p:nvPicPr>
                      <p:cNvPr id="0" name="图片 3078"/>
                      <p:cNvPicPr/>
                      <p:nvPr/>
                    </p:nvPicPr>
                    <p:blipFill>
                      <a:blip r:embed="rId2"/>
                      <a:stretch>
                        <a:fillRect/>
                      </a:stretch>
                    </p:blipFill>
                    <p:spPr>
                      <a:xfrm>
                        <a:off x="7381875" y="5229225"/>
                        <a:ext cx="1184275" cy="984250"/>
                      </a:xfrm>
                      <a:prstGeom prst="rect">
                        <a:avLst/>
                      </a:prstGeom>
                      <a:noFill/>
                      <a:ln w="38100">
                        <a:miter/>
                      </a:ln>
                    </p:spPr>
                  </p:pic>
                </p:oleObj>
              </mc:Fallback>
            </mc:AlternateContent>
          </a:graphicData>
        </a:graphic>
      </p:graphicFrame>
      <p:sp>
        <p:nvSpPr>
          <p:cNvPr id="63491" name="Rectangle 3"/>
          <p:cNvSpPr>
            <a:spLocks noGrp="1"/>
          </p:cNvSpPr>
          <p:nvPr>
            <p:ph type="title" idx="4294967295"/>
          </p:nvPr>
        </p:nvSpPr>
        <p:spPr>
          <a:ln/>
        </p:spPr>
        <p:txBody>
          <a:bodyPr vert="horz" wrap="square" anchor="ctr" anchorCtr="0"/>
          <a:p>
            <a:pPr eaLnBrk="1" hangingPunct="1"/>
            <a:r>
              <a:rPr lang="zh-TW" altLang="en-US" dirty="0">
                <a:solidFill>
                  <a:srgbClr val="000066"/>
                </a:solidFill>
              </a:rPr>
              <a:t>话术示范</a:t>
            </a:r>
            <a:endParaRPr lang="zh-TW" altLang="en-US" dirty="0">
              <a:solidFill>
                <a:srgbClr val="000066"/>
              </a:solidFill>
            </a:endParaRPr>
          </a:p>
        </p:txBody>
      </p:sp>
      <p:sp>
        <p:nvSpPr>
          <p:cNvPr id="63492" name="Rectangle 4"/>
          <p:cNvSpPr>
            <a:spLocks noGrp="1"/>
          </p:cNvSpPr>
          <p:nvPr>
            <p:ph type="body" sz="half" idx="4294967295"/>
          </p:nvPr>
        </p:nvSpPr>
        <p:spPr>
          <a:xfrm>
            <a:off x="685800" y="1981200"/>
            <a:ext cx="7704138" cy="4114800"/>
          </a:xfrm>
          <a:ln/>
        </p:spPr>
        <p:txBody>
          <a:bodyPr vert="horz" wrap="square" anchor="t" anchorCtr="0"/>
          <a:lstStyle>
            <a:lvl1pPr lvl="0">
              <a:buClr>
                <a:srgbClr val="FF3300"/>
              </a:buClr>
              <a:buSzTx/>
              <a:buFont typeface="Wingdings" panose="05000000000000000000" pitchFamily="2" charset="2"/>
              <a:defRPr sz="2800"/>
            </a:lvl1pPr>
            <a:lvl2pPr lvl="1">
              <a:buClr>
                <a:srgbClr val="FF3300"/>
              </a:buClr>
              <a:buSzTx/>
              <a:buFont typeface="Wingdings" panose="05000000000000000000" pitchFamily="2" charset="2"/>
              <a:defRPr sz="2400"/>
            </a:lvl2pPr>
            <a:lvl3pPr lvl="2">
              <a:buClr>
                <a:srgbClr val="FF3300"/>
              </a:buClr>
              <a:buSzTx/>
              <a:buFont typeface="Wingdings" panose="05000000000000000000" pitchFamily="2" charset="2"/>
              <a:defRPr sz="2000"/>
            </a:lvl3pPr>
            <a:lvl4pPr lvl="3">
              <a:buClr>
                <a:srgbClr val="FF3300"/>
              </a:buClr>
              <a:buSzTx/>
              <a:buFont typeface="Wingdings" panose="05000000000000000000" pitchFamily="2" charset="2"/>
              <a:defRPr sz="1800"/>
            </a:lvl4pPr>
            <a:lvl5pPr lvl="4">
              <a:buClr>
                <a:srgbClr val="FF3300"/>
              </a:buClr>
              <a:buSzTx/>
              <a:buFont typeface="Wingdings" panose="05000000000000000000" pitchFamily="2" charset="2"/>
              <a:defRPr sz="1800"/>
            </a:lvl5pPr>
          </a:lstStyle>
          <a:p>
            <a:pPr lvl="0" eaLnBrk="1" hangingPunct="1">
              <a:buNone/>
            </a:pPr>
            <a:r>
              <a:rPr lang="zh-CN" altLang="en-US" sz="2400" dirty="0">
                <a:solidFill>
                  <a:srgbClr val="000066"/>
                </a:solidFill>
              </a:rPr>
              <a:t>透支功能</a:t>
            </a:r>
            <a:endParaRPr lang="zh-CN" altLang="en-US" sz="2400" dirty="0">
              <a:solidFill>
                <a:srgbClr val="000066"/>
              </a:solidFill>
            </a:endParaRPr>
          </a:p>
          <a:p>
            <a:pPr lvl="0" eaLnBrk="1" hangingPunct="1"/>
            <a:r>
              <a:rPr lang="zh-CN" altLang="en-US" sz="2400" dirty="0">
                <a:latin typeface="楷体_GB2312" pitchFamily="49" charset="-122"/>
                <a:ea typeface="楷体_GB2312" pitchFamily="49" charset="-122"/>
              </a:rPr>
              <a:t>信用卡是可以透支的，这张卡片您不用预先存钱，就可以直接刷卡消费；如果你急需现金，还可以用这张卡在</a:t>
            </a:r>
            <a:r>
              <a:rPr lang="en-US" altLang="zh-CN" sz="2400" dirty="0">
                <a:latin typeface="楷体_GB2312" pitchFamily="49" charset="-122"/>
                <a:ea typeface="楷体_GB2312" pitchFamily="49" charset="-122"/>
              </a:rPr>
              <a:t>ATM</a:t>
            </a:r>
            <a:r>
              <a:rPr lang="zh-CN" altLang="en-US" sz="2400" dirty="0">
                <a:latin typeface="楷体_GB2312" pitchFamily="49" charset="-122"/>
                <a:ea typeface="楷体_GB2312" pitchFamily="49" charset="-122"/>
              </a:rPr>
              <a:t>机上取现应急，方便你的资金周转</a:t>
            </a:r>
            <a:endParaRPr lang="zh-CN" altLang="en-US" sz="2400" dirty="0">
              <a:latin typeface="楷体_GB2312" pitchFamily="49" charset="-122"/>
              <a:ea typeface="楷体_GB2312" pitchFamily="49" charset="-122"/>
            </a:endParaRPr>
          </a:p>
          <a:p>
            <a:pPr lvl="0" eaLnBrk="1" hangingPunct="1"/>
            <a:endParaRPr lang="zh-CN" altLang="en-US" sz="1600" dirty="0">
              <a:latin typeface="楷体_GB2312" pitchFamily="49" charset="-122"/>
              <a:ea typeface="楷体_GB2312" pitchFamily="49" charset="-122"/>
            </a:endParaRPr>
          </a:p>
          <a:p>
            <a:pPr lvl="0" eaLnBrk="1" hangingPunct="1">
              <a:buNone/>
            </a:pPr>
            <a:r>
              <a:rPr lang="zh-CN" altLang="en-US" sz="2400" dirty="0">
                <a:solidFill>
                  <a:srgbClr val="000066"/>
                </a:solidFill>
              </a:rPr>
              <a:t>透支额度</a:t>
            </a:r>
            <a:endParaRPr lang="zh-CN" altLang="en-US" sz="2400" dirty="0">
              <a:solidFill>
                <a:srgbClr val="000066"/>
              </a:solidFill>
            </a:endParaRPr>
          </a:p>
          <a:p>
            <a:pPr lvl="0" eaLnBrk="1" hangingPunct="1"/>
            <a:r>
              <a:rPr lang="zh-CN" altLang="en-US" sz="2400" dirty="0">
                <a:latin typeface="楷体_GB2312" pitchFamily="49" charset="-122"/>
                <a:ea typeface="楷体_GB2312" pitchFamily="49" charset="-122"/>
              </a:rPr>
              <a:t>我行信用卡的额度最低</a:t>
            </a:r>
            <a:r>
              <a:rPr lang="en-US" altLang="zh-CN" sz="2400" dirty="0">
                <a:latin typeface="楷体_GB2312" pitchFamily="49" charset="-122"/>
                <a:ea typeface="楷体_GB2312" pitchFamily="49" charset="-122"/>
              </a:rPr>
              <a:t>2000</a:t>
            </a:r>
            <a:r>
              <a:rPr lang="zh-CN" altLang="en-US" sz="2400" dirty="0">
                <a:latin typeface="楷体_GB2312" pitchFamily="49" charset="-122"/>
                <a:ea typeface="楷体_GB2312" pitchFamily="49" charset="-122"/>
              </a:rPr>
              <a:t>，最高</a:t>
            </a:r>
            <a:r>
              <a:rPr lang="en-US" altLang="zh-CN" sz="2400" dirty="0">
                <a:latin typeface="楷体_GB2312" pitchFamily="49" charset="-122"/>
                <a:ea typeface="楷体_GB2312" pitchFamily="49" charset="-122"/>
              </a:rPr>
              <a:t>50000</a:t>
            </a:r>
            <a:r>
              <a:rPr lang="zh-CN" altLang="en-US" sz="2400" dirty="0">
                <a:latin typeface="楷体_GB2312" pitchFamily="49" charset="-122"/>
                <a:ea typeface="楷体_GB2312" pitchFamily="49" charset="-122"/>
              </a:rPr>
              <a:t>，银行会根据您的资信状况进行审批，您如实，仔细的填写这张申请表会有利于您的审批</a:t>
            </a:r>
            <a:endParaRPr lang="zh-CN" altLang="en-US" sz="2400" dirty="0">
              <a:latin typeface="楷体_GB2312" pitchFamily="49" charset="-122"/>
              <a:ea typeface="楷体_GB2312" pitchFamily="49" charset="-122"/>
            </a:endParaRPr>
          </a:p>
          <a:p>
            <a:pPr lvl="0" eaLnBrk="1" hangingPunct="1"/>
            <a:endParaRPr lang="zh-CN" altLang="en-US" sz="2400" dirty="0">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3492">
                                            <p:txEl>
                                              <p:charRg st="0" end="5"/>
                                            </p:txEl>
                                          </p:spTgt>
                                        </p:tgtEl>
                                        <p:attrNameLst>
                                          <p:attrName>style.visibility</p:attrName>
                                        </p:attrNameLst>
                                      </p:cBhvr>
                                      <p:to>
                                        <p:strVal val="visible"/>
                                      </p:to>
                                    </p:set>
                                    <p:animEffect transition="in" filter="blinds(horizontal)">
                                      <p:cBhvr>
                                        <p:cTn id="7" dur="500"/>
                                        <p:tgtEl>
                                          <p:spTgt spid="63492">
                                            <p:txEl>
                                              <p:charRg st="0" end="5"/>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3492">
                                            <p:txEl>
                                              <p:charRg st="5" end="72"/>
                                            </p:txEl>
                                          </p:spTgt>
                                        </p:tgtEl>
                                        <p:attrNameLst>
                                          <p:attrName>style.visibility</p:attrName>
                                        </p:attrNameLst>
                                      </p:cBhvr>
                                      <p:to>
                                        <p:strVal val="visible"/>
                                      </p:to>
                                    </p:set>
                                    <p:animEffect transition="in" filter="blinds(horizontal)">
                                      <p:cBhvr>
                                        <p:cTn id="10" dur="500"/>
                                        <p:tgtEl>
                                          <p:spTgt spid="63492">
                                            <p:txEl>
                                              <p:charRg st="5" end="7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63492">
                                            <p:txEl>
                                              <p:charRg st="73" end="78"/>
                                            </p:txEl>
                                          </p:spTgt>
                                        </p:tgtEl>
                                        <p:attrNameLst>
                                          <p:attrName>style.visibility</p:attrName>
                                        </p:attrNameLst>
                                      </p:cBhvr>
                                      <p:to>
                                        <p:strVal val="visible"/>
                                      </p:to>
                                    </p:set>
                                    <p:animEffect transition="in" filter="blinds(horizontal)">
                                      <p:cBhvr>
                                        <p:cTn id="15" dur="500"/>
                                        <p:tgtEl>
                                          <p:spTgt spid="63492">
                                            <p:txEl>
                                              <p:charRg st="73" end="78"/>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63492">
                                            <p:txEl>
                                              <p:charRg st="78" end="140"/>
                                            </p:txEl>
                                          </p:spTgt>
                                        </p:tgtEl>
                                        <p:attrNameLst>
                                          <p:attrName>style.visibility</p:attrName>
                                        </p:attrNameLst>
                                      </p:cBhvr>
                                      <p:to>
                                        <p:strVal val="visible"/>
                                      </p:to>
                                    </p:set>
                                    <p:animEffect transition="in" filter="blinds(horizontal)">
                                      <p:cBhvr>
                                        <p:cTn id="18" dur="500"/>
                                        <p:tgtEl>
                                          <p:spTgt spid="63492">
                                            <p:txEl>
                                              <p:charRg st="78" end="14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Rectangle 2"/>
          <p:cNvSpPr>
            <a:spLocks noGrp="1"/>
          </p:cNvSpPr>
          <p:nvPr>
            <p:ph type="title" idx="4294967295"/>
          </p:nvPr>
        </p:nvSpPr>
        <p:spPr>
          <a:ln/>
        </p:spPr>
        <p:txBody>
          <a:bodyPr vert="horz" wrap="square" anchor="ctr" anchorCtr="0"/>
          <a:p>
            <a:pPr eaLnBrk="1" hangingPunct="1"/>
            <a:r>
              <a:rPr lang="zh-TW" altLang="en-US" dirty="0">
                <a:solidFill>
                  <a:srgbClr val="000066"/>
                </a:solidFill>
              </a:rPr>
              <a:t>话术示范</a:t>
            </a:r>
            <a:endParaRPr lang="zh-TW" altLang="en-US" dirty="0">
              <a:solidFill>
                <a:srgbClr val="000066"/>
              </a:solidFill>
            </a:endParaRPr>
          </a:p>
        </p:txBody>
      </p:sp>
      <p:sp>
        <p:nvSpPr>
          <p:cNvPr id="65539" name="Rectangle 3"/>
          <p:cNvSpPr>
            <a:spLocks noGrp="1"/>
          </p:cNvSpPr>
          <p:nvPr>
            <p:ph type="body" sz="half" idx="4294967295"/>
          </p:nvPr>
        </p:nvSpPr>
        <p:spPr>
          <a:xfrm>
            <a:off x="684213" y="1844675"/>
            <a:ext cx="7775575" cy="4114800"/>
          </a:xfrm>
          <a:ln/>
        </p:spPr>
        <p:txBody>
          <a:bodyPr vert="horz" wrap="square" anchor="t" anchorCtr="0"/>
          <a:lstStyle>
            <a:lvl1pPr lvl="0">
              <a:buClr>
                <a:srgbClr val="FF3300"/>
              </a:buClr>
              <a:buSzTx/>
              <a:buFont typeface="Wingdings" panose="05000000000000000000" pitchFamily="2" charset="2"/>
              <a:defRPr sz="2800"/>
            </a:lvl1pPr>
            <a:lvl2pPr lvl="1">
              <a:buClr>
                <a:srgbClr val="FF3300"/>
              </a:buClr>
              <a:buSzTx/>
              <a:buFont typeface="Wingdings" panose="05000000000000000000" pitchFamily="2" charset="2"/>
              <a:defRPr sz="2400"/>
            </a:lvl2pPr>
            <a:lvl3pPr lvl="2">
              <a:buClr>
                <a:srgbClr val="FF3300"/>
              </a:buClr>
              <a:buSzTx/>
              <a:buFont typeface="Wingdings" panose="05000000000000000000" pitchFamily="2" charset="2"/>
              <a:defRPr sz="2000"/>
            </a:lvl3pPr>
            <a:lvl4pPr lvl="3">
              <a:buClr>
                <a:srgbClr val="FF3300"/>
              </a:buClr>
              <a:buSzTx/>
              <a:buFont typeface="Wingdings" panose="05000000000000000000" pitchFamily="2" charset="2"/>
              <a:defRPr sz="1800"/>
            </a:lvl4pPr>
            <a:lvl5pPr lvl="4">
              <a:buClr>
                <a:srgbClr val="FF3300"/>
              </a:buClr>
              <a:buSzTx/>
              <a:buFont typeface="Wingdings" panose="05000000000000000000" pitchFamily="2" charset="2"/>
              <a:defRPr sz="1800"/>
            </a:lvl5pPr>
          </a:lstStyle>
          <a:p>
            <a:pPr lvl="0" eaLnBrk="1" hangingPunct="1">
              <a:buNone/>
            </a:pPr>
            <a:r>
              <a:rPr lang="zh-CN" altLang="en-US" sz="2400" dirty="0">
                <a:solidFill>
                  <a:srgbClr val="000066"/>
                </a:solidFill>
              </a:rPr>
              <a:t>预借现金</a:t>
            </a:r>
            <a:endParaRPr lang="zh-CN" altLang="en-US" sz="2400" dirty="0">
              <a:solidFill>
                <a:srgbClr val="000066"/>
              </a:solidFill>
            </a:endParaRPr>
          </a:p>
          <a:p>
            <a:pPr lvl="0" eaLnBrk="1" hangingPunct="1"/>
            <a:r>
              <a:rPr lang="zh-CN" altLang="en-US" sz="2400" dirty="0">
                <a:latin typeface="楷体_GB2312" pitchFamily="49" charset="-122"/>
                <a:ea typeface="楷体_GB2312" pitchFamily="49" charset="-122"/>
              </a:rPr>
              <a:t>如果您急需用钱的时候，可以用信用卡在任何银行的</a:t>
            </a:r>
            <a:r>
              <a:rPr lang="en-US" altLang="zh-CN" sz="2400" dirty="0">
                <a:latin typeface="楷体_GB2312" pitchFamily="49" charset="-122"/>
                <a:ea typeface="楷体_GB2312" pitchFamily="49" charset="-122"/>
              </a:rPr>
              <a:t>ATM</a:t>
            </a:r>
            <a:r>
              <a:rPr lang="zh-CN" altLang="en-US" sz="2400" dirty="0">
                <a:latin typeface="楷体_GB2312" pitchFamily="49" charset="-122"/>
                <a:ea typeface="楷体_GB2312" pitchFamily="49" charset="-122"/>
              </a:rPr>
              <a:t>机上提取现金，而您只需要支出少许费用，您就可以取现应急，非常方便</a:t>
            </a:r>
            <a:endParaRPr lang="zh-CN" altLang="en-US" sz="2400" dirty="0">
              <a:latin typeface="楷体_GB2312" pitchFamily="49" charset="-122"/>
              <a:ea typeface="楷体_GB2312" pitchFamily="49" charset="-122"/>
            </a:endParaRPr>
          </a:p>
          <a:p>
            <a:pPr lvl="0" eaLnBrk="1" hangingPunct="1">
              <a:buNone/>
            </a:pPr>
            <a:endParaRPr lang="zh-CN" altLang="en-US" sz="2400" dirty="0"/>
          </a:p>
          <a:p>
            <a:pPr lvl="0" eaLnBrk="1" hangingPunct="1">
              <a:buNone/>
            </a:pPr>
            <a:r>
              <a:rPr lang="zh-CN" altLang="en-US" sz="2400" dirty="0">
                <a:solidFill>
                  <a:srgbClr val="000066"/>
                </a:solidFill>
              </a:rPr>
              <a:t>费用</a:t>
            </a:r>
            <a:r>
              <a:rPr lang="en-US" altLang="zh-CN" sz="2400" dirty="0">
                <a:solidFill>
                  <a:srgbClr val="000066"/>
                </a:solidFill>
              </a:rPr>
              <a:t>/</a:t>
            </a:r>
            <a:r>
              <a:rPr lang="zh-CN" altLang="en-US" sz="2400" dirty="0">
                <a:solidFill>
                  <a:srgbClr val="000066"/>
                </a:solidFill>
              </a:rPr>
              <a:t>利息</a:t>
            </a:r>
            <a:endParaRPr lang="zh-CN" altLang="en-US" sz="2400" dirty="0">
              <a:solidFill>
                <a:srgbClr val="000066"/>
              </a:solidFill>
            </a:endParaRPr>
          </a:p>
          <a:p>
            <a:pPr lvl="0" eaLnBrk="1" hangingPunct="1"/>
            <a:r>
              <a:rPr lang="zh-CN" altLang="en-US" sz="2400" dirty="0">
                <a:latin typeface="楷体_GB2312" pitchFamily="49" charset="-122"/>
                <a:ea typeface="楷体_GB2312" pitchFamily="49" charset="-122"/>
              </a:rPr>
              <a:t>您在急需用钱的时候才会取现，如果您取</a:t>
            </a:r>
            <a:r>
              <a:rPr lang="en-US" altLang="zh-CN" sz="2400" dirty="0">
                <a:latin typeface="楷体_GB2312" pitchFamily="49" charset="-122"/>
                <a:ea typeface="楷体_GB2312" pitchFamily="49" charset="-122"/>
              </a:rPr>
              <a:t>1000</a:t>
            </a:r>
            <a:r>
              <a:rPr lang="zh-CN" altLang="en-US" sz="2400" dirty="0">
                <a:latin typeface="楷体_GB2312" pitchFamily="49" charset="-122"/>
                <a:ea typeface="楷体_GB2312" pitchFamily="49" charset="-122"/>
              </a:rPr>
              <a:t>元钱，每天也只需要支付</a:t>
            </a:r>
            <a:r>
              <a:rPr lang="en-US" altLang="zh-CN" sz="2400" dirty="0">
                <a:latin typeface="楷体_GB2312" pitchFamily="49" charset="-122"/>
                <a:ea typeface="楷体_GB2312" pitchFamily="49" charset="-122"/>
              </a:rPr>
              <a:t>0.5</a:t>
            </a:r>
            <a:r>
              <a:rPr lang="zh-CN" altLang="en-US" sz="2400" dirty="0">
                <a:latin typeface="楷体_GB2312" pitchFamily="49" charset="-122"/>
                <a:ea typeface="楷体_GB2312" pitchFamily="49" charset="-122"/>
              </a:rPr>
              <a:t>元的利息</a:t>
            </a:r>
            <a:r>
              <a:rPr lang="en-US" altLang="zh-CN" sz="2400" dirty="0">
                <a:latin typeface="华文中宋" panose="02010600040101010101" pitchFamily="2" charset="-122"/>
                <a:ea typeface="楷体_GB2312" pitchFamily="49" charset="-122"/>
              </a:rPr>
              <a:t>…</a:t>
            </a:r>
            <a:endParaRPr lang="en-US" altLang="zh-CN" sz="2400" dirty="0">
              <a:latin typeface="楷体_GB2312" pitchFamily="49" charset="-122"/>
              <a:ea typeface="楷体_GB2312" pitchFamily="49" charset="-122"/>
            </a:endParaRPr>
          </a:p>
        </p:txBody>
      </p:sp>
      <p:graphicFrame>
        <p:nvGraphicFramePr>
          <p:cNvPr id="65540" name="Object 4">
            <a:hlinkClick r:id="" action="ppaction://ole?verb="/>
          </p:cNvPr>
          <p:cNvGraphicFramePr/>
          <p:nvPr>
            <p:ph sz="half" idx="1"/>
          </p:nvPr>
        </p:nvGraphicFramePr>
        <p:xfrm>
          <a:off x="7524750" y="5373688"/>
          <a:ext cx="938213" cy="849312"/>
        </p:xfrm>
        <a:graphic>
          <a:graphicData uri="http://schemas.openxmlformats.org/presentationml/2006/ole">
            <mc:AlternateContent xmlns:mc="http://schemas.openxmlformats.org/markup-compatibility/2006">
              <mc:Choice xmlns:v="urn:schemas-microsoft-com:vml" Requires="v">
                <p:oleObj spid="_x0000_s3082" name="" r:id="rId1" imgW="2334260" imgH="2061845" progId="MS_ClipArt_Gallery.5">
                  <p:embed/>
                </p:oleObj>
              </mc:Choice>
              <mc:Fallback>
                <p:oleObj name="" r:id="rId1" imgW="2334260" imgH="2061845" progId="MS_ClipArt_Gallery.5">
                  <p:embed/>
                  <p:pic>
                    <p:nvPicPr>
                      <p:cNvPr id="0" name="图片 3081"/>
                      <p:cNvPicPr/>
                      <p:nvPr/>
                    </p:nvPicPr>
                    <p:blipFill>
                      <a:blip r:embed="rId2"/>
                      <a:stretch>
                        <a:fillRect/>
                      </a:stretch>
                    </p:blipFill>
                    <p:spPr>
                      <a:xfrm>
                        <a:off x="7524750" y="5373688"/>
                        <a:ext cx="938213" cy="849312"/>
                      </a:xfrm>
                      <a:prstGeom prst="rect">
                        <a:avLst/>
                      </a:prstGeom>
                      <a:noFill/>
                      <a:ln w="38100">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5539">
                                            <p:txEl>
                                              <p:charRg st="0" end="5"/>
                                            </p:txEl>
                                          </p:spTgt>
                                        </p:tgtEl>
                                        <p:attrNameLst>
                                          <p:attrName>style.visibility</p:attrName>
                                        </p:attrNameLst>
                                      </p:cBhvr>
                                      <p:to>
                                        <p:strVal val="visible"/>
                                      </p:to>
                                    </p:set>
                                    <p:animEffect transition="in" filter="blinds(horizontal)">
                                      <p:cBhvr>
                                        <p:cTn id="7" dur="500"/>
                                        <p:tgtEl>
                                          <p:spTgt spid="65539">
                                            <p:txEl>
                                              <p:charRg st="0" end="5"/>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5539">
                                            <p:txEl>
                                              <p:charRg st="5" end="64"/>
                                            </p:txEl>
                                          </p:spTgt>
                                        </p:tgtEl>
                                        <p:attrNameLst>
                                          <p:attrName>style.visibility</p:attrName>
                                        </p:attrNameLst>
                                      </p:cBhvr>
                                      <p:to>
                                        <p:strVal val="visible"/>
                                      </p:to>
                                    </p:set>
                                    <p:animEffect transition="in" filter="blinds(horizontal)">
                                      <p:cBhvr>
                                        <p:cTn id="10" dur="500"/>
                                        <p:tgtEl>
                                          <p:spTgt spid="65539">
                                            <p:txEl>
                                              <p:charRg st="5" end="64"/>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65539">
                                            <p:txEl>
                                              <p:charRg st="65" end="71"/>
                                            </p:txEl>
                                          </p:spTgt>
                                        </p:tgtEl>
                                        <p:attrNameLst>
                                          <p:attrName>style.visibility</p:attrName>
                                        </p:attrNameLst>
                                      </p:cBhvr>
                                      <p:to>
                                        <p:strVal val="visible"/>
                                      </p:to>
                                    </p:set>
                                    <p:animEffect transition="in" filter="blinds(horizontal)">
                                      <p:cBhvr>
                                        <p:cTn id="15" dur="500"/>
                                        <p:tgtEl>
                                          <p:spTgt spid="65539">
                                            <p:txEl>
                                              <p:charRg st="65" end="71"/>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65539">
                                            <p:txEl>
                                              <p:charRg st="71" end="113"/>
                                            </p:txEl>
                                          </p:spTgt>
                                        </p:tgtEl>
                                        <p:attrNameLst>
                                          <p:attrName>style.visibility</p:attrName>
                                        </p:attrNameLst>
                                      </p:cBhvr>
                                      <p:to>
                                        <p:strVal val="visible"/>
                                      </p:to>
                                    </p:set>
                                    <p:animEffect transition="in" filter="blinds(horizontal)">
                                      <p:cBhvr>
                                        <p:cTn id="18" dur="500"/>
                                        <p:tgtEl>
                                          <p:spTgt spid="65539">
                                            <p:txEl>
                                              <p:charRg st="71" end="1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Rectangle 2"/>
          <p:cNvSpPr>
            <a:spLocks noGrp="1"/>
          </p:cNvSpPr>
          <p:nvPr>
            <p:ph type="title" idx="4294967295"/>
          </p:nvPr>
        </p:nvSpPr>
        <p:spPr>
          <a:ln/>
        </p:spPr>
        <p:txBody>
          <a:bodyPr vert="horz" wrap="square" anchor="ctr" anchorCtr="0"/>
          <a:p>
            <a:pPr eaLnBrk="1" hangingPunct="1"/>
            <a:r>
              <a:rPr lang="zh-TW" altLang="en-US" dirty="0">
                <a:solidFill>
                  <a:srgbClr val="000066"/>
                </a:solidFill>
              </a:rPr>
              <a:t>话术示范</a:t>
            </a:r>
            <a:endParaRPr lang="zh-TW" altLang="en-US" dirty="0">
              <a:solidFill>
                <a:srgbClr val="000066"/>
              </a:solidFill>
            </a:endParaRPr>
          </a:p>
        </p:txBody>
      </p:sp>
      <p:sp>
        <p:nvSpPr>
          <p:cNvPr id="67587" name="Rectangle 3"/>
          <p:cNvSpPr>
            <a:spLocks noGrp="1"/>
          </p:cNvSpPr>
          <p:nvPr>
            <p:ph type="body" sz="half" idx="4294967295"/>
          </p:nvPr>
        </p:nvSpPr>
        <p:spPr>
          <a:xfrm>
            <a:off x="612775" y="1773238"/>
            <a:ext cx="7920038" cy="4114800"/>
          </a:xfrm>
          <a:ln/>
        </p:spPr>
        <p:txBody>
          <a:bodyPr vert="horz" wrap="square" anchor="t" anchorCtr="0"/>
          <a:lstStyle>
            <a:lvl1pPr lvl="0">
              <a:buClr>
                <a:srgbClr val="FF3300"/>
              </a:buClr>
              <a:buSzTx/>
              <a:buFont typeface="Wingdings" panose="05000000000000000000" pitchFamily="2" charset="2"/>
              <a:defRPr sz="2800"/>
            </a:lvl1pPr>
            <a:lvl2pPr lvl="1">
              <a:buClr>
                <a:srgbClr val="FF3300"/>
              </a:buClr>
              <a:buSzTx/>
              <a:buFont typeface="Wingdings" panose="05000000000000000000" pitchFamily="2" charset="2"/>
              <a:defRPr sz="2400"/>
            </a:lvl2pPr>
            <a:lvl3pPr lvl="2">
              <a:buClr>
                <a:srgbClr val="FF3300"/>
              </a:buClr>
              <a:buSzTx/>
              <a:buFont typeface="Wingdings" panose="05000000000000000000" pitchFamily="2" charset="2"/>
              <a:defRPr sz="2000"/>
            </a:lvl3pPr>
            <a:lvl4pPr lvl="3">
              <a:buClr>
                <a:srgbClr val="FF3300"/>
              </a:buClr>
              <a:buSzTx/>
              <a:buFont typeface="Wingdings" panose="05000000000000000000" pitchFamily="2" charset="2"/>
              <a:defRPr sz="1800"/>
            </a:lvl4pPr>
            <a:lvl5pPr lvl="4">
              <a:buClr>
                <a:srgbClr val="FF3300"/>
              </a:buClr>
              <a:buSzTx/>
              <a:buFont typeface="Wingdings" panose="05000000000000000000" pitchFamily="2" charset="2"/>
              <a:defRPr sz="1800"/>
            </a:lvl5pPr>
          </a:lstStyle>
          <a:p>
            <a:pPr lvl="0" eaLnBrk="1" hangingPunct="1">
              <a:buNone/>
            </a:pPr>
            <a:r>
              <a:rPr lang="zh-CN" altLang="en-US" sz="2400" dirty="0">
                <a:solidFill>
                  <a:srgbClr val="000066"/>
                </a:solidFill>
              </a:rPr>
              <a:t>尊享优越</a:t>
            </a:r>
            <a:endParaRPr lang="zh-CN" altLang="en-US" sz="2400" dirty="0"/>
          </a:p>
          <a:p>
            <a:pPr lvl="0" eaLnBrk="1" hangingPunct="1"/>
            <a:r>
              <a:rPr lang="zh-CN" altLang="en-US" sz="2400" dirty="0">
                <a:latin typeface="楷体_GB2312" pitchFamily="49" charset="-122"/>
                <a:ea typeface="楷体_GB2312" pitchFamily="49" charset="-122"/>
              </a:rPr>
              <a:t>我们的信用卡还是一张消费打折卡，我行在全国各地有</a:t>
            </a:r>
            <a:r>
              <a:rPr lang="en-US" altLang="zh-CN" sz="2400" dirty="0">
                <a:latin typeface="楷体_GB2312" pitchFamily="49" charset="-122"/>
                <a:ea typeface="楷体_GB2312" pitchFamily="49" charset="-122"/>
              </a:rPr>
              <a:t>10000</a:t>
            </a:r>
            <a:r>
              <a:rPr lang="zh-CN" altLang="en-US" sz="2400" dirty="0">
                <a:latin typeface="楷体_GB2312" pitchFamily="49" charset="-122"/>
                <a:ea typeface="楷体_GB2312" pitchFamily="49" charset="-122"/>
              </a:rPr>
              <a:t>多家合作商户，您到本市的</a:t>
            </a:r>
            <a:r>
              <a:rPr lang="en-US" altLang="zh-CN" sz="2400" dirty="0">
                <a:latin typeface="楷体_GB2312" pitchFamily="49" charset="-122"/>
                <a:ea typeface="楷体_GB2312" pitchFamily="49" charset="-122"/>
              </a:rPr>
              <a:t>XX</a:t>
            </a:r>
            <a:r>
              <a:rPr lang="zh-CN" altLang="en-US" sz="2400" dirty="0">
                <a:latin typeface="楷体_GB2312" pitchFamily="49" charset="-122"/>
                <a:ea typeface="楷体_GB2312" pitchFamily="49" charset="-122"/>
              </a:rPr>
              <a:t>餐厅，刷我行信用卡消费还能享受</a:t>
            </a:r>
            <a:r>
              <a:rPr lang="en-US" altLang="zh-CN" sz="2400" dirty="0">
                <a:latin typeface="楷体_GB2312" pitchFamily="49" charset="-122"/>
                <a:ea typeface="楷体_GB2312" pitchFamily="49" charset="-122"/>
              </a:rPr>
              <a:t>X</a:t>
            </a:r>
            <a:r>
              <a:rPr lang="zh-CN" altLang="en-US" sz="2400" dirty="0">
                <a:latin typeface="楷体_GB2312" pitchFamily="49" charset="-122"/>
                <a:ea typeface="楷体_GB2312" pitchFamily="49" charset="-122"/>
              </a:rPr>
              <a:t>折优惠</a:t>
            </a:r>
            <a:r>
              <a:rPr lang="en-US" altLang="zh-CN" sz="2400" dirty="0">
                <a:latin typeface="楷体_GB2312" pitchFamily="49" charset="-122"/>
                <a:ea typeface="楷体_GB2312" pitchFamily="49" charset="-122"/>
              </a:rPr>
              <a:t>/</a:t>
            </a:r>
            <a:r>
              <a:rPr lang="zh-CN" altLang="en-US" sz="2400" dirty="0">
                <a:latin typeface="楷体_GB2312" pitchFamily="49" charset="-122"/>
                <a:ea typeface="楷体_GB2312" pitchFamily="49" charset="-122"/>
              </a:rPr>
              <a:t>电影院</a:t>
            </a:r>
            <a:r>
              <a:rPr lang="en-US" altLang="zh-CN" sz="2400" dirty="0">
                <a:latin typeface="楷体_GB2312" pitchFamily="49" charset="-122"/>
                <a:ea typeface="楷体_GB2312" pitchFamily="49" charset="-122"/>
              </a:rPr>
              <a:t>X</a:t>
            </a:r>
            <a:r>
              <a:rPr lang="zh-CN" altLang="en-US" sz="2400" dirty="0">
                <a:latin typeface="楷体_GB2312" pitchFamily="49" charset="-122"/>
                <a:ea typeface="楷体_GB2312" pitchFamily="49" charset="-122"/>
              </a:rPr>
              <a:t>折优惠</a:t>
            </a:r>
            <a:r>
              <a:rPr lang="zh-CN" altLang="en-US" sz="2400" dirty="0"/>
              <a:t>！</a:t>
            </a:r>
            <a:endParaRPr lang="zh-CN" altLang="en-US" sz="2400" dirty="0"/>
          </a:p>
          <a:p>
            <a:pPr lvl="0" eaLnBrk="1" hangingPunct="1"/>
            <a:endParaRPr lang="zh-CN" altLang="en-US" sz="2400" dirty="0"/>
          </a:p>
          <a:p>
            <a:pPr lvl="0" eaLnBrk="1" hangingPunct="1">
              <a:buNone/>
            </a:pPr>
            <a:r>
              <a:rPr lang="zh-CN" altLang="en-US" sz="2400" dirty="0">
                <a:solidFill>
                  <a:srgbClr val="000066"/>
                </a:solidFill>
              </a:rPr>
              <a:t>想分就分</a:t>
            </a:r>
            <a:endParaRPr lang="zh-CN" altLang="en-US" sz="2400" dirty="0">
              <a:solidFill>
                <a:srgbClr val="000066"/>
              </a:solidFill>
            </a:endParaRPr>
          </a:p>
          <a:p>
            <a:pPr lvl="0" eaLnBrk="1" hangingPunct="1"/>
            <a:r>
              <a:rPr lang="zh-CN" altLang="en-US" sz="2400" dirty="0">
                <a:latin typeface="楷体_GB2312" pitchFamily="49" charset="-122"/>
                <a:ea typeface="楷体_GB2312" pitchFamily="49" charset="-122"/>
              </a:rPr>
              <a:t>只要您刷卡消费超过</a:t>
            </a:r>
            <a:r>
              <a:rPr lang="en-US" altLang="zh-CN" sz="2400" dirty="0">
                <a:latin typeface="楷体_GB2312" pitchFamily="49" charset="-122"/>
                <a:ea typeface="楷体_GB2312" pitchFamily="49" charset="-122"/>
              </a:rPr>
              <a:t>1500</a:t>
            </a:r>
            <a:r>
              <a:rPr lang="zh-CN" altLang="en-US" sz="2400" dirty="0">
                <a:latin typeface="楷体_GB2312" pitchFamily="49" charset="-122"/>
                <a:ea typeface="楷体_GB2312" pitchFamily="49" charset="-122"/>
              </a:rPr>
              <a:t>就可以申请分期付款，不限商品和商户的，如节假日商场打折，您就能提前购买到自己心仪的商品了</a:t>
            </a:r>
            <a:r>
              <a:rPr lang="en-US" altLang="zh-CN" sz="2400" dirty="0">
                <a:latin typeface="华文中宋" panose="02010600040101010101" pitchFamily="2" charset="-122"/>
                <a:ea typeface="楷体_GB2312" pitchFamily="49" charset="-122"/>
              </a:rPr>
              <a:t>…</a:t>
            </a:r>
            <a:endParaRPr lang="en-US" altLang="zh-CN" sz="2400" dirty="0">
              <a:latin typeface="楷体_GB2312" pitchFamily="49" charset="-122"/>
              <a:ea typeface="楷体_GB2312" pitchFamily="49" charset="-122"/>
            </a:endParaRPr>
          </a:p>
          <a:p>
            <a:pPr lvl="0" eaLnBrk="1" hangingPunct="1">
              <a:buNone/>
            </a:pPr>
            <a:endParaRPr lang="zh-CN" altLang="en-US" sz="2400" dirty="0">
              <a:latin typeface="楷体_GB2312" pitchFamily="49" charset="-122"/>
              <a:ea typeface="楷体_GB2312" pitchFamily="49" charset="-122"/>
            </a:endParaRPr>
          </a:p>
        </p:txBody>
      </p:sp>
      <p:graphicFrame>
        <p:nvGraphicFramePr>
          <p:cNvPr id="67588" name="Object 4">
            <a:hlinkClick r:id="" action="ppaction://ole?verb="/>
          </p:cNvPr>
          <p:cNvGraphicFramePr/>
          <p:nvPr>
            <p:ph sz="half" idx="1"/>
          </p:nvPr>
        </p:nvGraphicFramePr>
        <p:xfrm>
          <a:off x="7669213" y="5229225"/>
          <a:ext cx="844550" cy="992188"/>
        </p:xfrm>
        <a:graphic>
          <a:graphicData uri="http://schemas.openxmlformats.org/presentationml/2006/ole">
            <mc:AlternateContent xmlns:mc="http://schemas.openxmlformats.org/markup-compatibility/2006">
              <mc:Choice xmlns:v="urn:schemas-microsoft-com:vml" Requires="v">
                <p:oleObj spid="_x0000_s3080" name="" r:id="rId1" imgW="2334260" imgH="2061845" progId="MS_ClipArt_Gallery.5">
                  <p:embed/>
                </p:oleObj>
              </mc:Choice>
              <mc:Fallback>
                <p:oleObj name="" r:id="rId1" imgW="2334260" imgH="2061845" progId="MS_ClipArt_Gallery.5">
                  <p:embed/>
                  <p:pic>
                    <p:nvPicPr>
                      <p:cNvPr id="0" name="图片 3079"/>
                      <p:cNvPicPr/>
                      <p:nvPr/>
                    </p:nvPicPr>
                    <p:blipFill>
                      <a:blip r:embed="rId2"/>
                      <a:stretch>
                        <a:fillRect/>
                      </a:stretch>
                    </p:blipFill>
                    <p:spPr>
                      <a:xfrm>
                        <a:off x="7669213" y="5229225"/>
                        <a:ext cx="844550" cy="992188"/>
                      </a:xfrm>
                      <a:prstGeom prst="rect">
                        <a:avLst/>
                      </a:prstGeom>
                      <a:noFill/>
                      <a:ln w="38100">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7587">
                                            <p:txEl>
                                              <p:charRg st="0" end="5"/>
                                            </p:txEl>
                                          </p:spTgt>
                                        </p:tgtEl>
                                        <p:attrNameLst>
                                          <p:attrName>style.visibility</p:attrName>
                                        </p:attrNameLst>
                                      </p:cBhvr>
                                      <p:to>
                                        <p:strVal val="visible"/>
                                      </p:to>
                                    </p:set>
                                    <p:animEffect transition="in" filter="blinds(horizontal)">
                                      <p:cBhvr>
                                        <p:cTn id="7" dur="500"/>
                                        <p:tgtEl>
                                          <p:spTgt spid="67587">
                                            <p:txEl>
                                              <p:charRg st="0" end="5"/>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7587">
                                            <p:txEl>
                                              <p:charRg st="5" end="77"/>
                                            </p:txEl>
                                          </p:spTgt>
                                        </p:tgtEl>
                                        <p:attrNameLst>
                                          <p:attrName>style.visibility</p:attrName>
                                        </p:attrNameLst>
                                      </p:cBhvr>
                                      <p:to>
                                        <p:strVal val="visible"/>
                                      </p:to>
                                    </p:set>
                                    <p:animEffect transition="in" filter="blinds(horizontal)">
                                      <p:cBhvr>
                                        <p:cTn id="10" dur="500"/>
                                        <p:tgtEl>
                                          <p:spTgt spid="67587">
                                            <p:txEl>
                                              <p:charRg st="5" end="77"/>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67587">
                                            <p:txEl>
                                              <p:charRg st="78" end="83"/>
                                            </p:txEl>
                                          </p:spTgt>
                                        </p:tgtEl>
                                        <p:attrNameLst>
                                          <p:attrName>style.visibility</p:attrName>
                                        </p:attrNameLst>
                                      </p:cBhvr>
                                      <p:to>
                                        <p:strVal val="visible"/>
                                      </p:to>
                                    </p:set>
                                    <p:animEffect transition="in" filter="blinds(horizontal)">
                                      <p:cBhvr>
                                        <p:cTn id="15" dur="500"/>
                                        <p:tgtEl>
                                          <p:spTgt spid="67587">
                                            <p:txEl>
                                              <p:charRg st="78" end="83"/>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67587">
                                            <p:txEl>
                                              <p:charRg st="83" end="142"/>
                                            </p:txEl>
                                          </p:spTgt>
                                        </p:tgtEl>
                                        <p:attrNameLst>
                                          <p:attrName>style.visibility</p:attrName>
                                        </p:attrNameLst>
                                      </p:cBhvr>
                                      <p:to>
                                        <p:strVal val="visible"/>
                                      </p:to>
                                    </p:set>
                                    <p:animEffect transition="in" filter="blinds(horizontal)">
                                      <p:cBhvr>
                                        <p:cTn id="18" dur="500"/>
                                        <p:tgtEl>
                                          <p:spTgt spid="67587">
                                            <p:txEl>
                                              <p:charRg st="83" end="14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Rectangle 2"/>
          <p:cNvSpPr>
            <a:spLocks noGrp="1"/>
          </p:cNvSpPr>
          <p:nvPr>
            <p:ph type="title" idx="4294967295"/>
          </p:nvPr>
        </p:nvSpPr>
        <p:spPr>
          <a:ln/>
        </p:spPr>
        <p:txBody>
          <a:bodyPr vert="horz" wrap="square" anchor="ctr" anchorCtr="0"/>
          <a:p>
            <a:pPr eaLnBrk="1" hangingPunct="1"/>
            <a:r>
              <a:rPr lang="zh-TW" altLang="en-US" dirty="0">
                <a:solidFill>
                  <a:srgbClr val="000066"/>
                </a:solidFill>
              </a:rPr>
              <a:t>话术示范</a:t>
            </a:r>
            <a:endParaRPr lang="zh-TW" altLang="en-US" dirty="0">
              <a:solidFill>
                <a:srgbClr val="000066"/>
              </a:solidFill>
            </a:endParaRPr>
          </a:p>
        </p:txBody>
      </p:sp>
      <p:sp>
        <p:nvSpPr>
          <p:cNvPr id="69635" name="Rectangle 3"/>
          <p:cNvSpPr>
            <a:spLocks noGrp="1"/>
          </p:cNvSpPr>
          <p:nvPr>
            <p:ph type="body" sz="half" idx="4294967295"/>
          </p:nvPr>
        </p:nvSpPr>
        <p:spPr>
          <a:xfrm>
            <a:off x="685800" y="1981200"/>
            <a:ext cx="7270750" cy="4114800"/>
          </a:xfrm>
          <a:ln/>
        </p:spPr>
        <p:txBody>
          <a:bodyPr vert="horz" wrap="square" anchor="t" anchorCtr="0"/>
          <a:lstStyle>
            <a:lvl1pPr lvl="0">
              <a:buClr>
                <a:srgbClr val="FF3300"/>
              </a:buClr>
              <a:buSzTx/>
              <a:buFont typeface="Wingdings" panose="05000000000000000000" pitchFamily="2" charset="2"/>
              <a:defRPr sz="2800"/>
            </a:lvl1pPr>
            <a:lvl2pPr lvl="1">
              <a:buClr>
                <a:srgbClr val="FF3300"/>
              </a:buClr>
              <a:buSzTx/>
              <a:buFont typeface="Wingdings" panose="05000000000000000000" pitchFamily="2" charset="2"/>
              <a:defRPr sz="2400"/>
            </a:lvl2pPr>
            <a:lvl3pPr lvl="2">
              <a:buClr>
                <a:srgbClr val="FF3300"/>
              </a:buClr>
              <a:buSzTx/>
              <a:buFont typeface="Wingdings" panose="05000000000000000000" pitchFamily="2" charset="2"/>
              <a:defRPr sz="2000"/>
            </a:lvl3pPr>
            <a:lvl4pPr lvl="3">
              <a:buClr>
                <a:srgbClr val="FF3300"/>
              </a:buClr>
              <a:buSzTx/>
              <a:buFont typeface="Wingdings" panose="05000000000000000000" pitchFamily="2" charset="2"/>
              <a:defRPr sz="1800"/>
            </a:lvl4pPr>
            <a:lvl5pPr lvl="4">
              <a:buClr>
                <a:srgbClr val="FF3300"/>
              </a:buClr>
              <a:buSzTx/>
              <a:buFont typeface="Wingdings" panose="05000000000000000000" pitchFamily="2" charset="2"/>
              <a:defRPr sz="1800"/>
            </a:lvl5pPr>
          </a:lstStyle>
          <a:p>
            <a:pPr lvl="0" eaLnBrk="1" hangingPunct="1">
              <a:buNone/>
            </a:pPr>
            <a:r>
              <a:rPr lang="zh-CN" altLang="en-US" sz="2400" dirty="0">
                <a:solidFill>
                  <a:srgbClr val="000066"/>
                </a:solidFill>
              </a:rPr>
              <a:t>市场活动</a:t>
            </a:r>
            <a:endParaRPr lang="zh-CN" altLang="en-US" sz="2400" dirty="0">
              <a:solidFill>
                <a:srgbClr val="000066"/>
              </a:solidFill>
            </a:endParaRPr>
          </a:p>
          <a:p>
            <a:pPr lvl="0" eaLnBrk="1" hangingPunct="1"/>
            <a:r>
              <a:rPr lang="zh-CN" altLang="en-US" sz="2400" dirty="0">
                <a:latin typeface="楷体_GB2312" pitchFamily="49" charset="-122"/>
                <a:ea typeface="楷体_GB2312" pitchFamily="49" charset="-122"/>
              </a:rPr>
              <a:t>您现在办卡还能参加我们的刷</a:t>
            </a:r>
            <a:r>
              <a:rPr lang="en-US" altLang="zh-CN" sz="2400" dirty="0">
                <a:latin typeface="楷体_GB2312" pitchFamily="49" charset="-122"/>
                <a:ea typeface="楷体_GB2312" pitchFamily="49" charset="-122"/>
              </a:rPr>
              <a:t>200</a:t>
            </a:r>
            <a:r>
              <a:rPr lang="zh-CN" altLang="en-US" sz="2400" dirty="0">
                <a:latin typeface="楷体_GB2312" pitchFamily="49" charset="-122"/>
                <a:ea typeface="楷体_GB2312" pitchFamily="49" charset="-122"/>
              </a:rPr>
              <a:t>，返</a:t>
            </a:r>
            <a:r>
              <a:rPr lang="en-US" altLang="zh-CN" sz="2400" dirty="0">
                <a:latin typeface="楷体_GB2312" pitchFamily="49" charset="-122"/>
                <a:ea typeface="楷体_GB2312" pitchFamily="49" charset="-122"/>
              </a:rPr>
              <a:t>100</a:t>
            </a:r>
            <a:r>
              <a:rPr lang="zh-CN" altLang="en-US" sz="2400" dirty="0">
                <a:latin typeface="楷体_GB2312" pitchFamily="49" charset="-122"/>
                <a:ea typeface="楷体_GB2312" pitchFamily="49" charset="-122"/>
              </a:rPr>
              <a:t>的活动</a:t>
            </a:r>
            <a:r>
              <a:rPr lang="en-US" altLang="zh-CN" sz="2400" dirty="0">
                <a:latin typeface="楷体_GB2312" pitchFamily="49" charset="-122"/>
                <a:ea typeface="楷体_GB2312" pitchFamily="49" charset="-122"/>
              </a:rPr>
              <a:t>/</a:t>
            </a:r>
            <a:r>
              <a:rPr lang="zh-CN" altLang="en-US" sz="2400" dirty="0">
                <a:latin typeface="楷体_GB2312" pitchFamily="49" charset="-122"/>
                <a:ea typeface="楷体_GB2312" pitchFamily="49" charset="-122"/>
              </a:rPr>
              <a:t>参加</a:t>
            </a:r>
            <a:r>
              <a:rPr lang="zh-CN" altLang="en-US" sz="2400" dirty="0">
                <a:latin typeface="华文中宋" panose="02010600040101010101" pitchFamily="2" charset="-122"/>
                <a:ea typeface="楷体_GB2312" pitchFamily="49" charset="-122"/>
              </a:rPr>
              <a:t>“</a:t>
            </a:r>
            <a:r>
              <a:rPr lang="zh-CN" altLang="en-US" sz="2400" dirty="0">
                <a:latin typeface="楷体_GB2312" pitchFamily="49" charset="-122"/>
                <a:ea typeface="楷体_GB2312" pitchFamily="49" charset="-122"/>
              </a:rPr>
              <a:t>最红星期五</a:t>
            </a:r>
            <a:r>
              <a:rPr lang="zh-CN" altLang="en-US" sz="2400" dirty="0">
                <a:latin typeface="华文中宋" panose="02010600040101010101" pitchFamily="2" charset="-122"/>
                <a:ea typeface="楷体_GB2312" pitchFamily="49" charset="-122"/>
              </a:rPr>
              <a:t>”</a:t>
            </a:r>
            <a:r>
              <a:rPr lang="zh-CN" altLang="en-US" sz="2400" dirty="0">
                <a:latin typeface="楷体_GB2312" pitchFamily="49" charset="-122"/>
                <a:ea typeface="楷体_GB2312" pitchFamily="49" charset="-122"/>
              </a:rPr>
              <a:t>，非常实惠</a:t>
            </a:r>
            <a:r>
              <a:rPr lang="en-US" altLang="zh-CN" sz="2400" dirty="0">
                <a:latin typeface="华文中宋" panose="02010600040101010101" pitchFamily="2" charset="-122"/>
                <a:ea typeface="楷体_GB2312" pitchFamily="49" charset="-122"/>
              </a:rPr>
              <a:t>…</a:t>
            </a:r>
            <a:endParaRPr lang="en-US" altLang="zh-CN" sz="2400" dirty="0">
              <a:latin typeface="楷体_GB2312" pitchFamily="49" charset="-122"/>
              <a:ea typeface="楷体_GB2312" pitchFamily="49" charset="-122"/>
            </a:endParaRPr>
          </a:p>
          <a:p>
            <a:pPr lvl="0" eaLnBrk="1" hangingPunct="1"/>
            <a:endParaRPr lang="zh-CN" altLang="en-US" sz="2400" dirty="0">
              <a:latin typeface="楷体_GB2312" pitchFamily="49" charset="-122"/>
              <a:ea typeface="楷体_GB2312" pitchFamily="49" charset="-122"/>
            </a:endParaRPr>
          </a:p>
          <a:p>
            <a:pPr lvl="0" eaLnBrk="1" hangingPunct="1">
              <a:buNone/>
            </a:pPr>
            <a:r>
              <a:rPr lang="zh-CN" altLang="en-US" sz="2400" dirty="0">
                <a:solidFill>
                  <a:srgbClr val="000066"/>
                </a:solidFill>
              </a:rPr>
              <a:t>填表礼</a:t>
            </a:r>
            <a:endParaRPr lang="zh-CN" altLang="en-US" sz="2400" dirty="0">
              <a:solidFill>
                <a:srgbClr val="000066"/>
              </a:solidFill>
            </a:endParaRPr>
          </a:p>
          <a:p>
            <a:pPr lvl="0" eaLnBrk="1" hangingPunct="1"/>
            <a:r>
              <a:rPr lang="zh-CN" altLang="en-US" sz="2400" dirty="0">
                <a:ea typeface="楷体_GB2312" pitchFamily="49" charset="-122"/>
              </a:rPr>
              <a:t>您现在办理我行信用卡还可以赠送一份精美的礼品，简直是物超所值</a:t>
            </a:r>
            <a:endParaRPr lang="zh-CN" altLang="en-US" sz="2400" dirty="0">
              <a:ea typeface="楷体_GB2312" pitchFamily="49" charset="-122"/>
            </a:endParaRPr>
          </a:p>
          <a:p>
            <a:pPr lvl="0" eaLnBrk="1" hangingPunct="1"/>
            <a:endParaRPr lang="zh-CN" altLang="en-US" sz="2400" dirty="0"/>
          </a:p>
        </p:txBody>
      </p:sp>
      <p:graphicFrame>
        <p:nvGraphicFramePr>
          <p:cNvPr id="69636" name="Object 4">
            <a:hlinkClick r:id="" action="ppaction://ole?verb="/>
          </p:cNvPr>
          <p:cNvGraphicFramePr/>
          <p:nvPr>
            <p:ph sz="half" idx="1"/>
          </p:nvPr>
        </p:nvGraphicFramePr>
        <p:xfrm>
          <a:off x="7381875" y="5300663"/>
          <a:ext cx="647700" cy="939800"/>
        </p:xfrm>
        <a:graphic>
          <a:graphicData uri="http://schemas.openxmlformats.org/presentationml/2006/ole">
            <mc:AlternateContent xmlns:mc="http://schemas.openxmlformats.org/markup-compatibility/2006">
              <mc:Choice xmlns:v="urn:schemas-microsoft-com:vml" Requires="v">
                <p:oleObj spid="_x0000_s3081" name="" r:id="rId1" imgW="2334260" imgH="2061845" progId="MS_ClipArt_Gallery.5">
                  <p:embed/>
                </p:oleObj>
              </mc:Choice>
              <mc:Fallback>
                <p:oleObj name="" r:id="rId1" imgW="2334260" imgH="2061845" progId="MS_ClipArt_Gallery.5">
                  <p:embed/>
                  <p:pic>
                    <p:nvPicPr>
                      <p:cNvPr id="0" name="图片 3080"/>
                      <p:cNvPicPr/>
                      <p:nvPr/>
                    </p:nvPicPr>
                    <p:blipFill>
                      <a:blip r:embed="rId2"/>
                      <a:stretch>
                        <a:fillRect/>
                      </a:stretch>
                    </p:blipFill>
                    <p:spPr>
                      <a:xfrm>
                        <a:off x="7381875" y="5300663"/>
                        <a:ext cx="647700" cy="939800"/>
                      </a:xfrm>
                      <a:prstGeom prst="rect">
                        <a:avLst/>
                      </a:prstGeom>
                      <a:noFill/>
                      <a:ln w="38100">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9635">
                                            <p:txEl>
                                              <p:charRg st="0" end="5"/>
                                            </p:txEl>
                                          </p:spTgt>
                                        </p:tgtEl>
                                        <p:attrNameLst>
                                          <p:attrName>style.visibility</p:attrName>
                                        </p:attrNameLst>
                                      </p:cBhvr>
                                      <p:to>
                                        <p:strVal val="visible"/>
                                      </p:to>
                                    </p:set>
                                    <p:animEffect transition="in" filter="blinds(horizontal)">
                                      <p:cBhvr>
                                        <p:cTn id="7" dur="500"/>
                                        <p:tgtEl>
                                          <p:spTgt spid="69635">
                                            <p:txEl>
                                              <p:charRg st="0" end="5"/>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9635">
                                            <p:txEl>
                                              <p:charRg st="5" end="46"/>
                                            </p:txEl>
                                          </p:spTgt>
                                        </p:tgtEl>
                                        <p:attrNameLst>
                                          <p:attrName>style.visibility</p:attrName>
                                        </p:attrNameLst>
                                      </p:cBhvr>
                                      <p:to>
                                        <p:strVal val="visible"/>
                                      </p:to>
                                    </p:set>
                                    <p:animEffect transition="in" filter="blinds(horizontal)">
                                      <p:cBhvr>
                                        <p:cTn id="10" dur="500"/>
                                        <p:tgtEl>
                                          <p:spTgt spid="69635">
                                            <p:txEl>
                                              <p:charRg st="5" end="46"/>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69635">
                                            <p:txEl>
                                              <p:charRg st="47" end="51"/>
                                            </p:txEl>
                                          </p:spTgt>
                                        </p:tgtEl>
                                        <p:attrNameLst>
                                          <p:attrName>style.visibility</p:attrName>
                                        </p:attrNameLst>
                                      </p:cBhvr>
                                      <p:to>
                                        <p:strVal val="visible"/>
                                      </p:to>
                                    </p:set>
                                    <p:animEffect transition="in" filter="blinds(horizontal)">
                                      <p:cBhvr>
                                        <p:cTn id="15" dur="500"/>
                                        <p:tgtEl>
                                          <p:spTgt spid="69635">
                                            <p:txEl>
                                              <p:charRg st="47" end="51"/>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69635">
                                            <p:txEl>
                                              <p:charRg st="51" end="82"/>
                                            </p:txEl>
                                          </p:spTgt>
                                        </p:tgtEl>
                                        <p:attrNameLst>
                                          <p:attrName>style.visibility</p:attrName>
                                        </p:attrNameLst>
                                      </p:cBhvr>
                                      <p:to>
                                        <p:strVal val="visible"/>
                                      </p:to>
                                    </p:set>
                                    <p:animEffect transition="in" filter="blinds(horizontal)">
                                      <p:cBhvr>
                                        <p:cTn id="18" dur="500"/>
                                        <p:tgtEl>
                                          <p:spTgt spid="69635">
                                            <p:txEl>
                                              <p:charRg st="51" end="8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Rectangle 2"/>
          <p:cNvSpPr>
            <a:spLocks noGrp="1"/>
          </p:cNvSpPr>
          <p:nvPr>
            <p:ph type="title" idx="4294967295"/>
          </p:nvPr>
        </p:nvSpPr>
        <p:spPr>
          <a:ln/>
        </p:spPr>
        <p:txBody>
          <a:bodyPr vert="horz" wrap="square" anchor="ctr" anchorCtr="0"/>
          <a:p>
            <a:pPr eaLnBrk="1" hangingPunct="1"/>
            <a:r>
              <a:rPr lang="zh-TW" altLang="en-US" dirty="0">
                <a:solidFill>
                  <a:srgbClr val="000066"/>
                </a:solidFill>
              </a:rPr>
              <a:t>产品介绍练习</a:t>
            </a:r>
            <a:endParaRPr lang="zh-TW" altLang="en-US" dirty="0">
              <a:solidFill>
                <a:srgbClr val="000066"/>
              </a:solidFill>
            </a:endParaRPr>
          </a:p>
        </p:txBody>
      </p:sp>
      <p:sp>
        <p:nvSpPr>
          <p:cNvPr id="71683" name="Rectangle 3"/>
          <p:cNvSpPr>
            <a:spLocks noGrp="1"/>
          </p:cNvSpPr>
          <p:nvPr>
            <p:ph type="body" idx="4294967295"/>
          </p:nvPr>
        </p:nvSpPr>
        <p:spPr>
          <a:xfrm>
            <a:off x="755650" y="1844675"/>
            <a:ext cx="7773988" cy="4114800"/>
          </a:xfrm>
          <a:ln/>
        </p:spPr>
        <p:txBody>
          <a:bodyPr vert="horz" wrap="square" anchor="t" anchorCtr="0"/>
          <a:p>
            <a:pPr eaLnBrk="1" hangingPunct="1">
              <a:lnSpc>
                <a:spcPct val="135000"/>
              </a:lnSpc>
            </a:pPr>
            <a:r>
              <a:rPr lang="zh-TW" altLang="en-US" sz="2400" dirty="0"/>
              <a:t>还款方便</a:t>
            </a:r>
            <a:endParaRPr lang="zh-TW" altLang="en-US" sz="900" dirty="0"/>
          </a:p>
          <a:p>
            <a:pPr eaLnBrk="1" hangingPunct="1">
              <a:lnSpc>
                <a:spcPct val="135000"/>
              </a:lnSpc>
            </a:pPr>
            <a:r>
              <a:rPr lang="zh-TW" altLang="en-US" sz="2400" dirty="0"/>
              <a:t>想分就分、梦想成真</a:t>
            </a:r>
            <a:endParaRPr lang="zh-TW" altLang="en-US" sz="900" dirty="0"/>
          </a:p>
          <a:p>
            <a:pPr eaLnBrk="1" hangingPunct="1">
              <a:lnSpc>
                <a:spcPct val="135000"/>
              </a:lnSpc>
            </a:pPr>
            <a:r>
              <a:rPr lang="zh-TW" altLang="en-US" sz="2400" dirty="0"/>
              <a:t>有助于建立个人信用记录</a:t>
            </a:r>
            <a:endParaRPr lang="zh-TW" altLang="en-US" sz="2400" dirty="0"/>
          </a:p>
          <a:p>
            <a:pPr eaLnBrk="1" hangingPunct="1">
              <a:lnSpc>
                <a:spcPct val="135000"/>
              </a:lnSpc>
            </a:pPr>
            <a:r>
              <a:rPr lang="zh-TW" altLang="en-US" sz="2400" dirty="0">
                <a:latin typeface="楷体_GB2312" pitchFamily="49" charset="-122"/>
              </a:rPr>
              <a:t>享受家里购物的便利和乐趣</a:t>
            </a:r>
            <a:endParaRPr lang="zh-TW" altLang="en-US" sz="2400" dirty="0">
              <a:latin typeface="楷体_GB2312" pitchFamily="49" charset="-122"/>
            </a:endParaRPr>
          </a:p>
          <a:p>
            <a:pPr eaLnBrk="1" hangingPunct="1">
              <a:lnSpc>
                <a:spcPct val="135000"/>
              </a:lnSpc>
            </a:pPr>
            <a:r>
              <a:rPr lang="zh-TW" altLang="en-US" sz="2400" dirty="0">
                <a:latin typeface="楷体_GB2312" pitchFamily="49" charset="-122"/>
              </a:rPr>
              <a:t>对帐单显示交易明细，便于掌握当月消费情况</a:t>
            </a:r>
            <a:endParaRPr lang="zh-TW" altLang="en-US" sz="2400" dirty="0">
              <a:latin typeface="楷体_GB2312" pitchFamily="49" charset="-122"/>
            </a:endParaRPr>
          </a:p>
          <a:p>
            <a:pPr eaLnBrk="1" hangingPunct="1">
              <a:lnSpc>
                <a:spcPct val="135000"/>
              </a:lnSpc>
            </a:pPr>
            <a:r>
              <a:rPr lang="zh-TW" altLang="en-US" sz="2400" dirty="0">
                <a:latin typeface="楷体_GB2312" pitchFamily="49" charset="-122"/>
              </a:rPr>
              <a:t>结合当前市场活动，介绍本办事处两种主打产品</a:t>
            </a:r>
            <a:endParaRPr lang="zh-TW" altLang="en-US" sz="2400" dirty="0">
              <a:latin typeface="楷体_GB2312" pitchFamily="49" charset="-122"/>
            </a:endParaRPr>
          </a:p>
        </p:txBody>
      </p:sp>
      <p:pic>
        <p:nvPicPr>
          <p:cNvPr id="71684" name="Picture 4" descr="qqem2648"/>
          <p:cNvPicPr>
            <a:picLocks noChangeAspect="1"/>
          </p:cNvPicPr>
          <p:nvPr/>
        </p:nvPicPr>
        <p:blipFill>
          <a:blip r:embed="rId1"/>
          <a:stretch>
            <a:fillRect/>
          </a:stretch>
        </p:blipFill>
        <p:spPr>
          <a:xfrm>
            <a:off x="7813675" y="5084763"/>
            <a:ext cx="798513" cy="919162"/>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1683">
                                            <p:txEl>
                                              <p:charRg st="0" end="5"/>
                                            </p:txEl>
                                          </p:spTgt>
                                        </p:tgtEl>
                                        <p:attrNameLst>
                                          <p:attrName>style.visibility</p:attrName>
                                        </p:attrNameLst>
                                      </p:cBhvr>
                                      <p:to>
                                        <p:strVal val="visible"/>
                                      </p:to>
                                    </p:set>
                                    <p:animEffect transition="in" filter="blinds(horizontal)">
                                      <p:cBhvr>
                                        <p:cTn id="7" dur="500"/>
                                        <p:tgtEl>
                                          <p:spTgt spid="71683">
                                            <p:txEl>
                                              <p:charRg st="0" end="5"/>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71683">
                                            <p:txEl>
                                              <p:charRg st="5" end="15"/>
                                            </p:txEl>
                                          </p:spTgt>
                                        </p:tgtEl>
                                        <p:attrNameLst>
                                          <p:attrName>style.visibility</p:attrName>
                                        </p:attrNameLst>
                                      </p:cBhvr>
                                      <p:to>
                                        <p:strVal val="visible"/>
                                      </p:to>
                                    </p:set>
                                    <p:animEffect transition="in" filter="blinds(horizontal)">
                                      <p:cBhvr>
                                        <p:cTn id="10" dur="500"/>
                                        <p:tgtEl>
                                          <p:spTgt spid="71683">
                                            <p:txEl>
                                              <p:charRg st="5" end="15"/>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71683">
                                            <p:txEl>
                                              <p:charRg st="15" end="27"/>
                                            </p:txEl>
                                          </p:spTgt>
                                        </p:tgtEl>
                                        <p:attrNameLst>
                                          <p:attrName>style.visibility</p:attrName>
                                        </p:attrNameLst>
                                      </p:cBhvr>
                                      <p:to>
                                        <p:strVal val="visible"/>
                                      </p:to>
                                    </p:set>
                                    <p:animEffect transition="in" filter="blinds(horizontal)">
                                      <p:cBhvr>
                                        <p:cTn id="13" dur="500"/>
                                        <p:tgtEl>
                                          <p:spTgt spid="71683">
                                            <p:txEl>
                                              <p:charRg st="15" end="27"/>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71683">
                                            <p:txEl>
                                              <p:charRg st="27" end="40"/>
                                            </p:txEl>
                                          </p:spTgt>
                                        </p:tgtEl>
                                        <p:attrNameLst>
                                          <p:attrName>style.visibility</p:attrName>
                                        </p:attrNameLst>
                                      </p:cBhvr>
                                      <p:to>
                                        <p:strVal val="visible"/>
                                      </p:to>
                                    </p:set>
                                    <p:animEffect transition="in" filter="blinds(horizontal)">
                                      <p:cBhvr>
                                        <p:cTn id="16" dur="500"/>
                                        <p:tgtEl>
                                          <p:spTgt spid="71683">
                                            <p:txEl>
                                              <p:charRg st="27" end="40"/>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71683">
                                            <p:txEl>
                                              <p:charRg st="40" end="61"/>
                                            </p:txEl>
                                          </p:spTgt>
                                        </p:tgtEl>
                                        <p:attrNameLst>
                                          <p:attrName>style.visibility</p:attrName>
                                        </p:attrNameLst>
                                      </p:cBhvr>
                                      <p:to>
                                        <p:strVal val="visible"/>
                                      </p:to>
                                    </p:set>
                                    <p:animEffect transition="in" filter="blinds(horizontal)">
                                      <p:cBhvr>
                                        <p:cTn id="19" dur="500"/>
                                        <p:tgtEl>
                                          <p:spTgt spid="71683">
                                            <p:txEl>
                                              <p:charRg st="40" end="61"/>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71683">
                                            <p:txEl>
                                              <p:charRg st="61" end="83"/>
                                            </p:txEl>
                                          </p:spTgt>
                                        </p:tgtEl>
                                        <p:attrNameLst>
                                          <p:attrName>style.visibility</p:attrName>
                                        </p:attrNameLst>
                                      </p:cBhvr>
                                      <p:to>
                                        <p:strVal val="visible"/>
                                      </p:to>
                                    </p:set>
                                    <p:animEffect transition="in" filter="blinds(horizontal)">
                                      <p:cBhvr>
                                        <p:cTn id="22" dur="500"/>
                                        <p:tgtEl>
                                          <p:spTgt spid="71683">
                                            <p:txEl>
                                              <p:charRg st="61" end="8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Rectangle 2"/>
          <p:cNvSpPr>
            <a:spLocks noGrp="1"/>
          </p:cNvSpPr>
          <p:nvPr>
            <p:ph type="title" idx="4294967295"/>
          </p:nvPr>
        </p:nvSpPr>
        <p:spPr>
          <a:xfrm>
            <a:off x="684213" y="908050"/>
            <a:ext cx="7773987" cy="1143000"/>
          </a:xfrm>
          <a:ln/>
        </p:spPr>
        <p:txBody>
          <a:bodyPr vert="horz" wrap="square" anchor="ctr" anchorCtr="0"/>
          <a:p>
            <a:pPr eaLnBrk="1" hangingPunct="1"/>
            <a:r>
              <a:rPr lang="zh-TW" altLang="en-US" dirty="0">
                <a:solidFill>
                  <a:srgbClr val="FF3300"/>
                </a:solidFill>
              </a:rPr>
              <a:t>产品介绍的建议</a:t>
            </a:r>
            <a:endParaRPr lang="zh-TW" altLang="en-US" dirty="0">
              <a:solidFill>
                <a:srgbClr val="FF3300"/>
              </a:solidFill>
            </a:endParaRPr>
          </a:p>
        </p:txBody>
      </p:sp>
      <p:sp>
        <p:nvSpPr>
          <p:cNvPr id="73731" name="Rectangle 3"/>
          <p:cNvSpPr>
            <a:spLocks noGrp="1"/>
          </p:cNvSpPr>
          <p:nvPr>
            <p:ph type="body" idx="4294967295"/>
          </p:nvPr>
        </p:nvSpPr>
        <p:spPr>
          <a:xfrm>
            <a:off x="755650" y="2349500"/>
            <a:ext cx="5040313" cy="3529013"/>
          </a:xfrm>
          <a:ln/>
        </p:spPr>
        <p:txBody>
          <a:bodyPr vert="horz" wrap="square" anchor="t" anchorCtr="0"/>
          <a:p>
            <a:pPr eaLnBrk="1" hangingPunct="1">
              <a:lnSpc>
                <a:spcPct val="140000"/>
              </a:lnSpc>
            </a:pPr>
            <a:r>
              <a:rPr lang="zh-TW" altLang="en-US" sz="2400" dirty="0"/>
              <a:t>产品介绍要具有引导性</a:t>
            </a:r>
            <a:endParaRPr lang="zh-TW" altLang="en-US" sz="2400" dirty="0"/>
          </a:p>
          <a:p>
            <a:pPr eaLnBrk="1" hangingPunct="1">
              <a:lnSpc>
                <a:spcPct val="140000"/>
              </a:lnSpc>
            </a:pPr>
            <a:r>
              <a:rPr lang="zh-TW" altLang="en-US" sz="2400" dirty="0"/>
              <a:t>产品介绍不是特点罗列</a:t>
            </a:r>
            <a:endParaRPr lang="zh-TW" altLang="en-US" sz="2400" dirty="0"/>
          </a:p>
          <a:p>
            <a:pPr eaLnBrk="1" hangingPunct="1">
              <a:lnSpc>
                <a:spcPct val="140000"/>
              </a:lnSpc>
            </a:pPr>
            <a:r>
              <a:rPr lang="zh-TW" altLang="en-US" sz="2400" dirty="0"/>
              <a:t>产品介绍与客户的需求紧密联系</a:t>
            </a:r>
            <a:endParaRPr lang="zh-TW" altLang="en-US" sz="2400" dirty="0"/>
          </a:p>
          <a:p>
            <a:pPr eaLnBrk="1" hangingPunct="1">
              <a:lnSpc>
                <a:spcPct val="140000"/>
              </a:lnSpc>
            </a:pPr>
            <a:r>
              <a:rPr lang="zh-TW" altLang="en-US" sz="2400" dirty="0"/>
              <a:t>不要自己给自己制造问题</a:t>
            </a:r>
            <a:endParaRPr lang="zh-TW" altLang="en-US" sz="2400" dirty="0"/>
          </a:p>
          <a:p>
            <a:pPr eaLnBrk="1" hangingPunct="1">
              <a:lnSpc>
                <a:spcPct val="140000"/>
              </a:lnSpc>
            </a:pPr>
            <a:r>
              <a:rPr lang="zh-TW" altLang="en-US" sz="2400" dirty="0"/>
              <a:t>产品介绍的目的是为了促成</a:t>
            </a:r>
            <a:endParaRPr lang="zh-TW" altLang="en-US" sz="2400" dirty="0"/>
          </a:p>
        </p:txBody>
      </p:sp>
      <p:pic>
        <p:nvPicPr>
          <p:cNvPr id="73732" name="Picture 4" descr="kaig103"/>
          <p:cNvPicPr>
            <a:picLocks noChangeAspect="1"/>
          </p:cNvPicPr>
          <p:nvPr/>
        </p:nvPicPr>
        <p:blipFill>
          <a:blip r:embed="rId1"/>
          <a:stretch>
            <a:fillRect/>
          </a:stretch>
        </p:blipFill>
        <p:spPr>
          <a:xfrm>
            <a:off x="6300788" y="3716338"/>
            <a:ext cx="2160587" cy="1995487"/>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3731">
                                            <p:txEl>
                                              <p:charRg st="0" end="11"/>
                                            </p:txEl>
                                          </p:spTgt>
                                        </p:tgtEl>
                                        <p:attrNameLst>
                                          <p:attrName>style.visibility</p:attrName>
                                        </p:attrNameLst>
                                      </p:cBhvr>
                                      <p:to>
                                        <p:strVal val="visible"/>
                                      </p:to>
                                    </p:set>
                                    <p:animEffect transition="in" filter="blinds(horizontal)">
                                      <p:cBhvr>
                                        <p:cTn id="7" dur="500"/>
                                        <p:tgtEl>
                                          <p:spTgt spid="73731">
                                            <p:txEl>
                                              <p:charRg st="0" end="1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3731">
                                            <p:txEl>
                                              <p:charRg st="11" end="22"/>
                                            </p:txEl>
                                          </p:spTgt>
                                        </p:tgtEl>
                                        <p:attrNameLst>
                                          <p:attrName>style.visibility</p:attrName>
                                        </p:attrNameLst>
                                      </p:cBhvr>
                                      <p:to>
                                        <p:strVal val="visible"/>
                                      </p:to>
                                    </p:set>
                                    <p:animEffect transition="in" filter="blinds(horizontal)">
                                      <p:cBhvr>
                                        <p:cTn id="12" dur="500"/>
                                        <p:tgtEl>
                                          <p:spTgt spid="73731">
                                            <p:txEl>
                                              <p:charRg st="11" end="2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3731">
                                            <p:txEl>
                                              <p:charRg st="22" end="37"/>
                                            </p:txEl>
                                          </p:spTgt>
                                        </p:tgtEl>
                                        <p:attrNameLst>
                                          <p:attrName>style.visibility</p:attrName>
                                        </p:attrNameLst>
                                      </p:cBhvr>
                                      <p:to>
                                        <p:strVal val="visible"/>
                                      </p:to>
                                    </p:set>
                                    <p:animEffect transition="in" filter="blinds(horizontal)">
                                      <p:cBhvr>
                                        <p:cTn id="17" dur="500"/>
                                        <p:tgtEl>
                                          <p:spTgt spid="73731">
                                            <p:txEl>
                                              <p:charRg st="22" end="3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73731">
                                            <p:txEl>
                                              <p:charRg st="37" end="49"/>
                                            </p:txEl>
                                          </p:spTgt>
                                        </p:tgtEl>
                                        <p:attrNameLst>
                                          <p:attrName>style.visibility</p:attrName>
                                        </p:attrNameLst>
                                      </p:cBhvr>
                                      <p:to>
                                        <p:strVal val="visible"/>
                                      </p:to>
                                    </p:set>
                                    <p:animEffect transition="in" filter="blinds(horizontal)">
                                      <p:cBhvr>
                                        <p:cTn id="22" dur="500"/>
                                        <p:tgtEl>
                                          <p:spTgt spid="73731">
                                            <p:txEl>
                                              <p:charRg st="37" end="49"/>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73731">
                                            <p:txEl>
                                              <p:charRg st="49" end="62"/>
                                            </p:txEl>
                                          </p:spTgt>
                                        </p:tgtEl>
                                        <p:attrNameLst>
                                          <p:attrName>style.visibility</p:attrName>
                                        </p:attrNameLst>
                                      </p:cBhvr>
                                      <p:to>
                                        <p:strVal val="visible"/>
                                      </p:to>
                                    </p:set>
                                    <p:animEffect transition="in" filter="blinds(horizontal)">
                                      <p:cBhvr>
                                        <p:cTn id="27" dur="500"/>
                                        <p:tgtEl>
                                          <p:spTgt spid="73731">
                                            <p:txEl>
                                              <p:charRg st="49" end="6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75778" name="组合 75777"/>
          <p:cNvGrpSpPr/>
          <p:nvPr/>
        </p:nvGrpSpPr>
        <p:grpSpPr>
          <a:xfrm>
            <a:off x="881063" y="2565400"/>
            <a:ext cx="1858962" cy="935038"/>
            <a:chOff x="0" y="0"/>
            <a:chExt cx="1246" cy="576"/>
          </a:xfrm>
        </p:grpSpPr>
        <p:sp>
          <p:nvSpPr>
            <p:cNvPr id="75779" name="未知"/>
            <p:cNvSpPr/>
            <p:nvPr/>
          </p:nvSpPr>
          <p:spPr>
            <a:xfrm>
              <a:off x="0" y="0"/>
              <a:ext cx="1246" cy="576"/>
            </a:xfrm>
            <a:custGeom>
              <a:avLst/>
              <a:gdLst>
                <a:gd name="txL" fmla="*/ 0 w 1246"/>
                <a:gd name="txT" fmla="*/ 0 h 576"/>
                <a:gd name="txR" fmla="*/ 1246 w 1246"/>
                <a:gd name="txB" fmla="*/ 576 h 576"/>
              </a:gdLst>
              <a:ahLst/>
              <a:cxnLst>
                <a:cxn ang="0">
                  <a:pos x="0" y="0"/>
                </a:cxn>
                <a:cxn ang="0">
                  <a:pos x="1142" y="0"/>
                </a:cxn>
                <a:cxn ang="0">
                  <a:pos x="1246" y="288"/>
                </a:cxn>
                <a:cxn ang="0">
                  <a:pos x="1142" y="576"/>
                </a:cxn>
                <a:cxn ang="0">
                  <a:pos x="0" y="576"/>
                </a:cxn>
                <a:cxn ang="0">
                  <a:pos x="0" y="288"/>
                </a:cxn>
                <a:cxn ang="0">
                  <a:pos x="0" y="0"/>
                </a:cxn>
              </a:cxnLst>
              <a:rect l="txL" t="txT" r="txR" b="txB"/>
              <a:pathLst>
                <a:path w="1246" h="576">
                  <a:moveTo>
                    <a:pt x="0" y="0"/>
                  </a:moveTo>
                  <a:lnTo>
                    <a:pt x="1142" y="0"/>
                  </a:lnTo>
                  <a:lnTo>
                    <a:pt x="1246" y="288"/>
                  </a:lnTo>
                  <a:lnTo>
                    <a:pt x="1142" y="576"/>
                  </a:lnTo>
                  <a:lnTo>
                    <a:pt x="0" y="576"/>
                  </a:lnTo>
                  <a:lnTo>
                    <a:pt x="0" y="288"/>
                  </a:lnTo>
                  <a:lnTo>
                    <a:pt x="0" y="0"/>
                  </a:lnTo>
                  <a:close/>
                </a:path>
              </a:pathLst>
            </a:custGeom>
            <a:solidFill>
              <a:schemeClr val="accent1"/>
            </a:solidFill>
            <a:ln w="9525" cap="flat" cmpd="sng">
              <a:solidFill>
                <a:schemeClr val="tx1"/>
              </a:solidFill>
              <a:prstDash val="solid"/>
              <a:miter/>
              <a:headEnd type="none" w="med" len="med"/>
              <a:tailEnd type="none" w="med" len="med"/>
            </a:ln>
          </p:spPr>
          <p:txBody>
            <a:bodyPr wrap="none" lIns="45720" tIns="0" rIns="45720" bIns="0" anchor="ctr" anchorCtr="0">
              <a:spAutoFit/>
            </a:bodyPr>
            <a:p>
              <a:endParaRPr lang="zh-CN" altLang="en-US" dirty="0">
                <a:latin typeface="Frutiger 45 Light" pitchFamily="2" charset="0"/>
              </a:endParaRPr>
            </a:p>
          </p:txBody>
        </p:sp>
        <p:sp>
          <p:nvSpPr>
            <p:cNvPr id="75780" name="Rectangle 4"/>
            <p:cNvSpPr/>
            <p:nvPr/>
          </p:nvSpPr>
          <p:spPr>
            <a:xfrm>
              <a:off x="32" y="32"/>
              <a:ext cx="1110" cy="496"/>
            </a:xfrm>
            <a:prstGeom prst="rect">
              <a:avLst/>
            </a:prstGeom>
            <a:noFill/>
            <a:ln w="9525">
              <a:noFill/>
            </a:ln>
          </p:spPr>
          <p:txBody>
            <a:bodyPr lIns="45720" tIns="0" rIns="45720" bIns="0" anchor="ctr" anchorCtr="0"/>
            <a:p>
              <a:pPr marL="342900" indent="-342900" algn="l">
                <a:spcBef>
                  <a:spcPct val="20000"/>
                </a:spcBef>
                <a:buClr>
                  <a:srgbClr val="FF3300"/>
                </a:buClr>
                <a:buFont typeface="Wingdings" panose="05000000000000000000" pitchFamily="2" charset="2"/>
              </a:pPr>
              <a:r>
                <a:rPr lang="zh-CN" altLang="en-US" sz="2800" dirty="0">
                  <a:solidFill>
                    <a:schemeClr val="bg1"/>
                  </a:solidFill>
                  <a:latin typeface="Times New Roman" panose="02020603050405020304" pitchFamily="18" charset="0"/>
                  <a:ea typeface="华文中宋" panose="02010600040101010101" pitchFamily="2" charset="-122"/>
                </a:rPr>
                <a:t>接触面谈</a:t>
              </a:r>
              <a:endParaRPr lang="en-US" altLang="zh-CN" sz="2800" dirty="0">
                <a:solidFill>
                  <a:schemeClr val="bg1"/>
                </a:solidFill>
                <a:latin typeface="Times New Roman" panose="02020603050405020304" pitchFamily="18" charset="0"/>
                <a:ea typeface="华文中宋" panose="02010600040101010101" pitchFamily="2" charset="-122"/>
              </a:endParaRPr>
            </a:p>
          </p:txBody>
        </p:sp>
      </p:grpSp>
      <p:grpSp>
        <p:nvGrpSpPr>
          <p:cNvPr id="75781" name="组合 75780"/>
          <p:cNvGrpSpPr/>
          <p:nvPr/>
        </p:nvGrpSpPr>
        <p:grpSpPr>
          <a:xfrm>
            <a:off x="2692400" y="2565400"/>
            <a:ext cx="1952625" cy="935038"/>
            <a:chOff x="0" y="0"/>
            <a:chExt cx="1247" cy="576"/>
          </a:xfrm>
        </p:grpSpPr>
        <p:sp>
          <p:nvSpPr>
            <p:cNvPr id="75782" name="未知"/>
            <p:cNvSpPr/>
            <p:nvPr/>
          </p:nvSpPr>
          <p:spPr>
            <a:xfrm>
              <a:off x="0" y="0"/>
              <a:ext cx="1247" cy="576"/>
            </a:xfrm>
            <a:custGeom>
              <a:avLst/>
              <a:gdLst>
                <a:gd name="txL" fmla="*/ 0 w 1247"/>
                <a:gd name="txT" fmla="*/ 0 h 576"/>
                <a:gd name="txR" fmla="*/ 1247 w 1247"/>
                <a:gd name="txB" fmla="*/ 576 h 576"/>
              </a:gdLst>
              <a:ahLst/>
              <a:cxnLst>
                <a:cxn ang="0">
                  <a:pos x="0" y="0"/>
                </a:cxn>
                <a:cxn ang="0">
                  <a:pos x="1143" y="0"/>
                </a:cxn>
                <a:cxn ang="0">
                  <a:pos x="1247" y="288"/>
                </a:cxn>
                <a:cxn ang="0">
                  <a:pos x="1143" y="576"/>
                </a:cxn>
                <a:cxn ang="0">
                  <a:pos x="0" y="576"/>
                </a:cxn>
                <a:cxn ang="0">
                  <a:pos x="104" y="288"/>
                </a:cxn>
                <a:cxn ang="0">
                  <a:pos x="0" y="0"/>
                </a:cxn>
              </a:cxnLst>
              <a:rect l="txL" t="txT" r="txR" b="txB"/>
              <a:pathLst>
                <a:path w="1247" h="576">
                  <a:moveTo>
                    <a:pt x="0" y="0"/>
                  </a:moveTo>
                  <a:lnTo>
                    <a:pt x="1143" y="0"/>
                  </a:lnTo>
                  <a:lnTo>
                    <a:pt x="1247" y="288"/>
                  </a:lnTo>
                  <a:lnTo>
                    <a:pt x="1143" y="576"/>
                  </a:lnTo>
                  <a:lnTo>
                    <a:pt x="0" y="576"/>
                  </a:lnTo>
                  <a:lnTo>
                    <a:pt x="104" y="288"/>
                  </a:lnTo>
                  <a:lnTo>
                    <a:pt x="0" y="0"/>
                  </a:lnTo>
                  <a:close/>
                </a:path>
              </a:pathLst>
            </a:custGeom>
            <a:solidFill>
              <a:schemeClr val="accent1"/>
            </a:solidFill>
            <a:ln w="9525" cap="flat" cmpd="sng">
              <a:solidFill>
                <a:schemeClr val="tx1"/>
              </a:solidFill>
              <a:prstDash val="solid"/>
              <a:miter/>
              <a:headEnd type="none" w="med" len="med"/>
              <a:tailEnd type="none" w="med" len="med"/>
            </a:ln>
          </p:spPr>
          <p:txBody>
            <a:bodyPr wrap="none" lIns="45720" tIns="0" rIns="45720" bIns="0" anchor="ctr" anchorCtr="0">
              <a:spAutoFit/>
            </a:bodyPr>
            <a:p>
              <a:endParaRPr lang="zh-CN" altLang="en-US" dirty="0">
                <a:latin typeface="Frutiger 45 Light" pitchFamily="2" charset="0"/>
              </a:endParaRPr>
            </a:p>
          </p:txBody>
        </p:sp>
        <p:sp>
          <p:nvSpPr>
            <p:cNvPr id="75783" name="Rectangle 7"/>
            <p:cNvSpPr/>
            <p:nvPr/>
          </p:nvSpPr>
          <p:spPr>
            <a:xfrm>
              <a:off x="136" y="32"/>
              <a:ext cx="1008" cy="496"/>
            </a:xfrm>
            <a:prstGeom prst="rect">
              <a:avLst/>
            </a:prstGeom>
            <a:noFill/>
            <a:ln w="9525">
              <a:noFill/>
            </a:ln>
          </p:spPr>
          <p:txBody>
            <a:bodyPr lIns="45720" tIns="0" rIns="45720" bIns="0" anchor="ctr" anchorCtr="0"/>
            <a:p>
              <a:pPr marL="342900" indent="-342900" algn="l">
                <a:spcBef>
                  <a:spcPct val="20000"/>
                </a:spcBef>
                <a:buClr>
                  <a:srgbClr val="FF3300"/>
                </a:buClr>
                <a:buFont typeface="Wingdings" panose="05000000000000000000" pitchFamily="2" charset="2"/>
              </a:pPr>
              <a:r>
                <a:rPr lang="zh-CN" altLang="en-US" sz="2800" dirty="0">
                  <a:solidFill>
                    <a:schemeClr val="bg1"/>
                  </a:solidFill>
                  <a:latin typeface="Times New Roman" panose="02020603050405020304" pitchFamily="18" charset="0"/>
                  <a:ea typeface="华文中宋" panose="02010600040101010101" pitchFamily="2" charset="-122"/>
                </a:rPr>
                <a:t>需求分析</a:t>
              </a:r>
              <a:endParaRPr lang="en-US" altLang="zh-CN" sz="2800" dirty="0">
                <a:solidFill>
                  <a:schemeClr val="bg1"/>
                </a:solidFill>
                <a:latin typeface="Times New Roman" panose="02020603050405020304" pitchFamily="18" charset="0"/>
                <a:ea typeface="华文中宋" panose="02010600040101010101" pitchFamily="2" charset="-122"/>
              </a:endParaRPr>
            </a:p>
          </p:txBody>
        </p:sp>
      </p:grpSp>
      <p:grpSp>
        <p:nvGrpSpPr>
          <p:cNvPr id="75784" name="组合 75783"/>
          <p:cNvGrpSpPr/>
          <p:nvPr/>
        </p:nvGrpSpPr>
        <p:grpSpPr>
          <a:xfrm>
            <a:off x="4573588" y="2565400"/>
            <a:ext cx="1943100" cy="935038"/>
            <a:chOff x="0" y="0"/>
            <a:chExt cx="1247" cy="576"/>
          </a:xfrm>
        </p:grpSpPr>
        <p:sp>
          <p:nvSpPr>
            <p:cNvPr id="75785" name="未知"/>
            <p:cNvSpPr/>
            <p:nvPr/>
          </p:nvSpPr>
          <p:spPr>
            <a:xfrm>
              <a:off x="0" y="0"/>
              <a:ext cx="1247" cy="576"/>
            </a:xfrm>
            <a:custGeom>
              <a:avLst/>
              <a:gdLst>
                <a:gd name="txL" fmla="*/ 0 w 1247"/>
                <a:gd name="txT" fmla="*/ 0 h 576"/>
                <a:gd name="txR" fmla="*/ 1247 w 1247"/>
                <a:gd name="txB" fmla="*/ 576 h 576"/>
              </a:gdLst>
              <a:ahLst/>
              <a:cxnLst>
                <a:cxn ang="0">
                  <a:pos x="0" y="0"/>
                </a:cxn>
                <a:cxn ang="0">
                  <a:pos x="1143" y="0"/>
                </a:cxn>
                <a:cxn ang="0">
                  <a:pos x="1247" y="288"/>
                </a:cxn>
                <a:cxn ang="0">
                  <a:pos x="1143" y="576"/>
                </a:cxn>
                <a:cxn ang="0">
                  <a:pos x="0" y="576"/>
                </a:cxn>
                <a:cxn ang="0">
                  <a:pos x="104" y="288"/>
                </a:cxn>
                <a:cxn ang="0">
                  <a:pos x="0" y="0"/>
                </a:cxn>
              </a:cxnLst>
              <a:rect l="txL" t="txT" r="txR" b="txB"/>
              <a:pathLst>
                <a:path w="1247" h="576">
                  <a:moveTo>
                    <a:pt x="0" y="0"/>
                  </a:moveTo>
                  <a:lnTo>
                    <a:pt x="1143" y="0"/>
                  </a:lnTo>
                  <a:lnTo>
                    <a:pt x="1247" y="288"/>
                  </a:lnTo>
                  <a:lnTo>
                    <a:pt x="1143" y="576"/>
                  </a:lnTo>
                  <a:lnTo>
                    <a:pt x="0" y="576"/>
                  </a:lnTo>
                  <a:lnTo>
                    <a:pt x="104" y="288"/>
                  </a:lnTo>
                  <a:lnTo>
                    <a:pt x="0" y="0"/>
                  </a:lnTo>
                  <a:close/>
                </a:path>
              </a:pathLst>
            </a:custGeom>
            <a:solidFill>
              <a:schemeClr val="accent1"/>
            </a:solidFill>
            <a:ln w="9525" cap="flat" cmpd="sng">
              <a:solidFill>
                <a:schemeClr val="tx1"/>
              </a:solidFill>
              <a:prstDash val="solid"/>
              <a:miter/>
              <a:headEnd type="none" w="med" len="med"/>
              <a:tailEnd type="none" w="med" len="med"/>
            </a:ln>
          </p:spPr>
          <p:txBody>
            <a:bodyPr wrap="none" lIns="45720" tIns="0" rIns="45720" bIns="0" anchor="ctr" anchorCtr="0">
              <a:spAutoFit/>
            </a:bodyPr>
            <a:p>
              <a:endParaRPr lang="zh-CN" altLang="en-US" dirty="0">
                <a:latin typeface="Frutiger 45 Light" pitchFamily="2" charset="0"/>
              </a:endParaRPr>
            </a:p>
          </p:txBody>
        </p:sp>
        <p:sp>
          <p:nvSpPr>
            <p:cNvPr id="75786" name="Rectangle 10"/>
            <p:cNvSpPr/>
            <p:nvPr/>
          </p:nvSpPr>
          <p:spPr>
            <a:xfrm>
              <a:off x="136" y="32"/>
              <a:ext cx="1008" cy="496"/>
            </a:xfrm>
            <a:prstGeom prst="rect">
              <a:avLst/>
            </a:prstGeom>
            <a:noFill/>
            <a:ln w="9525">
              <a:noFill/>
            </a:ln>
          </p:spPr>
          <p:txBody>
            <a:bodyPr lIns="45720" tIns="0" rIns="45720" bIns="0" anchor="ctr" anchorCtr="0"/>
            <a:p>
              <a:pPr marL="342900" indent="-342900" algn="l">
                <a:spcBef>
                  <a:spcPct val="20000"/>
                </a:spcBef>
                <a:buClr>
                  <a:srgbClr val="FF3300"/>
                </a:buClr>
                <a:buFont typeface="Wingdings" panose="05000000000000000000" pitchFamily="2" charset="2"/>
              </a:pPr>
              <a:r>
                <a:rPr lang="zh-TW" altLang="en-US" sz="2800" dirty="0">
                  <a:solidFill>
                    <a:schemeClr val="bg1"/>
                  </a:solidFill>
                  <a:latin typeface="Times New Roman" panose="02020603050405020304" pitchFamily="18" charset="0"/>
                  <a:ea typeface="华文中宋" panose="02010600040101010101" pitchFamily="2" charset="-122"/>
                </a:rPr>
                <a:t>产品介绍</a:t>
              </a:r>
              <a:endParaRPr lang="zh-TW" altLang="en-US" sz="2800" dirty="0">
                <a:solidFill>
                  <a:schemeClr val="bg1"/>
                </a:solidFill>
                <a:latin typeface="Times New Roman" panose="02020603050405020304" pitchFamily="18" charset="0"/>
                <a:ea typeface="华文中宋" panose="02010600040101010101" pitchFamily="2" charset="-122"/>
              </a:endParaRPr>
            </a:p>
          </p:txBody>
        </p:sp>
      </p:grpSp>
      <p:grpSp>
        <p:nvGrpSpPr>
          <p:cNvPr id="75787" name="组合 75786"/>
          <p:cNvGrpSpPr/>
          <p:nvPr/>
        </p:nvGrpSpPr>
        <p:grpSpPr>
          <a:xfrm>
            <a:off x="6445250" y="2565400"/>
            <a:ext cx="1944688" cy="935038"/>
            <a:chOff x="0" y="0"/>
            <a:chExt cx="1246" cy="576"/>
          </a:xfrm>
        </p:grpSpPr>
        <p:sp>
          <p:nvSpPr>
            <p:cNvPr id="75788" name="未知"/>
            <p:cNvSpPr/>
            <p:nvPr/>
          </p:nvSpPr>
          <p:spPr>
            <a:xfrm>
              <a:off x="0" y="0"/>
              <a:ext cx="1246" cy="576"/>
            </a:xfrm>
            <a:custGeom>
              <a:avLst/>
              <a:gdLst>
                <a:gd name="txL" fmla="*/ 0 w 1246"/>
                <a:gd name="txT" fmla="*/ 0 h 576"/>
                <a:gd name="txR" fmla="*/ 1246 w 1246"/>
                <a:gd name="txB" fmla="*/ 576 h 576"/>
              </a:gdLst>
              <a:ahLst/>
              <a:cxnLst>
                <a:cxn ang="0">
                  <a:pos x="0" y="0"/>
                </a:cxn>
                <a:cxn ang="0">
                  <a:pos x="1142" y="0"/>
                </a:cxn>
                <a:cxn ang="0">
                  <a:pos x="1246" y="288"/>
                </a:cxn>
                <a:cxn ang="0">
                  <a:pos x="1142" y="576"/>
                </a:cxn>
                <a:cxn ang="0">
                  <a:pos x="0" y="576"/>
                </a:cxn>
                <a:cxn ang="0">
                  <a:pos x="104" y="288"/>
                </a:cxn>
                <a:cxn ang="0">
                  <a:pos x="0" y="0"/>
                </a:cxn>
              </a:cxnLst>
              <a:rect l="txL" t="txT" r="txR" b="txB"/>
              <a:pathLst>
                <a:path w="1246" h="576">
                  <a:moveTo>
                    <a:pt x="0" y="0"/>
                  </a:moveTo>
                  <a:lnTo>
                    <a:pt x="1142" y="0"/>
                  </a:lnTo>
                  <a:lnTo>
                    <a:pt x="1246" y="288"/>
                  </a:lnTo>
                  <a:lnTo>
                    <a:pt x="1142" y="576"/>
                  </a:lnTo>
                  <a:lnTo>
                    <a:pt x="0" y="576"/>
                  </a:lnTo>
                  <a:lnTo>
                    <a:pt x="104" y="288"/>
                  </a:lnTo>
                  <a:lnTo>
                    <a:pt x="0" y="0"/>
                  </a:lnTo>
                  <a:close/>
                </a:path>
              </a:pathLst>
            </a:custGeom>
            <a:solidFill>
              <a:srgbClr val="FF0000"/>
            </a:solidFill>
            <a:ln w="9525" cap="flat" cmpd="sng">
              <a:solidFill>
                <a:schemeClr val="tx1"/>
              </a:solidFill>
              <a:prstDash val="solid"/>
              <a:miter/>
              <a:headEnd type="none" w="med" len="med"/>
              <a:tailEnd type="none" w="med" len="med"/>
            </a:ln>
          </p:spPr>
          <p:txBody>
            <a:bodyPr wrap="none" lIns="45720" tIns="0" rIns="45720" bIns="0" anchor="ctr" anchorCtr="0">
              <a:spAutoFit/>
            </a:bodyPr>
            <a:p>
              <a:endParaRPr lang="zh-CN" altLang="en-US" dirty="0">
                <a:latin typeface="Frutiger 45 Light" pitchFamily="2" charset="0"/>
              </a:endParaRPr>
            </a:p>
          </p:txBody>
        </p:sp>
        <p:sp>
          <p:nvSpPr>
            <p:cNvPr id="75789" name="Rectangle 13"/>
            <p:cNvSpPr/>
            <p:nvPr/>
          </p:nvSpPr>
          <p:spPr>
            <a:xfrm>
              <a:off x="136" y="32"/>
              <a:ext cx="1007" cy="496"/>
            </a:xfrm>
            <a:prstGeom prst="rect">
              <a:avLst/>
            </a:prstGeom>
            <a:solidFill>
              <a:srgbClr val="FF0000"/>
            </a:solidFill>
            <a:ln w="9525">
              <a:noFill/>
            </a:ln>
          </p:spPr>
          <p:txBody>
            <a:bodyPr lIns="45720" tIns="0" rIns="45720" bIns="0" anchor="ctr" anchorCtr="0"/>
            <a:p>
              <a:pPr marL="342900" indent="-342900" algn="l">
                <a:spcBef>
                  <a:spcPct val="20000"/>
                </a:spcBef>
                <a:buClr>
                  <a:srgbClr val="FF3300"/>
                </a:buClr>
                <a:buFont typeface="Wingdings" panose="05000000000000000000" pitchFamily="2" charset="2"/>
              </a:pPr>
              <a:r>
                <a:rPr lang="zh-TW" altLang="en-US" sz="2800" dirty="0">
                  <a:solidFill>
                    <a:schemeClr val="bg1"/>
                  </a:solidFill>
                  <a:latin typeface="Times New Roman" panose="02020603050405020304" pitchFamily="18" charset="0"/>
                  <a:ea typeface="华文中宋" panose="02010600040101010101" pitchFamily="2" charset="-122"/>
                </a:rPr>
                <a:t>促成成交</a:t>
              </a:r>
              <a:endParaRPr lang="zh-TW" altLang="en-US" sz="2800" dirty="0">
                <a:solidFill>
                  <a:schemeClr val="bg1"/>
                </a:solidFill>
                <a:latin typeface="Times New Roman" panose="02020603050405020304" pitchFamily="18" charset="0"/>
                <a:ea typeface="华文中宋" panose="02010600040101010101" pitchFamily="2" charset="-122"/>
              </a:endParaRPr>
            </a:p>
          </p:txBody>
        </p:sp>
      </p:grpSp>
      <p:sp>
        <p:nvSpPr>
          <p:cNvPr id="75790" name="Rectangle 14"/>
          <p:cNvSpPr/>
          <p:nvPr/>
        </p:nvSpPr>
        <p:spPr>
          <a:xfrm>
            <a:off x="612775" y="765175"/>
            <a:ext cx="7773988" cy="1143000"/>
          </a:xfrm>
          <a:prstGeom prst="rect">
            <a:avLst/>
          </a:prstGeom>
          <a:noFill/>
          <a:ln w="9525">
            <a:noFill/>
          </a:ln>
        </p:spPr>
        <p:txBody>
          <a:bodyPr anchor="ctr" anchorCtr="0"/>
          <a:p>
            <a:r>
              <a:rPr lang="zh-TW" altLang="en-US" sz="4000" b="0" dirty="0">
                <a:solidFill>
                  <a:srgbClr val="FF3300"/>
                </a:solidFill>
                <a:latin typeface="Times New Roman" panose="02020603050405020304" pitchFamily="18" charset="0"/>
                <a:ea typeface="华文新魏" panose="02010800040101010101" pitchFamily="2" charset="-122"/>
              </a:rPr>
              <a:t>信用卡销售流程</a:t>
            </a:r>
            <a:endParaRPr lang="zh-TW" altLang="en-US" sz="4000" b="0" dirty="0">
              <a:solidFill>
                <a:srgbClr val="FF3300"/>
              </a:solidFill>
              <a:latin typeface="Times New Roman" panose="02020603050405020304" pitchFamily="18" charset="0"/>
              <a:ea typeface="华文新魏" panose="02010800040101010101" pitchFamily="2" charset="-122"/>
            </a:endParaRPr>
          </a:p>
        </p:txBody>
      </p:sp>
      <p:graphicFrame>
        <p:nvGraphicFramePr>
          <p:cNvPr id="75791" name="Object 15"/>
          <p:cNvGraphicFramePr>
            <a:graphicFrameLocks noChangeAspect="1"/>
          </p:cNvGraphicFramePr>
          <p:nvPr/>
        </p:nvGraphicFramePr>
        <p:xfrm>
          <a:off x="5221288" y="4076700"/>
          <a:ext cx="2592387" cy="1736725"/>
        </p:xfrm>
        <a:graphic>
          <a:graphicData uri="http://schemas.openxmlformats.org/presentationml/2006/ole">
            <mc:AlternateContent xmlns:mc="http://schemas.openxmlformats.org/markup-compatibility/2006">
              <mc:Choice xmlns:v="urn:schemas-microsoft-com:vml" Requires="v">
                <p:oleObj spid="_x0000_s3083" name="" r:id="rId1" imgW="913765" imgH="1176655" progId="">
                  <p:embed/>
                </p:oleObj>
              </mc:Choice>
              <mc:Fallback>
                <p:oleObj name="" r:id="rId1" imgW="913765" imgH="1176655" progId="">
                  <p:embed/>
                  <p:pic>
                    <p:nvPicPr>
                      <p:cNvPr id="0" name="图片 3082"/>
                      <p:cNvPicPr/>
                      <p:nvPr/>
                    </p:nvPicPr>
                    <p:blipFill>
                      <a:blip r:embed="rId2"/>
                      <a:stretch>
                        <a:fillRect/>
                      </a:stretch>
                    </p:blipFill>
                    <p:spPr>
                      <a:xfrm>
                        <a:off x="5221288" y="4076700"/>
                        <a:ext cx="2592387" cy="1736725"/>
                      </a:xfrm>
                      <a:prstGeom prst="rect">
                        <a:avLst/>
                      </a:prstGeom>
                      <a:noFill/>
                      <a:ln w="38100">
                        <a:noFill/>
                        <a:miter/>
                      </a:ln>
                    </p:spPr>
                  </p:pic>
                </p:oleObj>
              </mc:Fallback>
            </mc:AlternateContent>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Rectangle 2"/>
          <p:cNvSpPr>
            <a:spLocks noGrp="1"/>
          </p:cNvSpPr>
          <p:nvPr>
            <p:ph type="title" idx="4294967295"/>
          </p:nvPr>
        </p:nvSpPr>
        <p:spPr>
          <a:ln/>
        </p:spPr>
        <p:txBody>
          <a:bodyPr vert="horz" wrap="square" anchor="ctr" anchorCtr="0"/>
          <a:p>
            <a:pPr eaLnBrk="1" hangingPunct="1"/>
            <a:r>
              <a:rPr lang="zh-TW" altLang="en-US" dirty="0">
                <a:solidFill>
                  <a:srgbClr val="FF3300"/>
                </a:solidFill>
              </a:rPr>
              <a:t>促成的时机</a:t>
            </a:r>
            <a:endParaRPr lang="zh-TW" altLang="en-US" dirty="0">
              <a:solidFill>
                <a:srgbClr val="FF3300"/>
              </a:solidFill>
            </a:endParaRPr>
          </a:p>
        </p:txBody>
      </p:sp>
      <p:sp>
        <p:nvSpPr>
          <p:cNvPr id="77827" name="Rectangle 3"/>
          <p:cNvSpPr>
            <a:spLocks noGrp="1"/>
          </p:cNvSpPr>
          <p:nvPr>
            <p:ph type="body" idx="4294967295"/>
          </p:nvPr>
        </p:nvSpPr>
        <p:spPr>
          <a:xfrm>
            <a:off x="900113" y="2060575"/>
            <a:ext cx="4319587" cy="3168650"/>
          </a:xfrm>
          <a:ln/>
        </p:spPr>
        <p:txBody>
          <a:bodyPr vert="horz" wrap="square" anchor="t" anchorCtr="0"/>
          <a:p>
            <a:pPr eaLnBrk="1" hangingPunct="1">
              <a:lnSpc>
                <a:spcPct val="150000"/>
              </a:lnSpc>
            </a:pPr>
            <a:r>
              <a:rPr lang="zh-TW" altLang="en-US" sz="2200" dirty="0"/>
              <a:t>客户有潜在的需求时</a:t>
            </a:r>
            <a:endParaRPr lang="zh-TW" altLang="en-US" sz="2200" dirty="0"/>
          </a:p>
          <a:p>
            <a:pPr eaLnBrk="1" hangingPunct="1">
              <a:lnSpc>
                <a:spcPct val="150000"/>
              </a:lnSpc>
            </a:pPr>
            <a:r>
              <a:rPr lang="zh-TW" altLang="en-US" sz="2200" dirty="0"/>
              <a:t>客户对产品表示</a:t>
            </a:r>
            <a:r>
              <a:rPr lang="zh-CN" altLang="en-US" sz="2200" dirty="0"/>
              <a:t>认同或有</a:t>
            </a:r>
            <a:r>
              <a:rPr lang="zh-TW" altLang="en-US" sz="2200" dirty="0"/>
              <a:t>兴趣</a:t>
            </a:r>
            <a:endParaRPr lang="zh-TW" altLang="en-US" sz="2200" dirty="0"/>
          </a:p>
          <a:p>
            <a:pPr eaLnBrk="1" hangingPunct="1">
              <a:lnSpc>
                <a:spcPct val="150000"/>
              </a:lnSpc>
            </a:pPr>
            <a:r>
              <a:rPr lang="zh-TW" altLang="en-US" sz="2200" dirty="0"/>
              <a:t>产品介绍之后</a:t>
            </a:r>
            <a:endParaRPr lang="zh-TW" altLang="en-US" sz="2200" dirty="0"/>
          </a:p>
          <a:p>
            <a:pPr eaLnBrk="1" hangingPunct="1">
              <a:lnSpc>
                <a:spcPct val="150000"/>
              </a:lnSpc>
            </a:pPr>
            <a:r>
              <a:rPr lang="zh-TW" altLang="en-US" sz="2200" dirty="0"/>
              <a:t>异议处理之后</a:t>
            </a:r>
            <a:endParaRPr lang="zh-TW" altLang="en-US" sz="2200" dirty="0"/>
          </a:p>
        </p:txBody>
      </p:sp>
      <p:pic>
        <p:nvPicPr>
          <p:cNvPr id="77828" name="Picture 7" descr="PE01931_"/>
          <p:cNvPicPr>
            <a:picLocks noChangeAspect="1"/>
          </p:cNvPicPr>
          <p:nvPr/>
        </p:nvPicPr>
        <p:blipFill>
          <a:blip r:embed="rId1"/>
          <a:stretch>
            <a:fillRect/>
          </a:stretch>
        </p:blipFill>
        <p:spPr>
          <a:xfrm>
            <a:off x="5940425" y="3933825"/>
            <a:ext cx="2160588" cy="1814513"/>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7827">
                                            <p:txEl>
                                              <p:charRg st="0" end="10"/>
                                            </p:txEl>
                                          </p:spTgt>
                                        </p:tgtEl>
                                        <p:attrNameLst>
                                          <p:attrName>style.visibility</p:attrName>
                                        </p:attrNameLst>
                                      </p:cBhvr>
                                      <p:to>
                                        <p:strVal val="visible"/>
                                      </p:to>
                                    </p:set>
                                    <p:animEffect transition="in" filter="blinds(horizontal)">
                                      <p:cBhvr>
                                        <p:cTn id="7" dur="500"/>
                                        <p:tgtEl>
                                          <p:spTgt spid="77827">
                                            <p:txEl>
                                              <p:charRg st="0" end="1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77827">
                                            <p:txEl>
                                              <p:charRg st="10" end="24"/>
                                            </p:txEl>
                                          </p:spTgt>
                                        </p:tgtEl>
                                        <p:attrNameLst>
                                          <p:attrName>style.visibility</p:attrName>
                                        </p:attrNameLst>
                                      </p:cBhvr>
                                      <p:to>
                                        <p:strVal val="visible"/>
                                      </p:to>
                                    </p:set>
                                    <p:animEffect transition="in" filter="blinds(horizontal)">
                                      <p:cBhvr>
                                        <p:cTn id="10" dur="500"/>
                                        <p:tgtEl>
                                          <p:spTgt spid="77827">
                                            <p:txEl>
                                              <p:charRg st="10" end="24"/>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77827">
                                            <p:txEl>
                                              <p:charRg st="24" end="31"/>
                                            </p:txEl>
                                          </p:spTgt>
                                        </p:tgtEl>
                                        <p:attrNameLst>
                                          <p:attrName>style.visibility</p:attrName>
                                        </p:attrNameLst>
                                      </p:cBhvr>
                                      <p:to>
                                        <p:strVal val="visible"/>
                                      </p:to>
                                    </p:set>
                                    <p:animEffect transition="in" filter="blinds(horizontal)">
                                      <p:cBhvr>
                                        <p:cTn id="13" dur="500"/>
                                        <p:tgtEl>
                                          <p:spTgt spid="77827">
                                            <p:txEl>
                                              <p:charRg st="24" end="31"/>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77827">
                                            <p:txEl>
                                              <p:charRg st="31" end="38"/>
                                            </p:txEl>
                                          </p:spTgt>
                                        </p:tgtEl>
                                        <p:attrNameLst>
                                          <p:attrName>style.visibility</p:attrName>
                                        </p:attrNameLst>
                                      </p:cBhvr>
                                      <p:to>
                                        <p:strVal val="visible"/>
                                      </p:to>
                                    </p:set>
                                    <p:animEffect transition="in" filter="blinds(horizontal)">
                                      <p:cBhvr>
                                        <p:cTn id="16" dur="500"/>
                                        <p:tgtEl>
                                          <p:spTgt spid="77827">
                                            <p:txEl>
                                              <p:charRg st="31" end="3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Rectangle 2"/>
          <p:cNvSpPr>
            <a:spLocks noGrp="1"/>
          </p:cNvSpPr>
          <p:nvPr>
            <p:ph type="body" idx="4294967295"/>
          </p:nvPr>
        </p:nvSpPr>
        <p:spPr>
          <a:xfrm>
            <a:off x="2916238" y="1628775"/>
            <a:ext cx="3168650" cy="4114800"/>
          </a:xfrm>
          <a:ln/>
        </p:spPr>
        <p:txBody>
          <a:bodyPr vert="horz" wrap="square" anchor="t" anchorCtr="0"/>
          <a:p>
            <a:pPr eaLnBrk="1" hangingPunct="1"/>
            <a:r>
              <a:rPr lang="zh-TW" altLang="en-US" dirty="0"/>
              <a:t>主动出击法   </a:t>
            </a:r>
            <a:endParaRPr lang="zh-TW" altLang="en-US" dirty="0"/>
          </a:p>
          <a:p>
            <a:pPr eaLnBrk="1" hangingPunct="1"/>
            <a:r>
              <a:rPr lang="zh-TW" altLang="en-US" dirty="0"/>
              <a:t>二择一法</a:t>
            </a:r>
            <a:endParaRPr lang="zh-TW" altLang="en-US" dirty="0"/>
          </a:p>
          <a:p>
            <a:pPr eaLnBrk="1" hangingPunct="1"/>
            <a:r>
              <a:rPr lang="zh-TW" altLang="en-US" dirty="0"/>
              <a:t>利诱法                                       </a:t>
            </a:r>
            <a:endParaRPr lang="zh-TW" altLang="en-US" dirty="0"/>
          </a:p>
          <a:p>
            <a:pPr eaLnBrk="1" hangingPunct="1"/>
            <a:r>
              <a:rPr lang="zh-TW" altLang="en-US" dirty="0"/>
              <a:t>假设成交法</a:t>
            </a:r>
            <a:endParaRPr lang="zh-TW" altLang="en-US" dirty="0"/>
          </a:p>
        </p:txBody>
      </p:sp>
      <p:sp>
        <p:nvSpPr>
          <p:cNvPr id="79875" name="Text Box 3"/>
          <p:cNvSpPr txBox="1"/>
          <p:nvPr/>
        </p:nvSpPr>
        <p:spPr>
          <a:xfrm>
            <a:off x="1597025" y="692150"/>
            <a:ext cx="733425" cy="4319588"/>
          </a:xfrm>
          <a:prstGeom prst="rect">
            <a:avLst/>
          </a:prstGeom>
          <a:noFill/>
          <a:ln w="9525">
            <a:noFill/>
          </a:ln>
        </p:spPr>
        <p:txBody>
          <a:bodyPr vert="eaVert">
            <a:spAutoFit/>
          </a:bodyPr>
          <a:p>
            <a:pPr>
              <a:spcBef>
                <a:spcPct val="50000"/>
              </a:spcBef>
            </a:pPr>
            <a:r>
              <a:rPr lang="zh-CN" altLang="en-US" sz="3600" b="0" dirty="0">
                <a:solidFill>
                  <a:srgbClr val="FF3300"/>
                </a:solidFill>
                <a:latin typeface="Times New Roman" panose="02020603050405020304" pitchFamily="18" charset="0"/>
                <a:ea typeface="华文中宋" panose="02010600040101010101" pitchFamily="2" charset="-122"/>
              </a:rPr>
              <a:t>促成方法</a:t>
            </a:r>
            <a:endParaRPr lang="zh-CN" altLang="en-US" sz="3600" b="0" dirty="0">
              <a:solidFill>
                <a:srgbClr val="FF3300"/>
              </a:solidFill>
              <a:latin typeface="Times New Roman" panose="02020603050405020304" pitchFamily="18" charset="0"/>
              <a:ea typeface="华文中宋" panose="02010600040101010101" pitchFamily="2" charset="-122"/>
            </a:endParaRPr>
          </a:p>
        </p:txBody>
      </p:sp>
      <p:pic>
        <p:nvPicPr>
          <p:cNvPr id="79876" name="Picture 12" descr="PE02486_"/>
          <p:cNvPicPr>
            <a:picLocks noChangeAspect="1"/>
          </p:cNvPicPr>
          <p:nvPr/>
        </p:nvPicPr>
        <p:blipFill>
          <a:blip r:embed="rId1"/>
          <a:stretch>
            <a:fillRect/>
          </a:stretch>
        </p:blipFill>
        <p:spPr>
          <a:xfrm>
            <a:off x="5940425" y="4149725"/>
            <a:ext cx="2376488" cy="1770063"/>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9874">
                                            <p:txEl>
                                              <p:charRg st="0" end="9"/>
                                            </p:txEl>
                                          </p:spTgt>
                                        </p:tgtEl>
                                        <p:attrNameLst>
                                          <p:attrName>style.visibility</p:attrName>
                                        </p:attrNameLst>
                                      </p:cBhvr>
                                      <p:to>
                                        <p:strVal val="visible"/>
                                      </p:to>
                                    </p:set>
                                    <p:animEffect transition="in" filter="blinds(horizontal)">
                                      <p:cBhvr>
                                        <p:cTn id="7" dur="500"/>
                                        <p:tgtEl>
                                          <p:spTgt spid="79874">
                                            <p:txEl>
                                              <p:charRg st="0" end="9"/>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79874">
                                            <p:txEl>
                                              <p:charRg st="9" end="14"/>
                                            </p:txEl>
                                          </p:spTgt>
                                        </p:tgtEl>
                                        <p:attrNameLst>
                                          <p:attrName>style.visibility</p:attrName>
                                        </p:attrNameLst>
                                      </p:cBhvr>
                                      <p:to>
                                        <p:strVal val="visible"/>
                                      </p:to>
                                    </p:set>
                                    <p:animEffect transition="in" filter="blinds(horizontal)">
                                      <p:cBhvr>
                                        <p:cTn id="10" dur="500"/>
                                        <p:tgtEl>
                                          <p:spTgt spid="79874">
                                            <p:txEl>
                                              <p:charRg st="9" end="14"/>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79874">
                                            <p:txEl>
                                              <p:charRg st="14" end="57"/>
                                            </p:txEl>
                                          </p:spTgt>
                                        </p:tgtEl>
                                        <p:attrNameLst>
                                          <p:attrName>style.visibility</p:attrName>
                                        </p:attrNameLst>
                                      </p:cBhvr>
                                      <p:to>
                                        <p:strVal val="visible"/>
                                      </p:to>
                                    </p:set>
                                    <p:animEffect transition="in" filter="blinds(horizontal)">
                                      <p:cBhvr>
                                        <p:cTn id="13" dur="500"/>
                                        <p:tgtEl>
                                          <p:spTgt spid="79874">
                                            <p:txEl>
                                              <p:charRg st="14" end="57"/>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79874">
                                            <p:txEl>
                                              <p:charRg st="57" end="63"/>
                                            </p:txEl>
                                          </p:spTgt>
                                        </p:tgtEl>
                                        <p:attrNameLst>
                                          <p:attrName>style.visibility</p:attrName>
                                        </p:attrNameLst>
                                      </p:cBhvr>
                                      <p:to>
                                        <p:strVal val="visible"/>
                                      </p:to>
                                    </p:set>
                                    <p:animEffect transition="in" filter="blinds(horizontal)">
                                      <p:cBhvr>
                                        <p:cTn id="16" dur="500"/>
                                        <p:tgtEl>
                                          <p:spTgt spid="79874">
                                            <p:txEl>
                                              <p:charRg st="57" end="6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Rectangle 2"/>
          <p:cNvSpPr>
            <a:spLocks noGrp="1"/>
          </p:cNvSpPr>
          <p:nvPr>
            <p:ph type="title" idx="4294967295"/>
          </p:nvPr>
        </p:nvSpPr>
        <p:spPr>
          <a:xfrm>
            <a:off x="612775" y="549275"/>
            <a:ext cx="7773988" cy="935038"/>
          </a:xfrm>
          <a:ln/>
        </p:spPr>
        <p:txBody>
          <a:bodyPr vert="horz" wrap="square" anchor="ctr" anchorCtr="0"/>
          <a:p>
            <a:pPr eaLnBrk="1" hangingPunct="1"/>
            <a:r>
              <a:rPr lang="zh-TW" altLang="en-US" dirty="0">
                <a:solidFill>
                  <a:srgbClr val="FF3300"/>
                </a:solidFill>
              </a:rPr>
              <a:t>主动出击法</a:t>
            </a:r>
            <a:endParaRPr lang="zh-TW" altLang="en-US" dirty="0">
              <a:solidFill>
                <a:srgbClr val="FF3300"/>
              </a:solidFill>
            </a:endParaRPr>
          </a:p>
        </p:txBody>
      </p:sp>
      <p:sp>
        <p:nvSpPr>
          <p:cNvPr id="81923" name="Rectangle 3"/>
          <p:cNvSpPr>
            <a:spLocks noGrp="1"/>
          </p:cNvSpPr>
          <p:nvPr>
            <p:ph type="body" idx="4294967295"/>
          </p:nvPr>
        </p:nvSpPr>
        <p:spPr>
          <a:xfrm>
            <a:off x="755650" y="1557338"/>
            <a:ext cx="7773988" cy="4114800"/>
          </a:xfrm>
          <a:ln/>
        </p:spPr>
        <p:txBody>
          <a:bodyPr vert="horz" wrap="square" anchor="t" anchorCtr="0"/>
          <a:p>
            <a:pPr eaLnBrk="1" hangingPunct="1">
              <a:lnSpc>
                <a:spcPct val="90000"/>
              </a:lnSpc>
              <a:buNone/>
            </a:pPr>
            <a:r>
              <a:rPr lang="zh-CN" altLang="en-US" sz="2400" dirty="0">
                <a:solidFill>
                  <a:srgbClr val="000066"/>
                </a:solidFill>
              </a:rPr>
              <a:t>帮客户做出决定</a:t>
            </a:r>
            <a:endParaRPr lang="zh-CN" altLang="en-US" sz="2400" dirty="0">
              <a:solidFill>
                <a:srgbClr val="000066"/>
              </a:solidFill>
            </a:endParaRPr>
          </a:p>
          <a:p>
            <a:pPr eaLnBrk="1" hangingPunct="1">
              <a:lnSpc>
                <a:spcPct val="90000"/>
              </a:lnSpc>
              <a:buNone/>
            </a:pPr>
            <a:endParaRPr lang="zh-CN" altLang="en-US" sz="2400" dirty="0">
              <a:solidFill>
                <a:srgbClr val="000066"/>
              </a:solidFill>
            </a:endParaRPr>
          </a:p>
          <a:p>
            <a:pPr eaLnBrk="1" hangingPunct="1">
              <a:lnSpc>
                <a:spcPct val="90000"/>
              </a:lnSpc>
            </a:pPr>
            <a:r>
              <a:rPr lang="en-US" altLang="zh-CN" sz="2400" dirty="0">
                <a:latin typeface="华文中宋" panose="02010600040101010101" pitchFamily="2" charset="-122"/>
                <a:ea typeface="楷体_GB2312" pitchFamily="49" charset="-122"/>
              </a:rPr>
              <a:t>…</a:t>
            </a:r>
            <a:r>
              <a:rPr lang="zh-CN" altLang="en-US" sz="2400" dirty="0">
                <a:latin typeface="楷体_GB2312" pitchFamily="49" charset="-122"/>
                <a:ea typeface="楷体_GB2312" pitchFamily="49" charset="-122"/>
              </a:rPr>
              <a:t>您在这签个字吧！</a:t>
            </a:r>
            <a:endParaRPr lang="zh-CN" altLang="en-US" sz="2400" dirty="0">
              <a:latin typeface="楷体_GB2312" pitchFamily="49" charset="-122"/>
              <a:ea typeface="楷体_GB2312" pitchFamily="49" charset="-122"/>
            </a:endParaRPr>
          </a:p>
          <a:p>
            <a:pPr eaLnBrk="1" hangingPunct="1">
              <a:lnSpc>
                <a:spcPct val="90000"/>
              </a:lnSpc>
            </a:pPr>
            <a:r>
              <a:rPr lang="zh-CN" altLang="en-US" sz="2400" dirty="0">
                <a:latin typeface="楷体_GB2312" pitchFamily="49" charset="-122"/>
                <a:ea typeface="楷体_GB2312" pitchFamily="49" charset="-122"/>
              </a:rPr>
              <a:t>（客户没办过卡）我们卡片挺好的，你现在填表办一张吧！</a:t>
            </a:r>
            <a:endParaRPr lang="zh-CN" altLang="en-US" sz="2400" dirty="0">
              <a:latin typeface="楷体_GB2312" pitchFamily="49" charset="-122"/>
              <a:ea typeface="楷体_GB2312" pitchFamily="49" charset="-122"/>
            </a:endParaRPr>
          </a:p>
          <a:p>
            <a:pPr eaLnBrk="1" hangingPunct="1">
              <a:lnSpc>
                <a:spcPct val="90000"/>
              </a:lnSpc>
            </a:pPr>
            <a:r>
              <a:rPr lang="zh-CN" altLang="en-US" sz="2400" dirty="0">
                <a:latin typeface="楷体_GB2312" pitchFamily="49" charset="-122"/>
                <a:ea typeface="楷体_GB2312" pitchFamily="49" charset="-122"/>
              </a:rPr>
              <a:t>您的家庭</a:t>
            </a:r>
            <a:r>
              <a:rPr lang="en-US" altLang="zh-CN" sz="2400" dirty="0">
                <a:latin typeface="楷体_GB2312" pitchFamily="49" charset="-122"/>
                <a:ea typeface="楷体_GB2312" pitchFamily="49" charset="-122"/>
              </a:rPr>
              <a:t>/</a:t>
            </a:r>
            <a:r>
              <a:rPr lang="zh-CN" altLang="en-US" sz="2400" dirty="0">
                <a:latin typeface="楷体_GB2312" pitchFamily="49" charset="-122"/>
                <a:ea typeface="楷体_GB2312" pitchFamily="49" charset="-122"/>
              </a:rPr>
              <a:t>单位电话是多少？</a:t>
            </a:r>
            <a:endParaRPr lang="zh-CN" altLang="en-US" sz="2400" dirty="0">
              <a:latin typeface="楷体_GB2312" pitchFamily="49" charset="-122"/>
              <a:ea typeface="楷体_GB2312" pitchFamily="49" charset="-122"/>
            </a:endParaRPr>
          </a:p>
          <a:p>
            <a:pPr eaLnBrk="1" hangingPunct="1">
              <a:lnSpc>
                <a:spcPct val="90000"/>
              </a:lnSpc>
            </a:pPr>
            <a:endParaRPr lang="zh-CN" altLang="en-US" sz="2400" dirty="0">
              <a:solidFill>
                <a:srgbClr val="FF3300"/>
              </a:solidFill>
              <a:latin typeface="楷体_GB2312" pitchFamily="49" charset="-122"/>
              <a:ea typeface="楷体_GB2312" pitchFamily="49" charset="-122"/>
            </a:endParaRPr>
          </a:p>
          <a:p>
            <a:pPr eaLnBrk="1" hangingPunct="1">
              <a:lnSpc>
                <a:spcPct val="90000"/>
              </a:lnSpc>
              <a:buNone/>
            </a:pPr>
            <a:r>
              <a:rPr lang="zh-CN" altLang="en-US" sz="2400" dirty="0">
                <a:solidFill>
                  <a:srgbClr val="000066"/>
                </a:solidFill>
              </a:rPr>
              <a:t>要点</a:t>
            </a:r>
            <a:endParaRPr lang="zh-CN" altLang="en-US" sz="2400" dirty="0">
              <a:solidFill>
                <a:srgbClr val="000066"/>
              </a:solidFill>
            </a:endParaRPr>
          </a:p>
          <a:p>
            <a:pPr eaLnBrk="1" hangingPunct="1">
              <a:lnSpc>
                <a:spcPct val="90000"/>
              </a:lnSpc>
            </a:pPr>
            <a:r>
              <a:rPr lang="zh-CN" altLang="en-US" sz="2400" dirty="0">
                <a:latin typeface="楷体_GB2312" pitchFamily="49" charset="-122"/>
                <a:ea typeface="楷体_GB2312" pitchFamily="49" charset="-122"/>
              </a:rPr>
              <a:t>引导客户由申请表的签名开始填写，并通过肢体配合语言，引导客户继续填写</a:t>
            </a:r>
            <a:r>
              <a:rPr lang="en-US" altLang="zh-CN" sz="2400" dirty="0">
                <a:latin typeface="楷体_GB2312" pitchFamily="49" charset="-122"/>
                <a:ea typeface="楷体_GB2312" pitchFamily="49" charset="-122"/>
              </a:rPr>
              <a:t>!</a:t>
            </a:r>
            <a:endParaRPr lang="en-US" altLang="zh-CN" sz="2400" dirty="0">
              <a:latin typeface="楷体_GB2312" pitchFamily="49" charset="-122"/>
              <a:ea typeface="楷体_GB2312" pitchFamily="49" charset="-122"/>
            </a:endParaRPr>
          </a:p>
          <a:p>
            <a:pPr eaLnBrk="1" hangingPunct="1">
              <a:lnSpc>
                <a:spcPct val="90000"/>
              </a:lnSpc>
              <a:buNone/>
            </a:pPr>
            <a:endParaRPr lang="en-US" altLang="zh-CN" sz="2400" dirty="0">
              <a:latin typeface="楷体_GB2312" pitchFamily="49" charset="-122"/>
              <a:ea typeface="楷体_GB2312" pitchFamily="49" charset="-122"/>
            </a:endParaRPr>
          </a:p>
        </p:txBody>
      </p:sp>
      <p:pic>
        <p:nvPicPr>
          <p:cNvPr id="81924" name="Picture 4" descr="j0199036"/>
          <p:cNvPicPr>
            <a:picLocks noChangeAspect="1"/>
          </p:cNvPicPr>
          <p:nvPr/>
        </p:nvPicPr>
        <p:blipFill>
          <a:blip r:embed="rId1"/>
          <a:stretch>
            <a:fillRect/>
          </a:stretch>
        </p:blipFill>
        <p:spPr>
          <a:xfrm>
            <a:off x="7381875" y="5157788"/>
            <a:ext cx="1174750" cy="10795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1923">
                                            <p:txEl>
                                              <p:charRg st="0" end="8"/>
                                            </p:txEl>
                                          </p:spTgt>
                                        </p:tgtEl>
                                        <p:attrNameLst>
                                          <p:attrName>style.visibility</p:attrName>
                                        </p:attrNameLst>
                                      </p:cBhvr>
                                      <p:to>
                                        <p:strVal val="visible"/>
                                      </p:to>
                                    </p:set>
                                    <p:animEffect transition="in" filter="blinds(horizontal)">
                                      <p:cBhvr>
                                        <p:cTn id="7" dur="500"/>
                                        <p:tgtEl>
                                          <p:spTgt spid="81923">
                                            <p:txEl>
                                              <p:charRg st="0" end="8"/>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1923">
                                            <p:txEl>
                                              <p:charRg st="9" end="19"/>
                                            </p:txEl>
                                          </p:spTgt>
                                        </p:tgtEl>
                                        <p:attrNameLst>
                                          <p:attrName>style.visibility</p:attrName>
                                        </p:attrNameLst>
                                      </p:cBhvr>
                                      <p:to>
                                        <p:strVal val="visible"/>
                                      </p:to>
                                    </p:set>
                                    <p:animEffect transition="in" filter="blinds(horizontal)">
                                      <p:cBhvr>
                                        <p:cTn id="12" dur="500"/>
                                        <p:tgtEl>
                                          <p:spTgt spid="81923">
                                            <p:txEl>
                                              <p:charRg st="9" end="19"/>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81923">
                                            <p:txEl>
                                              <p:charRg st="19" end="46"/>
                                            </p:txEl>
                                          </p:spTgt>
                                        </p:tgtEl>
                                        <p:attrNameLst>
                                          <p:attrName>style.visibility</p:attrName>
                                        </p:attrNameLst>
                                      </p:cBhvr>
                                      <p:to>
                                        <p:strVal val="visible"/>
                                      </p:to>
                                    </p:set>
                                    <p:animEffect transition="in" filter="blinds(horizontal)">
                                      <p:cBhvr>
                                        <p:cTn id="17" dur="500"/>
                                        <p:tgtEl>
                                          <p:spTgt spid="81923">
                                            <p:txEl>
                                              <p:charRg st="19" end="4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81923">
                                            <p:txEl>
                                              <p:charRg st="46" end="60"/>
                                            </p:txEl>
                                          </p:spTgt>
                                        </p:tgtEl>
                                        <p:attrNameLst>
                                          <p:attrName>style.visibility</p:attrName>
                                        </p:attrNameLst>
                                      </p:cBhvr>
                                      <p:to>
                                        <p:strVal val="visible"/>
                                      </p:to>
                                    </p:set>
                                    <p:animEffect transition="in" filter="blinds(horizontal)">
                                      <p:cBhvr>
                                        <p:cTn id="22" dur="500"/>
                                        <p:tgtEl>
                                          <p:spTgt spid="81923">
                                            <p:txEl>
                                              <p:charRg st="46" end="6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81923">
                                            <p:txEl>
                                              <p:charRg st="61" end="64"/>
                                            </p:txEl>
                                          </p:spTgt>
                                        </p:tgtEl>
                                        <p:attrNameLst>
                                          <p:attrName>style.visibility</p:attrName>
                                        </p:attrNameLst>
                                      </p:cBhvr>
                                      <p:to>
                                        <p:strVal val="visible"/>
                                      </p:to>
                                    </p:set>
                                    <p:animEffect transition="in" filter="blinds(horizontal)">
                                      <p:cBhvr>
                                        <p:cTn id="27" dur="500"/>
                                        <p:tgtEl>
                                          <p:spTgt spid="81923">
                                            <p:txEl>
                                              <p:charRg st="61" end="64"/>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81923">
                                            <p:txEl>
                                              <p:charRg st="64" end="100"/>
                                            </p:txEl>
                                          </p:spTgt>
                                        </p:tgtEl>
                                        <p:attrNameLst>
                                          <p:attrName>style.visibility</p:attrName>
                                        </p:attrNameLst>
                                      </p:cBhvr>
                                      <p:to>
                                        <p:strVal val="visible"/>
                                      </p:to>
                                    </p:set>
                                    <p:animEffect transition="in" filter="blinds(horizontal)">
                                      <p:cBhvr>
                                        <p:cTn id="30" dur="500"/>
                                        <p:tgtEl>
                                          <p:spTgt spid="81923">
                                            <p:txEl>
                                              <p:charRg st="64" end="10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Rectangle 2"/>
          <p:cNvSpPr>
            <a:spLocks noGrp="1"/>
          </p:cNvSpPr>
          <p:nvPr>
            <p:ph type="title" idx="4294967295"/>
          </p:nvPr>
        </p:nvSpPr>
        <p:spPr>
          <a:xfrm>
            <a:off x="612775" y="765175"/>
            <a:ext cx="7773988" cy="1143000"/>
          </a:xfrm>
          <a:ln/>
        </p:spPr>
        <p:txBody>
          <a:bodyPr vert="horz" wrap="square" anchor="ctr" anchorCtr="0"/>
          <a:p>
            <a:pPr eaLnBrk="1" hangingPunct="1"/>
            <a:r>
              <a:rPr lang="zh-TW" altLang="en-US" sz="3200" dirty="0">
                <a:solidFill>
                  <a:srgbClr val="FF3300"/>
                </a:solidFill>
              </a:rPr>
              <a:t>二择一法</a:t>
            </a:r>
            <a:br>
              <a:rPr lang="zh-TW" altLang="en-US" sz="3200" dirty="0">
                <a:solidFill>
                  <a:srgbClr val="FF3300"/>
                </a:solidFill>
              </a:rPr>
            </a:br>
            <a:endParaRPr lang="zh-TW" altLang="en-US" sz="3200" dirty="0">
              <a:solidFill>
                <a:srgbClr val="FF3300"/>
              </a:solidFill>
            </a:endParaRPr>
          </a:p>
        </p:txBody>
      </p:sp>
      <p:sp>
        <p:nvSpPr>
          <p:cNvPr id="83971" name="Rectangle 3"/>
          <p:cNvSpPr>
            <a:spLocks noGrp="1"/>
          </p:cNvSpPr>
          <p:nvPr>
            <p:ph type="body" idx="4294967295"/>
          </p:nvPr>
        </p:nvSpPr>
        <p:spPr>
          <a:xfrm>
            <a:off x="612775" y="1989138"/>
            <a:ext cx="7773988" cy="4114800"/>
          </a:xfrm>
          <a:ln/>
        </p:spPr>
        <p:txBody>
          <a:bodyPr vert="horz" wrap="square" anchor="t" anchorCtr="0"/>
          <a:p>
            <a:pPr eaLnBrk="1" hangingPunct="1">
              <a:buNone/>
            </a:pPr>
            <a:r>
              <a:rPr lang="zh-TW" altLang="en-US" sz="2400" dirty="0">
                <a:solidFill>
                  <a:srgbClr val="000066"/>
                </a:solidFill>
                <a:latin typeface="华文中宋" panose="02010600040101010101" pitchFamily="2" charset="-122"/>
              </a:rPr>
              <a:t>给出两个我们都认可的选择让客户挑选</a:t>
            </a:r>
            <a:endParaRPr lang="zh-TW" altLang="en-US" sz="2400" dirty="0">
              <a:solidFill>
                <a:srgbClr val="000066"/>
              </a:solidFill>
              <a:latin typeface="华文中宋" panose="02010600040101010101" pitchFamily="2" charset="-122"/>
            </a:endParaRPr>
          </a:p>
          <a:p>
            <a:pPr eaLnBrk="1" hangingPunct="1">
              <a:buNone/>
            </a:pPr>
            <a:r>
              <a:rPr lang="zh-TW" altLang="en-US" sz="2400" dirty="0">
                <a:latin typeface="华文中宋" panose="02010600040101010101" pitchFamily="2" charset="-122"/>
              </a:rPr>
              <a:t> </a:t>
            </a:r>
            <a:endParaRPr lang="zh-TW" altLang="en-US" sz="2400" dirty="0">
              <a:latin typeface="华文中宋" panose="02010600040101010101" pitchFamily="2" charset="-122"/>
            </a:endParaRPr>
          </a:p>
          <a:p>
            <a:pPr eaLnBrk="1" hangingPunct="1"/>
            <a:r>
              <a:rPr lang="zh-TW" altLang="en-US" sz="2400" dirty="0">
                <a:latin typeface="楷体_GB2312" pitchFamily="49" charset="-122"/>
                <a:ea typeface="楷体_GB2312" pitchFamily="49" charset="-122"/>
              </a:rPr>
              <a:t>您看，我们的产品这么好，您是办凤鲤卡还是青年卡？</a:t>
            </a:r>
            <a:endParaRPr lang="zh-TW" altLang="en-US" sz="2400" dirty="0">
              <a:latin typeface="楷体_GB2312" pitchFamily="49" charset="-122"/>
              <a:ea typeface="楷体_GB2312" pitchFamily="49" charset="-122"/>
            </a:endParaRPr>
          </a:p>
          <a:p>
            <a:pPr eaLnBrk="1" hangingPunct="1">
              <a:buNone/>
            </a:pPr>
            <a:endParaRPr lang="zh-TW" altLang="en-US" sz="2400" dirty="0">
              <a:latin typeface="楷体_GB2312" pitchFamily="49" charset="-122"/>
              <a:ea typeface="楷体_GB2312" pitchFamily="49" charset="-122"/>
            </a:endParaRPr>
          </a:p>
          <a:p>
            <a:pPr eaLnBrk="1" hangingPunct="1"/>
            <a:r>
              <a:rPr lang="zh-TW" altLang="en-US" sz="2400" dirty="0">
                <a:latin typeface="楷体_GB2312" pitchFamily="49" charset="-122"/>
                <a:ea typeface="楷体_GB2312" pitchFamily="49" charset="-122"/>
              </a:rPr>
              <a:t>您看，我是明天下午还是后天上午去帮您办理？</a:t>
            </a:r>
            <a:endParaRPr lang="zh-TW" altLang="en-US" sz="2400" i="1" dirty="0">
              <a:latin typeface="楷体_GB2312" pitchFamily="49" charset="-122"/>
              <a:ea typeface="楷体_GB2312" pitchFamily="49" charset="-122"/>
            </a:endParaRPr>
          </a:p>
          <a:p>
            <a:pPr eaLnBrk="1" hangingPunct="1"/>
            <a:endParaRPr lang="zh-TW" altLang="en-US" sz="2400" dirty="0"/>
          </a:p>
        </p:txBody>
      </p:sp>
      <p:pic>
        <p:nvPicPr>
          <p:cNvPr id="83972" name="Picture 4" descr="j0149481"/>
          <p:cNvPicPr>
            <a:picLocks noChangeAspect="1"/>
          </p:cNvPicPr>
          <p:nvPr/>
        </p:nvPicPr>
        <p:blipFill>
          <a:blip r:embed="rId1"/>
          <a:stretch>
            <a:fillRect/>
          </a:stretch>
        </p:blipFill>
        <p:spPr>
          <a:xfrm>
            <a:off x="6732588" y="4365625"/>
            <a:ext cx="1825625" cy="1855788"/>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3971">
                                            <p:txEl>
                                              <p:charRg st="20" end="45"/>
                                            </p:txEl>
                                          </p:spTgt>
                                        </p:tgtEl>
                                        <p:attrNameLst>
                                          <p:attrName>style.visibility</p:attrName>
                                        </p:attrNameLst>
                                      </p:cBhvr>
                                      <p:to>
                                        <p:strVal val="visible"/>
                                      </p:to>
                                    </p:set>
                                    <p:animEffect transition="in" filter="blinds(horizontal)">
                                      <p:cBhvr>
                                        <p:cTn id="7" dur="500"/>
                                        <p:tgtEl>
                                          <p:spTgt spid="83971">
                                            <p:txEl>
                                              <p:charRg st="20" end="45"/>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3971">
                                            <p:txEl>
                                              <p:charRg st="46" end="68"/>
                                            </p:txEl>
                                          </p:spTgt>
                                        </p:tgtEl>
                                        <p:attrNameLst>
                                          <p:attrName>style.visibility</p:attrName>
                                        </p:attrNameLst>
                                      </p:cBhvr>
                                      <p:to>
                                        <p:strVal val="visible"/>
                                      </p:to>
                                    </p:set>
                                    <p:animEffect transition="in" filter="blinds(horizontal)">
                                      <p:cBhvr>
                                        <p:cTn id="12" dur="500"/>
                                        <p:tgtEl>
                                          <p:spTgt spid="83971">
                                            <p:txEl>
                                              <p:charRg st="46" end="6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Rectangle 2"/>
          <p:cNvSpPr>
            <a:spLocks noGrp="1"/>
          </p:cNvSpPr>
          <p:nvPr>
            <p:ph type="title" idx="4294967295"/>
          </p:nvPr>
        </p:nvSpPr>
        <p:spPr>
          <a:ln/>
        </p:spPr>
        <p:txBody>
          <a:bodyPr vert="horz" wrap="square" anchor="ctr" anchorCtr="0"/>
          <a:p>
            <a:pPr eaLnBrk="1" hangingPunct="1"/>
            <a:r>
              <a:rPr lang="zh-TW" altLang="en-US" dirty="0">
                <a:solidFill>
                  <a:srgbClr val="FF3300"/>
                </a:solidFill>
              </a:rPr>
              <a:t>利诱法</a:t>
            </a:r>
            <a:endParaRPr lang="zh-TW" altLang="en-US" dirty="0">
              <a:solidFill>
                <a:srgbClr val="FF3300"/>
              </a:solidFill>
            </a:endParaRPr>
          </a:p>
        </p:txBody>
      </p:sp>
      <p:sp>
        <p:nvSpPr>
          <p:cNvPr id="86019" name="Rectangle 3"/>
          <p:cNvSpPr>
            <a:spLocks noGrp="1"/>
          </p:cNvSpPr>
          <p:nvPr>
            <p:ph type="body" idx="4294967295"/>
          </p:nvPr>
        </p:nvSpPr>
        <p:spPr>
          <a:xfrm>
            <a:off x="755650" y="1916113"/>
            <a:ext cx="7773988" cy="4186237"/>
          </a:xfrm>
          <a:ln/>
        </p:spPr>
        <p:txBody>
          <a:bodyPr vert="horz" wrap="square" anchor="t" anchorCtr="0"/>
          <a:p>
            <a:pPr eaLnBrk="1" hangingPunct="1">
              <a:buNone/>
            </a:pPr>
            <a:r>
              <a:rPr lang="zh-CN" altLang="en-US" sz="2400" dirty="0">
                <a:solidFill>
                  <a:srgbClr val="000066"/>
                </a:solidFill>
              </a:rPr>
              <a:t>扩大产品的附加价值</a:t>
            </a:r>
            <a:endParaRPr lang="zh-CN" altLang="en-US" sz="2400" dirty="0">
              <a:solidFill>
                <a:srgbClr val="000066"/>
              </a:solidFill>
            </a:endParaRPr>
          </a:p>
          <a:p>
            <a:pPr eaLnBrk="1" hangingPunct="1">
              <a:buNone/>
            </a:pPr>
            <a:endParaRPr lang="zh-CN" altLang="en-US" sz="2400" dirty="0">
              <a:latin typeface="楷体_GB2312" pitchFamily="49" charset="-122"/>
              <a:ea typeface="楷体_GB2312" pitchFamily="49" charset="-122"/>
            </a:endParaRPr>
          </a:p>
          <a:p>
            <a:pPr eaLnBrk="1" hangingPunct="1"/>
            <a:r>
              <a:rPr lang="zh-CN" altLang="en-US" sz="2400" dirty="0">
                <a:latin typeface="楷体_GB2312" pitchFamily="49" charset="-122"/>
                <a:ea typeface="楷体_GB2312" pitchFamily="49" charset="-122"/>
              </a:rPr>
              <a:t>您看，我们目前还有</a:t>
            </a:r>
            <a:r>
              <a:rPr lang="en-US" altLang="zh-CN" sz="2400" dirty="0">
                <a:latin typeface="楷体_GB2312" pitchFamily="49" charset="-122"/>
                <a:ea typeface="楷体_GB2312" pitchFamily="49" charset="-122"/>
              </a:rPr>
              <a:t>XX</a:t>
            </a:r>
            <a:r>
              <a:rPr lang="zh-CN" altLang="en-US" sz="2400" dirty="0">
                <a:latin typeface="楷体_GB2312" pitchFamily="49" charset="-122"/>
                <a:ea typeface="楷体_GB2312" pitchFamily="49" charset="-122"/>
              </a:rPr>
              <a:t>活动，你要是错过就太可惜了（结合当前市场活动）！</a:t>
            </a:r>
            <a:endParaRPr lang="zh-CN" altLang="en-US" sz="2400" dirty="0">
              <a:latin typeface="楷体_GB2312" pitchFamily="49" charset="-122"/>
              <a:ea typeface="楷体_GB2312" pitchFamily="49" charset="-122"/>
            </a:endParaRPr>
          </a:p>
          <a:p>
            <a:pPr eaLnBrk="1" hangingPunct="1"/>
            <a:endParaRPr lang="zh-CN" altLang="en-US" sz="2400" dirty="0">
              <a:latin typeface="楷体_GB2312" pitchFamily="49" charset="-122"/>
              <a:ea typeface="楷体_GB2312" pitchFamily="49" charset="-122"/>
            </a:endParaRPr>
          </a:p>
          <a:p>
            <a:pPr eaLnBrk="1" hangingPunct="1"/>
            <a:r>
              <a:rPr lang="zh-CN" altLang="en-US" sz="2400" dirty="0">
                <a:latin typeface="楷体_GB2312" pitchFamily="49" charset="-122"/>
                <a:ea typeface="楷体_GB2312" pitchFamily="49" charset="-122"/>
              </a:rPr>
              <a:t>您现在办卡我还送你一份填表礼！（展示礼品）</a:t>
            </a:r>
            <a:endParaRPr lang="zh-CN" altLang="en-US" sz="2400" dirty="0">
              <a:latin typeface="楷体_GB2312" pitchFamily="49" charset="-122"/>
              <a:ea typeface="楷体_GB2312" pitchFamily="49" charset="-122"/>
            </a:endParaRPr>
          </a:p>
          <a:p>
            <a:pPr eaLnBrk="1" hangingPunct="1"/>
            <a:endParaRPr lang="zh-CN" altLang="en-US" sz="2400" dirty="0">
              <a:latin typeface="楷体_GB2312" pitchFamily="49" charset="-122"/>
              <a:ea typeface="楷体_GB2312" pitchFamily="49" charset="-122"/>
            </a:endParaRPr>
          </a:p>
        </p:txBody>
      </p:sp>
      <p:pic>
        <p:nvPicPr>
          <p:cNvPr id="86020" name="Picture 4" descr="j0290848[1]"/>
          <p:cNvPicPr>
            <a:picLocks noChangeAspect="1"/>
          </p:cNvPicPr>
          <p:nvPr/>
        </p:nvPicPr>
        <p:blipFill>
          <a:blip r:embed="rId1"/>
          <a:stretch>
            <a:fillRect/>
          </a:stretch>
        </p:blipFill>
        <p:spPr>
          <a:xfrm>
            <a:off x="6865938" y="4508500"/>
            <a:ext cx="1500187" cy="165735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6019">
                                            <p:txEl>
                                              <p:charRg st="11" end="47"/>
                                            </p:txEl>
                                          </p:spTgt>
                                        </p:tgtEl>
                                        <p:attrNameLst>
                                          <p:attrName>style.visibility</p:attrName>
                                        </p:attrNameLst>
                                      </p:cBhvr>
                                      <p:to>
                                        <p:strVal val="visible"/>
                                      </p:to>
                                    </p:set>
                                    <p:animEffect transition="in" filter="blinds(horizontal)">
                                      <p:cBhvr>
                                        <p:cTn id="7" dur="500"/>
                                        <p:tgtEl>
                                          <p:spTgt spid="86019">
                                            <p:txEl>
                                              <p:charRg st="11" end="47"/>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6019">
                                            <p:txEl>
                                              <p:charRg st="48" end="70"/>
                                            </p:txEl>
                                          </p:spTgt>
                                        </p:tgtEl>
                                        <p:attrNameLst>
                                          <p:attrName>style.visibility</p:attrName>
                                        </p:attrNameLst>
                                      </p:cBhvr>
                                      <p:to>
                                        <p:strVal val="visible"/>
                                      </p:to>
                                    </p:set>
                                    <p:animEffect transition="in" filter="blinds(horizontal)">
                                      <p:cBhvr>
                                        <p:cTn id="12" dur="500"/>
                                        <p:tgtEl>
                                          <p:spTgt spid="86019">
                                            <p:txEl>
                                              <p:charRg st="48" end="7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Rectangle 2"/>
          <p:cNvSpPr>
            <a:spLocks noGrp="1"/>
          </p:cNvSpPr>
          <p:nvPr>
            <p:ph type="title" idx="4294967295"/>
          </p:nvPr>
        </p:nvSpPr>
        <p:spPr>
          <a:ln/>
        </p:spPr>
        <p:txBody>
          <a:bodyPr vert="horz" wrap="square" anchor="ctr" anchorCtr="0"/>
          <a:p>
            <a:pPr eaLnBrk="1" hangingPunct="1"/>
            <a:r>
              <a:rPr lang="zh-TW" altLang="en-US" dirty="0">
                <a:solidFill>
                  <a:srgbClr val="FF3300"/>
                </a:solidFill>
              </a:rPr>
              <a:t>假设成交法</a:t>
            </a:r>
            <a:endParaRPr lang="zh-TW" altLang="en-US" dirty="0">
              <a:solidFill>
                <a:srgbClr val="FF3300"/>
              </a:solidFill>
            </a:endParaRPr>
          </a:p>
        </p:txBody>
      </p:sp>
      <p:sp>
        <p:nvSpPr>
          <p:cNvPr id="88067" name="Rectangle 3"/>
          <p:cNvSpPr>
            <a:spLocks noGrp="1"/>
          </p:cNvSpPr>
          <p:nvPr>
            <p:ph type="body" sz="half" idx="4294967295"/>
          </p:nvPr>
        </p:nvSpPr>
        <p:spPr>
          <a:xfrm>
            <a:off x="685800" y="1981200"/>
            <a:ext cx="7775575" cy="4114800"/>
          </a:xfrm>
          <a:ln/>
        </p:spPr>
        <p:txBody>
          <a:bodyPr vert="horz" wrap="square" anchor="t" anchorCtr="0"/>
          <a:lstStyle>
            <a:lvl1pPr lvl="0">
              <a:buClr>
                <a:srgbClr val="FF3300"/>
              </a:buClr>
              <a:buSzTx/>
              <a:buFont typeface="Wingdings" panose="05000000000000000000" pitchFamily="2" charset="2"/>
              <a:defRPr sz="2800"/>
            </a:lvl1pPr>
            <a:lvl2pPr lvl="1">
              <a:buClr>
                <a:srgbClr val="FF3300"/>
              </a:buClr>
              <a:buSzTx/>
              <a:buFont typeface="Wingdings" panose="05000000000000000000" pitchFamily="2" charset="2"/>
              <a:defRPr sz="2400"/>
            </a:lvl2pPr>
            <a:lvl3pPr lvl="2">
              <a:buClr>
                <a:srgbClr val="FF3300"/>
              </a:buClr>
              <a:buSzTx/>
              <a:buFont typeface="Wingdings" panose="05000000000000000000" pitchFamily="2" charset="2"/>
              <a:defRPr sz="2000"/>
            </a:lvl3pPr>
            <a:lvl4pPr lvl="3">
              <a:buClr>
                <a:srgbClr val="FF3300"/>
              </a:buClr>
              <a:buSzTx/>
              <a:buFont typeface="Wingdings" panose="05000000000000000000" pitchFamily="2" charset="2"/>
              <a:defRPr sz="1800"/>
            </a:lvl4pPr>
            <a:lvl5pPr lvl="4">
              <a:buClr>
                <a:srgbClr val="FF3300"/>
              </a:buClr>
              <a:buSzTx/>
              <a:buFont typeface="Wingdings" panose="05000000000000000000" pitchFamily="2" charset="2"/>
              <a:defRPr sz="1800"/>
            </a:lvl5pPr>
          </a:lstStyle>
          <a:p>
            <a:pPr lvl="0" eaLnBrk="1" hangingPunct="1">
              <a:lnSpc>
                <a:spcPct val="90000"/>
              </a:lnSpc>
              <a:buNone/>
            </a:pPr>
            <a:r>
              <a:rPr lang="zh-TW" altLang="en-US" sz="2400" dirty="0">
                <a:solidFill>
                  <a:srgbClr val="000066"/>
                </a:solidFill>
              </a:rPr>
              <a:t>我们在成交前就把客户当作已经接受我们的产品了</a:t>
            </a:r>
            <a:r>
              <a:rPr lang="zh-TW" altLang="en-US" sz="2400" dirty="0"/>
              <a:t> </a:t>
            </a:r>
            <a:endParaRPr lang="zh-TW" altLang="en-US" sz="2400" dirty="0"/>
          </a:p>
          <a:p>
            <a:pPr lvl="0" eaLnBrk="1" hangingPunct="1">
              <a:lnSpc>
                <a:spcPct val="90000"/>
              </a:lnSpc>
              <a:buNone/>
            </a:pPr>
            <a:endParaRPr lang="zh-TW" altLang="en-US" sz="2400" dirty="0"/>
          </a:p>
          <a:p>
            <a:pPr lvl="0" eaLnBrk="1" hangingPunct="1">
              <a:lnSpc>
                <a:spcPct val="90000"/>
              </a:lnSpc>
            </a:pPr>
            <a:r>
              <a:rPr lang="zh-TW" altLang="en-US" sz="2400" dirty="0">
                <a:ea typeface="楷体_GB2312" pitchFamily="49" charset="-122"/>
              </a:rPr>
              <a:t>您的身份证带了吗，我帮您复印一下！</a:t>
            </a:r>
            <a:endParaRPr lang="zh-TW" altLang="en-US" sz="2400" dirty="0">
              <a:ea typeface="楷体_GB2312" pitchFamily="49" charset="-122"/>
            </a:endParaRPr>
          </a:p>
          <a:p>
            <a:pPr lvl="0" eaLnBrk="1" hangingPunct="1">
              <a:lnSpc>
                <a:spcPct val="90000"/>
              </a:lnSpc>
            </a:pPr>
            <a:endParaRPr lang="zh-TW" altLang="en-US" sz="2400" dirty="0">
              <a:ea typeface="楷体_GB2312" pitchFamily="49" charset="-122"/>
            </a:endParaRPr>
          </a:p>
          <a:p>
            <a:pPr lvl="0" eaLnBrk="1" hangingPunct="1">
              <a:lnSpc>
                <a:spcPct val="90000"/>
              </a:lnSpc>
            </a:pPr>
            <a:r>
              <a:rPr lang="zh-TW" altLang="en-US" sz="2400" dirty="0">
                <a:ea typeface="楷体_GB2312" pitchFamily="49" charset="-122"/>
              </a:rPr>
              <a:t>我们办理手续是很简单的，您的名片带了吗？</a:t>
            </a:r>
            <a:endParaRPr lang="zh-TW" altLang="en-US" sz="2400" dirty="0">
              <a:ea typeface="楷体_GB2312" pitchFamily="49" charset="-122"/>
            </a:endParaRPr>
          </a:p>
          <a:p>
            <a:pPr lvl="0" eaLnBrk="1" hangingPunct="1">
              <a:lnSpc>
                <a:spcPct val="90000"/>
              </a:lnSpc>
            </a:pPr>
            <a:endParaRPr lang="zh-TW" altLang="en-US" sz="2400" dirty="0">
              <a:ea typeface="楷体_GB2312" pitchFamily="49" charset="-122"/>
            </a:endParaRPr>
          </a:p>
          <a:p>
            <a:pPr lvl="0" eaLnBrk="1" hangingPunct="1">
              <a:lnSpc>
                <a:spcPct val="90000"/>
              </a:lnSpc>
            </a:pPr>
            <a:r>
              <a:rPr lang="zh-TW" altLang="en-US" sz="2400" dirty="0">
                <a:ea typeface="楷体_GB2312" pitchFamily="49" charset="-122"/>
              </a:rPr>
              <a:t>你要什么礼品？（可选）</a:t>
            </a:r>
            <a:endParaRPr lang="zh-TW" altLang="en-US" sz="2400" dirty="0">
              <a:ea typeface="楷体_GB2312" pitchFamily="49" charset="-122"/>
            </a:endParaRPr>
          </a:p>
        </p:txBody>
      </p:sp>
      <p:graphicFrame>
        <p:nvGraphicFramePr>
          <p:cNvPr id="88068" name="Object 4"/>
          <p:cNvGraphicFramePr/>
          <p:nvPr>
            <p:ph sz="half" idx="1"/>
          </p:nvPr>
        </p:nvGraphicFramePr>
        <p:xfrm>
          <a:off x="6445250" y="4797425"/>
          <a:ext cx="2011363" cy="1414463"/>
        </p:xfrm>
        <a:graphic>
          <a:graphicData uri="http://schemas.openxmlformats.org/presentationml/2006/ole">
            <mc:AlternateContent xmlns:mc="http://schemas.openxmlformats.org/markup-compatibility/2006">
              <mc:Choice xmlns:v="urn:schemas-microsoft-com:vml" Requires="v">
                <p:oleObj spid="_x0000_s3077" name="" r:id="rId1" imgW="4102100" imgH="3149600" progId="MS_ClipArt_Gallery.2">
                  <p:embed/>
                </p:oleObj>
              </mc:Choice>
              <mc:Fallback>
                <p:oleObj name="" r:id="rId1" imgW="4102100" imgH="3149600" progId="MS_ClipArt_Gallery.2">
                  <p:embed/>
                  <p:pic>
                    <p:nvPicPr>
                      <p:cNvPr id="0" name="图片 3076"/>
                      <p:cNvPicPr/>
                      <p:nvPr/>
                    </p:nvPicPr>
                    <p:blipFill>
                      <a:blip r:embed="rId2"/>
                      <a:stretch>
                        <a:fillRect/>
                      </a:stretch>
                    </p:blipFill>
                    <p:spPr>
                      <a:xfrm>
                        <a:off x="6445250" y="4797425"/>
                        <a:ext cx="2011363" cy="1414463"/>
                      </a:xfrm>
                      <a:prstGeom prst="rect">
                        <a:avLst/>
                      </a:prstGeom>
                      <a:solidFill>
                        <a:schemeClr val="bg1"/>
                      </a:solidFill>
                      <a:ln w="38100">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8067">
                                            <p:txEl>
                                              <p:charRg st="25" end="43"/>
                                            </p:txEl>
                                          </p:spTgt>
                                        </p:tgtEl>
                                        <p:attrNameLst>
                                          <p:attrName>style.visibility</p:attrName>
                                        </p:attrNameLst>
                                      </p:cBhvr>
                                      <p:to>
                                        <p:strVal val="visible"/>
                                      </p:to>
                                    </p:set>
                                    <p:animEffect transition="in" filter="blinds(horizontal)">
                                      <p:cBhvr>
                                        <p:cTn id="7" dur="500"/>
                                        <p:tgtEl>
                                          <p:spTgt spid="88067">
                                            <p:txEl>
                                              <p:charRg st="25" end="43"/>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8067">
                                            <p:txEl>
                                              <p:charRg st="44" end="65"/>
                                            </p:txEl>
                                          </p:spTgt>
                                        </p:tgtEl>
                                        <p:attrNameLst>
                                          <p:attrName>style.visibility</p:attrName>
                                        </p:attrNameLst>
                                      </p:cBhvr>
                                      <p:to>
                                        <p:strVal val="visible"/>
                                      </p:to>
                                    </p:set>
                                    <p:animEffect transition="in" filter="blinds(horizontal)">
                                      <p:cBhvr>
                                        <p:cTn id="12" dur="500"/>
                                        <p:tgtEl>
                                          <p:spTgt spid="88067">
                                            <p:txEl>
                                              <p:charRg st="44" end="6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88067">
                                            <p:txEl>
                                              <p:charRg st="66" end="78"/>
                                            </p:txEl>
                                          </p:spTgt>
                                        </p:tgtEl>
                                        <p:attrNameLst>
                                          <p:attrName>style.visibility</p:attrName>
                                        </p:attrNameLst>
                                      </p:cBhvr>
                                      <p:to>
                                        <p:strVal val="visible"/>
                                      </p:to>
                                    </p:set>
                                    <p:animEffect transition="in" filter="blinds(horizontal)">
                                      <p:cBhvr>
                                        <p:cTn id="17" dur="500"/>
                                        <p:tgtEl>
                                          <p:spTgt spid="88067">
                                            <p:txEl>
                                              <p:charRg st="66" end="7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Rectangle 2"/>
          <p:cNvSpPr>
            <a:spLocks noGrp="1"/>
          </p:cNvSpPr>
          <p:nvPr>
            <p:ph type="title" idx="4294967295"/>
          </p:nvPr>
        </p:nvSpPr>
        <p:spPr>
          <a:xfrm>
            <a:off x="612775" y="549275"/>
            <a:ext cx="7773988" cy="1143000"/>
          </a:xfrm>
          <a:ln/>
        </p:spPr>
        <p:txBody>
          <a:bodyPr vert="horz" wrap="square" anchor="ctr" anchorCtr="0"/>
          <a:p>
            <a:pPr eaLnBrk="1" hangingPunct="1"/>
            <a:r>
              <a:rPr lang="zh-TW" altLang="en-US" dirty="0">
                <a:solidFill>
                  <a:srgbClr val="FF3300"/>
                </a:solidFill>
              </a:rPr>
              <a:t>情景分析</a:t>
            </a:r>
            <a:endParaRPr lang="zh-TW" altLang="en-US" dirty="0">
              <a:solidFill>
                <a:srgbClr val="FF3300"/>
              </a:solidFill>
            </a:endParaRPr>
          </a:p>
        </p:txBody>
      </p:sp>
      <p:sp>
        <p:nvSpPr>
          <p:cNvPr id="90115" name="Text Box 3"/>
          <p:cNvSpPr txBox="1"/>
          <p:nvPr/>
        </p:nvSpPr>
        <p:spPr>
          <a:xfrm>
            <a:off x="1247775" y="4076700"/>
            <a:ext cx="4322763" cy="366713"/>
          </a:xfrm>
          <a:prstGeom prst="rect">
            <a:avLst/>
          </a:prstGeom>
          <a:noFill/>
          <a:ln w="9525">
            <a:noFill/>
          </a:ln>
        </p:spPr>
        <p:txBody>
          <a:bodyPr>
            <a:spAutoFit/>
          </a:bodyPr>
          <a:p>
            <a:pPr algn="l">
              <a:spcBef>
                <a:spcPct val="50000"/>
              </a:spcBef>
            </a:pPr>
            <a:endParaRPr lang="zh-CN" altLang="en-US" sz="1800" b="0" dirty="0">
              <a:latin typeface="Times New Roman" panose="02020603050405020304" pitchFamily="18" charset="0"/>
              <a:ea typeface="PMingLiU" pitchFamily="18" charset="-120"/>
            </a:endParaRPr>
          </a:p>
        </p:txBody>
      </p:sp>
      <p:pic>
        <p:nvPicPr>
          <p:cNvPr id="90116" name="Picture 4" descr="jbiz144"/>
          <p:cNvPicPr>
            <a:picLocks noChangeAspect="1"/>
          </p:cNvPicPr>
          <p:nvPr/>
        </p:nvPicPr>
        <p:blipFill>
          <a:blip r:embed="rId1"/>
          <a:stretch>
            <a:fillRect/>
          </a:stretch>
        </p:blipFill>
        <p:spPr>
          <a:xfrm>
            <a:off x="5149850" y="3644900"/>
            <a:ext cx="2406650" cy="2338388"/>
          </a:xfrm>
          <a:prstGeom prst="rect">
            <a:avLst/>
          </a:prstGeom>
          <a:noFill/>
          <a:ln w="9525">
            <a:noFill/>
          </a:ln>
        </p:spPr>
      </p:pic>
      <p:sp>
        <p:nvSpPr>
          <p:cNvPr id="90117" name="AutoShape 5"/>
          <p:cNvSpPr/>
          <p:nvPr/>
        </p:nvSpPr>
        <p:spPr>
          <a:xfrm>
            <a:off x="2413000" y="2060575"/>
            <a:ext cx="3816350" cy="1800225"/>
          </a:xfrm>
          <a:prstGeom prst="wedgeEllipseCallout">
            <a:avLst>
              <a:gd name="adj1" fmla="val 48171"/>
              <a:gd name="adj2" fmla="val 61903"/>
            </a:avLst>
          </a:prstGeom>
          <a:solidFill>
            <a:schemeClr val="accent1"/>
          </a:solidFill>
          <a:ln w="9525" cap="flat" cmpd="sng">
            <a:solidFill>
              <a:schemeClr val="tx1"/>
            </a:solidFill>
            <a:prstDash val="solid"/>
            <a:miter/>
            <a:headEnd type="none" w="med" len="med"/>
            <a:tailEnd type="none" w="med" len="med"/>
          </a:ln>
        </p:spPr>
        <p:txBody>
          <a:bodyPr/>
          <a:p>
            <a:endParaRPr lang="en-US" altLang="zh-CN" b="0" dirty="0">
              <a:solidFill>
                <a:schemeClr val="bg1"/>
              </a:solidFill>
              <a:latin typeface="Times New Roman" panose="02020603050405020304" pitchFamily="18" charset="0"/>
              <a:ea typeface="宋体" panose="02010600030101010101" pitchFamily="2" charset="-122"/>
            </a:endParaRPr>
          </a:p>
          <a:p>
            <a:endParaRPr lang="en-US" altLang="zh-CN" b="0" dirty="0">
              <a:solidFill>
                <a:schemeClr val="bg1"/>
              </a:solidFill>
              <a:latin typeface="Times New Roman" panose="02020603050405020304" pitchFamily="18" charset="0"/>
              <a:ea typeface="宋体" panose="02010600030101010101" pitchFamily="2" charset="-122"/>
            </a:endParaRPr>
          </a:p>
        </p:txBody>
      </p:sp>
      <p:sp>
        <p:nvSpPr>
          <p:cNvPr id="90118" name="Text Box 6"/>
          <p:cNvSpPr txBox="1"/>
          <p:nvPr/>
        </p:nvSpPr>
        <p:spPr>
          <a:xfrm>
            <a:off x="2773363" y="2205038"/>
            <a:ext cx="3097212" cy="1552575"/>
          </a:xfrm>
          <a:prstGeom prst="rect">
            <a:avLst/>
          </a:prstGeom>
          <a:noFill/>
          <a:ln w="9525">
            <a:noFill/>
          </a:ln>
        </p:spPr>
        <p:txBody>
          <a:bodyPr>
            <a:spAutoFit/>
          </a:bodyPr>
          <a:p>
            <a:pPr>
              <a:spcBef>
                <a:spcPct val="50000"/>
              </a:spcBef>
            </a:pPr>
            <a:r>
              <a:rPr lang="zh-CN" altLang="en-US" b="0" dirty="0">
                <a:latin typeface="Times New Roman" panose="02020603050405020304" pitchFamily="18" charset="0"/>
              </a:rPr>
              <a:t>客户提出需要考虑考虑，并表示有需要会电话联系我们，你会怎么办？</a:t>
            </a:r>
            <a:endParaRPr lang="zh-CN" altLang="en-US" b="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90117"/>
                                        </p:tgtEl>
                                        <p:attrNameLst>
                                          <p:attrName>style.visibility</p:attrName>
                                        </p:attrNameLst>
                                      </p:cBhvr>
                                      <p:to>
                                        <p:strVal val="visible"/>
                                      </p:to>
                                    </p:set>
                                    <p:animEffect transition="in" filter="blinds(horizontal)">
                                      <p:cBhvr>
                                        <p:cTn id="7" dur="1000"/>
                                        <p:tgtEl>
                                          <p:spTgt spid="90117"/>
                                        </p:tgtEl>
                                      </p:cBhvr>
                                    </p:animEffect>
                                  </p:childTnLst>
                                </p:cTn>
                              </p:par>
                            </p:childTnLst>
                          </p:cTn>
                        </p:par>
                        <p:par>
                          <p:cTn id="8" fill="hold">
                            <p:stCondLst>
                              <p:cond delay="1000"/>
                            </p:stCondLst>
                            <p:childTnLst>
                              <p:par>
                                <p:cTn id="9" presetID="3" presetClass="entr" presetSubtype="10" fill="hold" grpId="0" nodeType="afterEffect">
                                  <p:stCondLst>
                                    <p:cond delay="0"/>
                                  </p:stCondLst>
                                  <p:childTnLst>
                                    <p:set>
                                      <p:cBhvr>
                                        <p:cTn id="10" dur="1" fill="hold">
                                          <p:stCondLst>
                                            <p:cond delay="0"/>
                                          </p:stCondLst>
                                        </p:cTn>
                                        <p:tgtEl>
                                          <p:spTgt spid="90118"/>
                                        </p:tgtEl>
                                        <p:attrNameLst>
                                          <p:attrName>style.visibility</p:attrName>
                                        </p:attrNameLst>
                                      </p:cBhvr>
                                      <p:to>
                                        <p:strVal val="visible"/>
                                      </p:to>
                                    </p:set>
                                    <p:animEffect transition="in" filter="blinds(horizontal)">
                                      <p:cBhvr>
                                        <p:cTn id="11" dur="1000"/>
                                        <p:tgtEl>
                                          <p:spTgt spid="901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7" grpId="0" animBg="1"/>
      <p:bldP spid="90118"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Rectangle 2"/>
          <p:cNvSpPr>
            <a:spLocks noGrp="1"/>
          </p:cNvSpPr>
          <p:nvPr>
            <p:ph type="title" idx="4294967295"/>
          </p:nvPr>
        </p:nvSpPr>
        <p:spPr>
          <a:xfrm>
            <a:off x="685800" y="609600"/>
            <a:ext cx="7773988" cy="874713"/>
          </a:xfrm>
          <a:ln/>
        </p:spPr>
        <p:txBody>
          <a:bodyPr vert="horz" wrap="square" anchor="ctr" anchorCtr="0"/>
          <a:p>
            <a:pPr eaLnBrk="1" hangingPunct="1"/>
            <a:r>
              <a:rPr lang="zh-TW" altLang="en-US" dirty="0">
                <a:solidFill>
                  <a:srgbClr val="000066"/>
                </a:solidFill>
              </a:rPr>
              <a:t>话术示范</a:t>
            </a:r>
            <a:endParaRPr lang="zh-TW" altLang="en-US" dirty="0">
              <a:solidFill>
                <a:srgbClr val="000066"/>
              </a:solidFill>
            </a:endParaRPr>
          </a:p>
        </p:txBody>
      </p:sp>
      <p:sp>
        <p:nvSpPr>
          <p:cNvPr id="92163" name="Rectangle 3"/>
          <p:cNvSpPr>
            <a:spLocks noGrp="1"/>
          </p:cNvSpPr>
          <p:nvPr>
            <p:ph type="body" idx="4294967295"/>
          </p:nvPr>
        </p:nvSpPr>
        <p:spPr>
          <a:xfrm>
            <a:off x="684213" y="1557338"/>
            <a:ext cx="7773987" cy="4322762"/>
          </a:xfrm>
          <a:ln/>
        </p:spPr>
        <p:txBody>
          <a:bodyPr vert="horz" wrap="square" anchor="t" anchorCtr="0"/>
          <a:p>
            <a:pPr eaLnBrk="1" hangingPunct="1">
              <a:lnSpc>
                <a:spcPct val="80000"/>
              </a:lnSpc>
            </a:pPr>
            <a:r>
              <a:rPr lang="zh-CN" altLang="en-US" sz="2400" dirty="0">
                <a:latin typeface="楷体_GB2312" pitchFamily="49" charset="-122"/>
                <a:ea typeface="楷体_GB2312" pitchFamily="49" charset="-122"/>
              </a:rPr>
              <a:t>先生</a:t>
            </a:r>
            <a:r>
              <a:rPr lang="en-US" altLang="zh-CN" sz="2400" dirty="0">
                <a:latin typeface="楷体_GB2312" pitchFamily="49" charset="-122"/>
                <a:ea typeface="楷体_GB2312" pitchFamily="49" charset="-122"/>
              </a:rPr>
              <a:t>/</a:t>
            </a:r>
            <a:r>
              <a:rPr lang="zh-CN" altLang="en-US" sz="2400" dirty="0">
                <a:latin typeface="楷体_GB2312" pitchFamily="49" charset="-122"/>
                <a:ea typeface="楷体_GB2312" pitchFamily="49" charset="-122"/>
              </a:rPr>
              <a:t>小姐，您现在办卡就可以参加我们最新的市场活动</a:t>
            </a:r>
            <a:r>
              <a:rPr lang="en-US" altLang="zh-CN" sz="2400" dirty="0">
                <a:latin typeface="楷体_GB2312" pitchFamily="49" charset="-122"/>
                <a:ea typeface="楷体_GB2312" pitchFamily="49" charset="-122"/>
              </a:rPr>
              <a:t>/</a:t>
            </a:r>
            <a:r>
              <a:rPr lang="zh-CN" altLang="en-US" sz="2400" dirty="0">
                <a:latin typeface="楷体_GB2312" pitchFamily="49" charset="-122"/>
                <a:ea typeface="楷体_GB2312" pitchFamily="49" charset="-122"/>
              </a:rPr>
              <a:t>我可以送给你一份精美的小礼品，这么好的机会不要错过。</a:t>
            </a:r>
            <a:endParaRPr lang="zh-CN" altLang="en-US" sz="2400" dirty="0">
              <a:latin typeface="楷体_GB2312" pitchFamily="49" charset="-122"/>
              <a:ea typeface="楷体_GB2312" pitchFamily="49" charset="-122"/>
            </a:endParaRPr>
          </a:p>
          <a:p>
            <a:pPr eaLnBrk="1" hangingPunct="1">
              <a:lnSpc>
                <a:spcPct val="80000"/>
              </a:lnSpc>
            </a:pPr>
            <a:endParaRPr lang="zh-CN" altLang="en-US" sz="2400" dirty="0">
              <a:latin typeface="楷体_GB2312" pitchFamily="49" charset="-122"/>
              <a:ea typeface="楷体_GB2312" pitchFamily="49" charset="-122"/>
            </a:endParaRPr>
          </a:p>
          <a:p>
            <a:pPr eaLnBrk="1" hangingPunct="1">
              <a:lnSpc>
                <a:spcPct val="80000"/>
              </a:lnSpc>
            </a:pPr>
            <a:r>
              <a:rPr lang="zh-CN" altLang="en-US" sz="2400" dirty="0">
                <a:latin typeface="楷体_GB2312" pitchFamily="49" charset="-122"/>
                <a:ea typeface="楷体_GB2312" pitchFamily="49" charset="-122"/>
              </a:rPr>
              <a:t>先生</a:t>
            </a:r>
            <a:r>
              <a:rPr lang="en-US" altLang="zh-CN" sz="2400" dirty="0">
                <a:latin typeface="楷体_GB2312" pitchFamily="49" charset="-122"/>
                <a:ea typeface="楷体_GB2312" pitchFamily="49" charset="-122"/>
              </a:rPr>
              <a:t>/</a:t>
            </a:r>
            <a:r>
              <a:rPr lang="zh-CN" altLang="en-US" sz="2400" dirty="0">
                <a:latin typeface="楷体_GB2312" pitchFamily="49" charset="-122"/>
                <a:ea typeface="楷体_GB2312" pitchFamily="49" charset="-122"/>
              </a:rPr>
              <a:t>小姐，您可能对我行信用卡也不完全了解，所以会有一些担忧，这可以理解，其实你大可放心，我们办卡完全是免费的，你可以办一张试试。您以后使用卡片有任何问题可以打电话给我，也可以打我们</a:t>
            </a:r>
            <a:r>
              <a:rPr lang="en-US" altLang="zh-CN" sz="2400" dirty="0">
                <a:latin typeface="楷体_GB2312" pitchFamily="49" charset="-122"/>
                <a:ea typeface="楷体_GB2312" pitchFamily="49" charset="-122"/>
              </a:rPr>
              <a:t>400</a:t>
            </a:r>
            <a:r>
              <a:rPr lang="zh-CN" altLang="en-US" sz="2400" dirty="0">
                <a:latin typeface="楷体_GB2312" pitchFamily="49" charset="-122"/>
                <a:ea typeface="楷体_GB2312" pitchFamily="49" charset="-122"/>
              </a:rPr>
              <a:t>的客服热线咨询。</a:t>
            </a:r>
            <a:endParaRPr lang="zh-CN" altLang="en-US" sz="2400" dirty="0">
              <a:latin typeface="楷体_GB2312" pitchFamily="49" charset="-122"/>
              <a:ea typeface="楷体_GB2312" pitchFamily="49" charset="-122"/>
            </a:endParaRPr>
          </a:p>
          <a:p>
            <a:pPr eaLnBrk="1" hangingPunct="1">
              <a:lnSpc>
                <a:spcPct val="80000"/>
              </a:lnSpc>
            </a:pPr>
            <a:endParaRPr lang="zh-CN" altLang="en-US" sz="2400" dirty="0">
              <a:latin typeface="楷体_GB2312" pitchFamily="49" charset="-122"/>
              <a:ea typeface="楷体_GB2312" pitchFamily="49" charset="-122"/>
            </a:endParaRPr>
          </a:p>
          <a:p>
            <a:pPr eaLnBrk="1" hangingPunct="1">
              <a:lnSpc>
                <a:spcPct val="80000"/>
              </a:lnSpc>
            </a:pPr>
            <a:r>
              <a:rPr lang="zh-CN" altLang="en-US" sz="2400" dirty="0">
                <a:latin typeface="楷体_GB2312" pitchFamily="49" charset="-122"/>
                <a:ea typeface="楷体_GB2312" pitchFamily="49" charset="-122"/>
              </a:rPr>
              <a:t>先生</a:t>
            </a:r>
            <a:r>
              <a:rPr lang="en-US" altLang="zh-CN" sz="2400" dirty="0">
                <a:latin typeface="楷体_GB2312" pitchFamily="49" charset="-122"/>
                <a:ea typeface="楷体_GB2312" pitchFamily="49" charset="-122"/>
              </a:rPr>
              <a:t>/</a:t>
            </a:r>
            <a:r>
              <a:rPr lang="zh-CN" altLang="en-US" sz="2400" dirty="0">
                <a:latin typeface="楷体_GB2312" pitchFamily="49" charset="-122"/>
                <a:ea typeface="楷体_GB2312" pitchFamily="49" charset="-122"/>
              </a:rPr>
              <a:t>小姐，是不是我刚才没有给您讲清楚，以致你还需要时间考虑呢？</a:t>
            </a:r>
            <a:endParaRPr lang="zh-CN" altLang="en-US" sz="2400" dirty="0">
              <a:latin typeface="楷体_GB2312" pitchFamily="49" charset="-122"/>
              <a:ea typeface="楷体_GB2312" pitchFamily="49" charset="-122"/>
            </a:endParaRPr>
          </a:p>
          <a:p>
            <a:pPr eaLnBrk="1" hangingPunct="1">
              <a:lnSpc>
                <a:spcPct val="80000"/>
              </a:lnSpc>
            </a:pPr>
            <a:endParaRPr lang="zh-CN" altLang="en-US" sz="2400" dirty="0">
              <a:latin typeface="楷体_GB2312" pitchFamily="49" charset="-122"/>
              <a:ea typeface="楷体_GB2312" pitchFamily="49" charset="-122"/>
            </a:endParaRPr>
          </a:p>
        </p:txBody>
      </p:sp>
      <p:pic>
        <p:nvPicPr>
          <p:cNvPr id="92164" name="Picture 4" descr="j0311794[1]"/>
          <p:cNvPicPr>
            <a:picLocks noChangeAspect="1"/>
          </p:cNvPicPr>
          <p:nvPr/>
        </p:nvPicPr>
        <p:blipFill>
          <a:blip r:embed="rId1"/>
          <a:stretch>
            <a:fillRect/>
          </a:stretch>
        </p:blipFill>
        <p:spPr>
          <a:xfrm>
            <a:off x="7308850" y="5300663"/>
            <a:ext cx="1108075" cy="941387"/>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2163">
                                            <p:txEl>
                                              <p:charRg st="0" end="53"/>
                                            </p:txEl>
                                          </p:spTgt>
                                        </p:tgtEl>
                                        <p:attrNameLst>
                                          <p:attrName>style.visibility</p:attrName>
                                        </p:attrNameLst>
                                      </p:cBhvr>
                                      <p:to>
                                        <p:strVal val="visible"/>
                                      </p:to>
                                    </p:set>
                                    <p:animEffect transition="in" filter="blinds(horizontal)">
                                      <p:cBhvr>
                                        <p:cTn id="7" dur="500"/>
                                        <p:tgtEl>
                                          <p:spTgt spid="92163">
                                            <p:txEl>
                                              <p:charRg st="0" end="53"/>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2163">
                                            <p:txEl>
                                              <p:charRg st="54" end="157"/>
                                            </p:txEl>
                                          </p:spTgt>
                                        </p:tgtEl>
                                        <p:attrNameLst>
                                          <p:attrName>style.visibility</p:attrName>
                                        </p:attrNameLst>
                                      </p:cBhvr>
                                      <p:to>
                                        <p:strVal val="visible"/>
                                      </p:to>
                                    </p:set>
                                    <p:animEffect transition="in" filter="blinds(horizontal)">
                                      <p:cBhvr>
                                        <p:cTn id="12" dur="500"/>
                                        <p:tgtEl>
                                          <p:spTgt spid="92163">
                                            <p:txEl>
                                              <p:charRg st="54" end="15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92163">
                                            <p:txEl>
                                              <p:charRg st="158" end="191"/>
                                            </p:txEl>
                                          </p:spTgt>
                                        </p:tgtEl>
                                        <p:attrNameLst>
                                          <p:attrName>style.visibility</p:attrName>
                                        </p:attrNameLst>
                                      </p:cBhvr>
                                      <p:to>
                                        <p:strVal val="visible"/>
                                      </p:to>
                                    </p:set>
                                    <p:animEffect transition="in" filter="blinds(horizontal)">
                                      <p:cBhvr>
                                        <p:cTn id="17" dur="500"/>
                                        <p:tgtEl>
                                          <p:spTgt spid="92163">
                                            <p:txEl>
                                              <p:charRg st="158" end="19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Rectangle 2"/>
          <p:cNvSpPr>
            <a:spLocks noGrp="1"/>
          </p:cNvSpPr>
          <p:nvPr>
            <p:ph type="title" idx="4294967295"/>
          </p:nvPr>
        </p:nvSpPr>
        <p:spPr>
          <a:ln/>
        </p:spPr>
        <p:txBody>
          <a:bodyPr vert="horz" wrap="square" anchor="ctr" anchorCtr="0"/>
          <a:p>
            <a:pPr eaLnBrk="1" hangingPunct="1"/>
            <a:r>
              <a:rPr lang="zh-TW" altLang="en-US" dirty="0">
                <a:solidFill>
                  <a:srgbClr val="FF3300"/>
                </a:solidFill>
              </a:rPr>
              <a:t>促成建议</a:t>
            </a:r>
            <a:endParaRPr lang="zh-TW" altLang="en-US" dirty="0">
              <a:solidFill>
                <a:srgbClr val="FF3300"/>
              </a:solidFill>
            </a:endParaRPr>
          </a:p>
        </p:txBody>
      </p:sp>
      <p:sp>
        <p:nvSpPr>
          <p:cNvPr id="94211" name="Rectangle 3"/>
          <p:cNvSpPr>
            <a:spLocks noGrp="1"/>
          </p:cNvSpPr>
          <p:nvPr>
            <p:ph type="body" sz="half" idx="4294967295"/>
          </p:nvPr>
        </p:nvSpPr>
        <p:spPr>
          <a:xfrm>
            <a:off x="828675" y="1916113"/>
            <a:ext cx="4679950" cy="4114800"/>
          </a:xfrm>
          <a:ln/>
        </p:spPr>
        <p:txBody>
          <a:bodyPr vert="horz" wrap="square" anchor="t" anchorCtr="0"/>
          <a:lstStyle>
            <a:lvl1pPr lvl="0">
              <a:buClr>
                <a:srgbClr val="FF3300"/>
              </a:buClr>
              <a:buSzTx/>
              <a:buFont typeface="Wingdings" panose="05000000000000000000" pitchFamily="2" charset="2"/>
              <a:defRPr sz="2800"/>
            </a:lvl1pPr>
            <a:lvl2pPr lvl="1">
              <a:buClr>
                <a:srgbClr val="FF3300"/>
              </a:buClr>
              <a:buSzTx/>
              <a:buFont typeface="Wingdings" panose="05000000000000000000" pitchFamily="2" charset="2"/>
              <a:defRPr sz="2400"/>
            </a:lvl2pPr>
            <a:lvl3pPr lvl="2">
              <a:buClr>
                <a:srgbClr val="FF3300"/>
              </a:buClr>
              <a:buSzTx/>
              <a:buFont typeface="Wingdings" panose="05000000000000000000" pitchFamily="2" charset="2"/>
              <a:defRPr sz="2000"/>
            </a:lvl3pPr>
            <a:lvl4pPr lvl="3">
              <a:buClr>
                <a:srgbClr val="FF3300"/>
              </a:buClr>
              <a:buSzTx/>
              <a:buFont typeface="Wingdings" panose="05000000000000000000" pitchFamily="2" charset="2"/>
              <a:defRPr sz="1800"/>
            </a:lvl4pPr>
            <a:lvl5pPr lvl="4">
              <a:buClr>
                <a:srgbClr val="FF3300"/>
              </a:buClr>
              <a:buSzTx/>
              <a:buFont typeface="Wingdings" panose="05000000000000000000" pitchFamily="2" charset="2"/>
              <a:defRPr sz="1800"/>
            </a:lvl5pPr>
          </a:lstStyle>
          <a:p>
            <a:pPr lvl="0" eaLnBrk="1" hangingPunct="1">
              <a:buNone/>
            </a:pPr>
            <a:endParaRPr lang="zh-TW" altLang="en-US" sz="2400" dirty="0"/>
          </a:p>
          <a:p>
            <a:pPr lvl="0" eaLnBrk="1" hangingPunct="1">
              <a:lnSpc>
                <a:spcPct val="160000"/>
              </a:lnSpc>
            </a:pPr>
            <a:r>
              <a:rPr lang="zh-TW" altLang="en-US" dirty="0"/>
              <a:t>促成是最终的目标</a:t>
            </a:r>
            <a:endParaRPr lang="zh-TW" altLang="en-US" dirty="0"/>
          </a:p>
          <a:p>
            <a:pPr lvl="0" eaLnBrk="1" hangingPunct="1">
              <a:lnSpc>
                <a:spcPct val="160000"/>
              </a:lnSpc>
            </a:pPr>
            <a:r>
              <a:rPr lang="zh-TW" altLang="en-US" dirty="0"/>
              <a:t>引导客户认同我们的产品</a:t>
            </a:r>
            <a:endParaRPr lang="zh-TW" altLang="en-US" dirty="0"/>
          </a:p>
          <a:p>
            <a:pPr lvl="0" eaLnBrk="1" hangingPunct="1">
              <a:lnSpc>
                <a:spcPct val="160000"/>
              </a:lnSpc>
            </a:pPr>
            <a:r>
              <a:rPr lang="zh-TW" altLang="en-US" dirty="0"/>
              <a:t>坚持不懈，多次促成</a:t>
            </a:r>
            <a:endParaRPr lang="zh-TW" altLang="en-US" dirty="0"/>
          </a:p>
        </p:txBody>
      </p:sp>
      <p:graphicFrame>
        <p:nvGraphicFramePr>
          <p:cNvPr id="94212" name="Object 4"/>
          <p:cNvGraphicFramePr>
            <a:graphicFrameLocks noChangeAspect="1"/>
          </p:cNvGraphicFramePr>
          <p:nvPr>
            <p:ph sz="half" idx="1"/>
          </p:nvPr>
        </p:nvGraphicFramePr>
        <p:xfrm>
          <a:off x="5437188" y="3789363"/>
          <a:ext cx="2952750" cy="1673225"/>
        </p:xfrm>
        <a:graphic>
          <a:graphicData uri="http://schemas.openxmlformats.org/presentationml/2006/ole">
            <mc:AlternateContent xmlns:mc="http://schemas.openxmlformats.org/markup-compatibility/2006">
              <mc:Choice xmlns:v="urn:schemas-microsoft-com:vml" Requires="v">
                <p:oleObj spid="_x0000_s3076" name="" r:id="rId1" imgW="4961255" imgH="2811780" progId="">
                  <p:embed/>
                </p:oleObj>
              </mc:Choice>
              <mc:Fallback>
                <p:oleObj name="" r:id="rId1" imgW="4961255" imgH="2811780" progId="">
                  <p:embed/>
                  <p:pic>
                    <p:nvPicPr>
                      <p:cNvPr id="0" name="图片 3075"/>
                      <p:cNvPicPr/>
                      <p:nvPr/>
                    </p:nvPicPr>
                    <p:blipFill>
                      <a:blip r:embed="rId2"/>
                      <a:stretch>
                        <a:fillRect/>
                      </a:stretch>
                    </p:blipFill>
                    <p:spPr>
                      <a:xfrm>
                        <a:off x="5437188" y="3789363"/>
                        <a:ext cx="2952750" cy="1673225"/>
                      </a:xfrm>
                      <a:prstGeom prst="rect">
                        <a:avLst/>
                      </a:prstGeom>
                      <a:noFill/>
                      <a:ln w="38100">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4211">
                                            <p:txEl>
                                              <p:charRg st="1" end="10"/>
                                            </p:txEl>
                                          </p:spTgt>
                                        </p:tgtEl>
                                        <p:attrNameLst>
                                          <p:attrName>style.visibility</p:attrName>
                                        </p:attrNameLst>
                                      </p:cBhvr>
                                      <p:to>
                                        <p:strVal val="visible"/>
                                      </p:to>
                                    </p:set>
                                    <p:animEffect transition="in" filter="blinds(horizontal)">
                                      <p:cBhvr>
                                        <p:cTn id="7" dur="500"/>
                                        <p:tgtEl>
                                          <p:spTgt spid="94211">
                                            <p:txEl>
                                              <p:charRg st="1" end="1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4211">
                                            <p:txEl>
                                              <p:charRg st="10" end="22"/>
                                            </p:txEl>
                                          </p:spTgt>
                                        </p:tgtEl>
                                        <p:attrNameLst>
                                          <p:attrName>style.visibility</p:attrName>
                                        </p:attrNameLst>
                                      </p:cBhvr>
                                      <p:to>
                                        <p:strVal val="visible"/>
                                      </p:to>
                                    </p:set>
                                    <p:animEffect transition="in" filter="blinds(horizontal)">
                                      <p:cBhvr>
                                        <p:cTn id="12" dur="500"/>
                                        <p:tgtEl>
                                          <p:spTgt spid="94211">
                                            <p:txEl>
                                              <p:charRg st="10" end="2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94211">
                                            <p:txEl>
                                              <p:charRg st="22" end="32"/>
                                            </p:txEl>
                                          </p:spTgt>
                                        </p:tgtEl>
                                        <p:attrNameLst>
                                          <p:attrName>style.visibility</p:attrName>
                                        </p:attrNameLst>
                                      </p:cBhvr>
                                      <p:to>
                                        <p:strVal val="visible"/>
                                      </p:to>
                                    </p:set>
                                    <p:animEffect transition="in" filter="blinds(horizontal)">
                                      <p:cBhvr>
                                        <p:cTn id="17" dur="500"/>
                                        <p:tgtEl>
                                          <p:spTgt spid="94211">
                                            <p:txEl>
                                              <p:charRg st="22" end="3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Rectangle 4" descr="新闻纸"/>
          <p:cNvSpPr/>
          <p:nvPr/>
        </p:nvSpPr>
        <p:spPr>
          <a:xfrm>
            <a:off x="1476375" y="1557338"/>
            <a:ext cx="6696075" cy="4176712"/>
          </a:xfrm>
          <a:prstGeom prst="rect">
            <a:avLst/>
          </a:prstGeom>
          <a:blipFill rotWithShape="0">
            <a:blip r:embed="rId1"/>
          </a:blipFill>
          <a:ln w="9525">
            <a:noFill/>
          </a:ln>
        </p:spPr>
        <p:txBody>
          <a:bodyPr wrap="none" anchor="ctr" anchorCtr="0"/>
          <a:p>
            <a:endParaRPr lang="zh-CN" altLang="en-US" b="0" dirty="0">
              <a:latin typeface="Times New Roman" panose="02020603050405020304" pitchFamily="18" charset="0"/>
              <a:ea typeface="宋体" panose="02010600030101010101" pitchFamily="2" charset="-122"/>
            </a:endParaRPr>
          </a:p>
        </p:txBody>
      </p:sp>
      <p:sp>
        <p:nvSpPr>
          <p:cNvPr id="96259" name="Rectangle 3"/>
          <p:cNvSpPr>
            <a:spLocks noGrp="1"/>
          </p:cNvSpPr>
          <p:nvPr>
            <p:ph type="body" idx="4294967295"/>
          </p:nvPr>
        </p:nvSpPr>
        <p:spPr>
          <a:xfrm>
            <a:off x="1836738" y="1700213"/>
            <a:ext cx="6515100" cy="3816350"/>
          </a:xfrm>
          <a:ln/>
        </p:spPr>
        <p:txBody>
          <a:bodyPr vert="horz" wrap="square" anchor="t" anchorCtr="0"/>
          <a:p>
            <a:pPr eaLnBrk="1" hangingPunct="1">
              <a:buNone/>
            </a:pPr>
            <a:r>
              <a:rPr lang="zh-TW" altLang="en-US" sz="2800" dirty="0">
                <a:latin typeface="华文中宋" panose="02010600040101010101" pitchFamily="2" charset="-122"/>
              </a:rPr>
              <a:t>销售的概念</a:t>
            </a:r>
            <a:endParaRPr lang="zh-TW" altLang="en-US" sz="2800" dirty="0">
              <a:latin typeface="华文中宋" panose="02010600040101010101" pitchFamily="2" charset="-122"/>
            </a:endParaRPr>
          </a:p>
          <a:p>
            <a:pPr eaLnBrk="1" hangingPunct="1">
              <a:buNone/>
            </a:pPr>
            <a:endParaRPr lang="zh-TW" altLang="en-US" sz="2800" dirty="0">
              <a:solidFill>
                <a:srgbClr val="CC0000"/>
              </a:solidFill>
              <a:latin typeface="华文中宋" panose="02010600040101010101" pitchFamily="2" charset="-122"/>
            </a:endParaRPr>
          </a:p>
          <a:p>
            <a:pPr eaLnBrk="1" hangingPunct="1">
              <a:buNone/>
            </a:pPr>
            <a:r>
              <a:rPr lang="zh-TW" altLang="en-US" sz="2800" dirty="0">
                <a:latin typeface="华文中宋" panose="02010600040101010101" pitchFamily="2" charset="-122"/>
              </a:rPr>
              <a:t>信用卡市场的开拓方法</a:t>
            </a:r>
            <a:endParaRPr lang="zh-TW" altLang="en-US" sz="2800" dirty="0">
              <a:latin typeface="华文中宋" panose="02010600040101010101" pitchFamily="2" charset="-122"/>
            </a:endParaRPr>
          </a:p>
          <a:p>
            <a:pPr eaLnBrk="1" hangingPunct="1">
              <a:buNone/>
            </a:pPr>
            <a:endParaRPr lang="zh-TW" altLang="en-US" sz="2800" dirty="0">
              <a:latin typeface="华文中宋" panose="02010600040101010101" pitchFamily="2" charset="-122"/>
            </a:endParaRPr>
          </a:p>
          <a:p>
            <a:pPr eaLnBrk="1" hangingPunct="1">
              <a:buNone/>
            </a:pPr>
            <a:r>
              <a:rPr lang="zh-TW" altLang="en-US" sz="2800" dirty="0">
                <a:latin typeface="华文中宋" panose="02010600040101010101" pitchFamily="2" charset="-122"/>
              </a:rPr>
              <a:t>信用卡销售流程与话术</a:t>
            </a:r>
            <a:endParaRPr lang="zh-TW" altLang="en-US" sz="2800" dirty="0">
              <a:latin typeface="华文中宋" panose="02010600040101010101" pitchFamily="2" charset="-122"/>
            </a:endParaRPr>
          </a:p>
          <a:p>
            <a:pPr eaLnBrk="1" hangingPunct="1">
              <a:buNone/>
            </a:pPr>
            <a:endParaRPr lang="zh-TW" altLang="en-US" sz="2800" dirty="0">
              <a:solidFill>
                <a:srgbClr val="FF0000"/>
              </a:solidFill>
              <a:latin typeface="华文中宋" panose="02010600040101010101" pitchFamily="2" charset="-122"/>
            </a:endParaRPr>
          </a:p>
          <a:p>
            <a:pPr eaLnBrk="1" hangingPunct="1">
              <a:buNone/>
            </a:pPr>
            <a:r>
              <a:rPr lang="zh-TW" altLang="en-US" sz="2800" dirty="0">
                <a:solidFill>
                  <a:srgbClr val="FF0000"/>
                </a:solidFill>
                <a:latin typeface="华文中宋" panose="02010600040101010101" pitchFamily="2" charset="-122"/>
              </a:rPr>
              <a:t>信用卡销售异议处理话术</a:t>
            </a:r>
            <a:endParaRPr lang="zh-TW" altLang="en-US" sz="2800" dirty="0">
              <a:solidFill>
                <a:srgbClr val="FF0000"/>
              </a:solidFill>
              <a:latin typeface="华文中宋" panose="02010600040101010101" pitchFamily="2" charset="-122"/>
            </a:endParaRPr>
          </a:p>
          <a:p>
            <a:pPr eaLnBrk="1" hangingPunct="1">
              <a:buNone/>
            </a:pPr>
            <a:endParaRPr lang="zh-TW" altLang="en-US" sz="2800" dirty="0">
              <a:solidFill>
                <a:srgbClr val="000066"/>
              </a:solidFill>
              <a:latin typeface="楷体_GB2312" pitchFamily="49" charset="-122"/>
              <a:ea typeface="楷体_GB2312" pitchFamily="49" charset="-122"/>
            </a:endParaRPr>
          </a:p>
        </p:txBody>
      </p:sp>
      <p:sp>
        <p:nvSpPr>
          <p:cNvPr id="96260" name="Rectangle 4"/>
          <p:cNvSpPr/>
          <p:nvPr/>
        </p:nvSpPr>
        <p:spPr>
          <a:xfrm>
            <a:off x="828675" y="692150"/>
            <a:ext cx="7773988" cy="792163"/>
          </a:xfrm>
          <a:prstGeom prst="rect">
            <a:avLst/>
          </a:prstGeom>
          <a:noFill/>
          <a:ln w="9525">
            <a:noFill/>
          </a:ln>
        </p:spPr>
        <p:txBody>
          <a:bodyPr anchor="ctr" anchorCtr="0"/>
          <a:p>
            <a:r>
              <a:rPr lang="zh-TW" altLang="en-US" sz="3600" b="0">
                <a:solidFill>
                  <a:srgbClr val="FF3300"/>
                </a:solidFill>
                <a:latin typeface="Times New Roman" panose="02020603050405020304" pitchFamily="18" charset="0"/>
                <a:ea typeface="华文新魏" panose="02010800040101010101" pitchFamily="2" charset="-122"/>
              </a:rPr>
              <a:t>信用卡销售宝典之话术篇</a:t>
            </a:r>
            <a:endParaRPr lang="zh-TW" altLang="en-US" sz="3600" b="0">
              <a:solidFill>
                <a:srgbClr val="FF3300"/>
              </a:solidFill>
              <a:latin typeface="Times New Roman" panose="02020603050405020304" pitchFamily="18" charset="0"/>
              <a:ea typeface="华文新魏" panose="02010800040101010101" pitchFamily="2" charset="-122"/>
            </a:endParaRPr>
          </a:p>
        </p:txBody>
      </p:sp>
      <p:pic>
        <p:nvPicPr>
          <p:cNvPr id="96261" name="Picture 5" descr="j0237968[1]"/>
          <p:cNvPicPr>
            <a:picLocks noChangeAspect="1"/>
          </p:cNvPicPr>
          <p:nvPr/>
        </p:nvPicPr>
        <p:blipFill>
          <a:blip r:embed="rId2"/>
          <a:stretch>
            <a:fillRect/>
          </a:stretch>
        </p:blipFill>
        <p:spPr>
          <a:xfrm>
            <a:off x="6877050" y="4652963"/>
            <a:ext cx="1573213" cy="1319212"/>
          </a:xfrm>
          <a:prstGeom prst="rect">
            <a:avLst/>
          </a:prstGeom>
          <a:noFill/>
          <a:ln w="9525">
            <a:noFill/>
          </a:ln>
        </p:spPr>
      </p:pic>
      <p:sp>
        <p:nvSpPr>
          <p:cNvPr id="96262" name="AutoShape 9"/>
          <p:cNvSpPr/>
          <p:nvPr/>
        </p:nvSpPr>
        <p:spPr>
          <a:xfrm>
            <a:off x="1044575" y="4868863"/>
            <a:ext cx="685800" cy="533400"/>
          </a:xfrm>
          <a:custGeom>
            <a:avLst/>
            <a:gdLst>
              <a:gd name="txL" fmla="*/ 3375 w 21600"/>
              <a:gd name="txT" fmla="*/ 5400 h 21600"/>
              <a:gd name="txR" fmla="*/ 18900 w 21600"/>
              <a:gd name="txB" fmla="*/ 16200 h 21600"/>
            </a:gdLst>
            <a:ahLst/>
            <a:cxnLst>
              <a:cxn ang="17694720">
                <a:pos x="2147483647" y="0"/>
              </a:cxn>
              <a:cxn ang="11796480">
                <a:pos x="0" y="2147483647"/>
              </a:cxn>
              <a:cxn ang="5898240">
                <a:pos x="2147483647" y="2147483647"/>
              </a:cxn>
              <a:cxn ang="0">
                <a:pos x="2147483647" y="2147483647"/>
              </a:cxn>
            </a:cxnLst>
            <a:rect l="txL" t="txT" r="txR" b="txB"/>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33CCCC"/>
          </a:solidFill>
          <a:ln w="9525" cap="flat" cmpd="sng">
            <a:solidFill>
              <a:schemeClr val="tx1"/>
            </a:solidFill>
            <a:prstDash val="solid"/>
            <a:miter/>
            <a:headEnd type="none" w="med" len="med"/>
            <a:tailEnd type="none" w="med" len="med"/>
          </a:ln>
        </p:spPr>
        <p:txBody>
          <a:bodyPr wrap="none" anchor="ctr" anchorCtr="0"/>
          <a:p>
            <a:endParaRPr lang="zh-CN" altLang="en-US" b="0"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6262"/>
                                        </p:tgtEl>
                                        <p:attrNameLst>
                                          <p:attrName>style.visibility</p:attrName>
                                        </p:attrNameLst>
                                      </p:cBhvr>
                                      <p:to>
                                        <p:strVal val="visible"/>
                                      </p:to>
                                    </p:set>
                                    <p:anim calcmode="lin" valueType="num">
                                      <p:cBhvr additive="base">
                                        <p:cTn id="7" dur="500" fill="hold"/>
                                        <p:tgtEl>
                                          <p:spTgt spid="96262"/>
                                        </p:tgtEl>
                                        <p:attrNameLst>
                                          <p:attrName>ppt_x</p:attrName>
                                        </p:attrNameLst>
                                      </p:cBhvr>
                                      <p:tavLst>
                                        <p:tav tm="0">
                                          <p:val>
                                            <p:strVal val="0-#ppt_w/2"/>
                                          </p:val>
                                        </p:tav>
                                        <p:tav tm="100000">
                                          <p:val>
                                            <p:strVal val="#ppt_x"/>
                                          </p:val>
                                        </p:tav>
                                      </p:tavLst>
                                    </p:anim>
                                    <p:anim calcmode="lin" valueType="num">
                                      <p:cBhvr additive="base">
                                        <p:cTn id="8" dur="500" fill="hold"/>
                                        <p:tgtEl>
                                          <p:spTgt spid="9626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62"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Text Box 2"/>
          <p:cNvSpPr txBox="1"/>
          <p:nvPr/>
        </p:nvSpPr>
        <p:spPr>
          <a:xfrm>
            <a:off x="1763713" y="692150"/>
            <a:ext cx="5543550" cy="641350"/>
          </a:xfrm>
          <a:prstGeom prst="rect">
            <a:avLst/>
          </a:prstGeom>
          <a:noFill/>
          <a:ln w="9525">
            <a:noFill/>
          </a:ln>
        </p:spPr>
        <p:txBody>
          <a:bodyPr>
            <a:spAutoFit/>
          </a:bodyPr>
          <a:p>
            <a:pPr marL="342900" indent="-342900">
              <a:lnSpc>
                <a:spcPct val="90000"/>
              </a:lnSpc>
              <a:spcBef>
                <a:spcPct val="20000"/>
              </a:spcBef>
            </a:pPr>
            <a:r>
              <a:rPr lang="zh-CN" altLang="en-US" sz="4000" b="0" dirty="0">
                <a:solidFill>
                  <a:srgbClr val="FF3300"/>
                </a:solidFill>
                <a:latin typeface="华文新魏" panose="02010800040101010101" pitchFamily="2" charset="-122"/>
                <a:ea typeface="华文新魏" panose="02010800040101010101" pitchFamily="2" charset="-122"/>
              </a:rPr>
              <a:t>销售异议处理</a:t>
            </a:r>
            <a:endParaRPr lang="zh-CN" altLang="en-US" sz="4000" b="0" dirty="0">
              <a:solidFill>
                <a:srgbClr val="FF3300"/>
              </a:solidFill>
              <a:latin typeface="华文新魏" panose="02010800040101010101" pitchFamily="2" charset="-122"/>
              <a:ea typeface="华文新魏" panose="02010800040101010101" pitchFamily="2" charset="-122"/>
            </a:endParaRPr>
          </a:p>
        </p:txBody>
      </p:sp>
      <p:sp>
        <p:nvSpPr>
          <p:cNvPr id="97283" name="AutoShape 3"/>
          <p:cNvSpPr/>
          <p:nvPr/>
        </p:nvSpPr>
        <p:spPr>
          <a:xfrm flipH="1" flipV="1">
            <a:off x="8316913" y="1844675"/>
            <a:ext cx="1290637" cy="1674813"/>
          </a:xfrm>
          <a:prstGeom prst="rightArrow">
            <a:avLst>
              <a:gd name="adj1" fmla="val 67805"/>
              <a:gd name="adj2" fmla="val 20509"/>
            </a:avLst>
          </a:prstGeom>
          <a:solidFill>
            <a:schemeClr val="accent1"/>
          </a:solidFill>
          <a:ln w="9525" cap="flat" cmpd="sng">
            <a:prstDash val="solid"/>
            <a:miter/>
            <a:headEnd type="none" w="med" len="med"/>
            <a:tailEnd type="none" w="med" len="med"/>
          </a:ln>
          <a:scene3d>
            <a:camera prst="legacyObliqueTopRight">
              <a:rot lat="0" lon="0" rev="0"/>
            </a:camera>
            <a:lightRig rig="legacyFlat2" dir="t"/>
          </a:scene3d>
          <a:sp3d extrusionH="176200" prstMaterial="legacyMatte">
            <a:bevelT w="13500" h="13500" prst="angle"/>
            <a:bevelB w="13500" h="13500" prst="angle"/>
            <a:extrusionClr>
              <a:schemeClr val="accent1"/>
            </a:extrusionClr>
          </a:sp3d>
        </p:spPr>
        <p:txBody>
          <a:bodyPr rot="10800000" tIns="91440" rIns="0" bIns="0">
            <a:flatTx/>
          </a:bodyPr>
          <a:p>
            <a:pPr algn="l" defTabSz="993775" eaLnBrk="0" hangingPunct="0"/>
            <a:endParaRPr lang="zh-CN" altLang="en-US" sz="1200" b="0" dirty="0">
              <a:latin typeface="Arial" panose="020B0604020202020204" pitchFamily="34" charset="0"/>
              <a:ea typeface="宋体" panose="02010600030101010101" pitchFamily="2" charset="-122"/>
            </a:endParaRPr>
          </a:p>
        </p:txBody>
      </p:sp>
      <p:sp>
        <p:nvSpPr>
          <p:cNvPr id="97284" name="AutoShape 4"/>
          <p:cNvSpPr/>
          <p:nvPr/>
        </p:nvSpPr>
        <p:spPr>
          <a:xfrm flipV="1">
            <a:off x="-390525" y="1916113"/>
            <a:ext cx="1270000" cy="1674812"/>
          </a:xfrm>
          <a:prstGeom prst="rightArrow">
            <a:avLst>
              <a:gd name="adj1" fmla="val 67805"/>
              <a:gd name="adj2" fmla="val 20509"/>
            </a:avLst>
          </a:prstGeom>
          <a:solidFill>
            <a:schemeClr val="accent1"/>
          </a:solidFill>
          <a:ln w="9525" cap="flat" cmpd="sng">
            <a:prstDash val="solid"/>
            <a:miter/>
            <a:headEnd type="none" w="med" len="med"/>
            <a:tailEnd type="none" w="med" len="med"/>
          </a:ln>
          <a:scene3d>
            <a:camera prst="legacyObliqueTopRight">
              <a:rot lat="0" lon="0" rev="0"/>
            </a:camera>
            <a:lightRig rig="legacyFlat2" dir="t"/>
          </a:scene3d>
          <a:sp3d extrusionH="176200" prstMaterial="legacyMatte">
            <a:bevelT w="13500" h="13500" prst="angle"/>
            <a:bevelB w="13500" h="13500" prst="angle"/>
            <a:extrusionClr>
              <a:schemeClr val="accent1"/>
            </a:extrusionClr>
          </a:sp3d>
        </p:spPr>
        <p:txBody>
          <a:bodyPr rot="10800000" tIns="91440" rIns="0" bIns="0">
            <a:flatTx/>
          </a:bodyPr>
          <a:p>
            <a:pPr algn="l" defTabSz="993775" eaLnBrk="0" hangingPunct="0"/>
            <a:endParaRPr lang="zh-CN" altLang="en-US" sz="1200" b="0" dirty="0">
              <a:latin typeface="Arial" panose="020B0604020202020204" pitchFamily="34" charset="0"/>
              <a:ea typeface="宋体" panose="02010600030101010101" pitchFamily="2" charset="-122"/>
            </a:endParaRPr>
          </a:p>
        </p:txBody>
      </p:sp>
      <p:sp>
        <p:nvSpPr>
          <p:cNvPr id="97285" name="AutoShape 5"/>
          <p:cNvSpPr/>
          <p:nvPr/>
        </p:nvSpPr>
        <p:spPr>
          <a:xfrm rot="-16200000" flipV="1">
            <a:off x="3981450" y="3444875"/>
            <a:ext cx="1274763" cy="1674813"/>
          </a:xfrm>
          <a:prstGeom prst="rightArrow">
            <a:avLst>
              <a:gd name="adj1" fmla="val 67805"/>
              <a:gd name="adj2" fmla="val 20509"/>
            </a:avLst>
          </a:prstGeom>
          <a:solidFill>
            <a:schemeClr val="accent1"/>
          </a:solidFill>
          <a:ln w="9525" cap="flat" cmpd="sng">
            <a:prstDash val="solid"/>
            <a:miter/>
            <a:headEnd type="none" w="med" len="med"/>
            <a:tailEnd type="none" w="med" len="med"/>
          </a:ln>
          <a:scene3d>
            <a:camera prst="legacyObliqueTopRight">
              <a:rot lat="0" lon="0" rev="0"/>
            </a:camera>
            <a:lightRig rig="legacyFlat2" dir="t"/>
          </a:scene3d>
          <a:sp3d extrusionH="176200" prstMaterial="legacyMatte">
            <a:bevelT w="13500" h="13500" prst="angle"/>
            <a:bevelB w="13500" h="13500" prst="angle"/>
            <a:extrusionClr>
              <a:schemeClr val="accent1"/>
            </a:extrusionClr>
          </a:sp3d>
        </p:spPr>
        <p:txBody>
          <a:bodyPr vert="eaVert" tIns="91440" rIns="0" bIns="0">
            <a:flatTx/>
          </a:bodyPr>
          <a:p>
            <a:pPr algn="l" defTabSz="993775" eaLnBrk="0" hangingPunct="0"/>
            <a:endParaRPr lang="zh-CN" altLang="en-US" sz="1200" b="0" dirty="0">
              <a:latin typeface="Arial" panose="020B0604020202020204" pitchFamily="34" charset="0"/>
              <a:ea typeface="宋体" panose="02010600030101010101" pitchFamily="2" charset="-122"/>
            </a:endParaRPr>
          </a:p>
        </p:txBody>
      </p:sp>
      <p:sp>
        <p:nvSpPr>
          <p:cNvPr id="97286" name="Rectangle 6"/>
          <p:cNvSpPr/>
          <p:nvPr/>
        </p:nvSpPr>
        <p:spPr>
          <a:xfrm>
            <a:off x="-355600" y="2578100"/>
            <a:ext cx="990600" cy="365125"/>
          </a:xfrm>
          <a:prstGeom prst="rect">
            <a:avLst/>
          </a:prstGeom>
          <a:noFill/>
          <a:ln w="9525">
            <a:noFill/>
          </a:ln>
        </p:spPr>
        <p:txBody>
          <a:bodyPr lIns="0" tIns="0" rIns="0" bIns="0" anchor="ctr" anchorCtr="1">
            <a:spAutoFit/>
          </a:bodyPr>
          <a:p>
            <a:pPr marL="342900" indent="-342900" algn="l">
              <a:spcBef>
                <a:spcPct val="20000"/>
              </a:spcBef>
              <a:buClr>
                <a:srgbClr val="FF3300"/>
              </a:buClr>
              <a:buFont typeface="Wingdings" panose="05000000000000000000" pitchFamily="2" charset="2"/>
            </a:pPr>
            <a:r>
              <a:rPr lang="zh-TW" altLang="en-US" b="0" dirty="0">
                <a:latin typeface="Times New Roman" panose="02020603050405020304" pitchFamily="18" charset="0"/>
                <a:ea typeface="华文中宋" panose="02010600040101010101" pitchFamily="2" charset="-122"/>
              </a:rPr>
              <a:t>推销</a:t>
            </a:r>
            <a:endParaRPr lang="zh-TW" altLang="en-US" b="0" dirty="0">
              <a:latin typeface="Times New Roman" panose="02020603050405020304" pitchFamily="18" charset="0"/>
              <a:ea typeface="华文中宋" panose="02010600040101010101" pitchFamily="2" charset="-122"/>
            </a:endParaRPr>
          </a:p>
        </p:txBody>
      </p:sp>
      <p:sp>
        <p:nvSpPr>
          <p:cNvPr id="97287" name="Rectangle 7"/>
          <p:cNvSpPr/>
          <p:nvPr/>
        </p:nvSpPr>
        <p:spPr>
          <a:xfrm>
            <a:off x="3348038" y="1773238"/>
            <a:ext cx="2592387" cy="1643062"/>
          </a:xfrm>
          <a:prstGeom prst="rect">
            <a:avLst/>
          </a:prstGeom>
          <a:solidFill>
            <a:schemeClr val="hlink"/>
          </a:solidFill>
          <a:ln w="9525" cap="flat" cmpd="sng">
            <a:prstDash val="solid"/>
            <a:miter/>
            <a:headEnd type="none" w="med" len="med"/>
            <a:tailEnd type="none" w="med" len="med"/>
          </a:ln>
          <a:scene3d>
            <a:camera prst="legacyObliqueTopRight">
              <a:rot lat="0" lon="0" rev="0"/>
            </a:camera>
            <a:lightRig rig="legacyFlat2" dir="t"/>
          </a:scene3d>
          <a:sp3d extrusionH="176200" prstMaterial="legacyMatte">
            <a:bevelT w="13500" h="13500" prst="angle"/>
            <a:bevelB w="13500" h="13500" prst="angle"/>
            <a:extrusionClr>
              <a:schemeClr val="hlink"/>
            </a:extrusionClr>
          </a:sp3d>
        </p:spPr>
        <p:txBody>
          <a:bodyPr wrap="none" anchor="ctr" anchorCtr="0">
            <a:flatTx/>
          </a:bodyPr>
          <a:p>
            <a:pPr defTabSz="993775" eaLnBrk="0" hangingPunct="0"/>
            <a:r>
              <a:rPr lang="zh-CN" altLang="en-US" sz="2800" dirty="0">
                <a:latin typeface="Arial" panose="020B0604020202020204" pitchFamily="34" charset="0"/>
                <a:ea typeface="华文中宋" panose="02010600040101010101" pitchFamily="2" charset="-122"/>
              </a:rPr>
              <a:t>对立的关系</a:t>
            </a:r>
            <a:endParaRPr lang="zh-CN" altLang="en-US" sz="2800" b="0" dirty="0">
              <a:latin typeface="Arial" panose="020B0604020202020204" pitchFamily="34" charset="0"/>
              <a:ea typeface="华文中宋" panose="02010600040101010101" pitchFamily="2" charset="-122"/>
            </a:endParaRPr>
          </a:p>
        </p:txBody>
      </p:sp>
      <p:sp>
        <p:nvSpPr>
          <p:cNvPr id="97288" name="Rectangle 8"/>
          <p:cNvSpPr/>
          <p:nvPr/>
        </p:nvSpPr>
        <p:spPr>
          <a:xfrm>
            <a:off x="8439150" y="2508250"/>
            <a:ext cx="1008063" cy="365125"/>
          </a:xfrm>
          <a:prstGeom prst="rect">
            <a:avLst/>
          </a:prstGeom>
          <a:noFill/>
          <a:ln w="9525">
            <a:noFill/>
          </a:ln>
        </p:spPr>
        <p:txBody>
          <a:bodyPr lIns="0" tIns="0" rIns="0" bIns="0" anchor="ctr" anchorCtr="1">
            <a:spAutoFit/>
          </a:bodyPr>
          <a:p>
            <a:pPr marL="342900" indent="-342900" algn="l">
              <a:spcBef>
                <a:spcPct val="20000"/>
              </a:spcBef>
              <a:buClr>
                <a:srgbClr val="FF3300"/>
              </a:buClr>
              <a:buFont typeface="Wingdings" panose="05000000000000000000" pitchFamily="2" charset="2"/>
            </a:pPr>
            <a:r>
              <a:rPr lang="zh-TW" altLang="en-US" b="0" dirty="0">
                <a:latin typeface="Times New Roman" panose="02020603050405020304" pitchFamily="18" charset="0"/>
                <a:ea typeface="华文中宋" panose="02010600040101010101" pitchFamily="2" charset="-122"/>
              </a:rPr>
              <a:t>被推销</a:t>
            </a:r>
            <a:endParaRPr lang="zh-TW" altLang="en-US" b="0" dirty="0">
              <a:latin typeface="Times New Roman" panose="02020603050405020304" pitchFamily="18" charset="0"/>
              <a:ea typeface="华文中宋" panose="02010600040101010101" pitchFamily="2" charset="-122"/>
            </a:endParaRPr>
          </a:p>
        </p:txBody>
      </p:sp>
      <p:sp>
        <p:nvSpPr>
          <p:cNvPr id="97289" name="Rectangle 9"/>
          <p:cNvSpPr/>
          <p:nvPr/>
        </p:nvSpPr>
        <p:spPr>
          <a:xfrm>
            <a:off x="4140200" y="3752850"/>
            <a:ext cx="1076325" cy="803275"/>
          </a:xfrm>
          <a:prstGeom prst="rect">
            <a:avLst/>
          </a:prstGeom>
          <a:noFill/>
          <a:ln w="9525">
            <a:noFill/>
          </a:ln>
        </p:spPr>
        <p:txBody>
          <a:bodyPr lIns="0" tIns="0" rIns="0" bIns="0" anchor="ctr" anchorCtr="1">
            <a:spAutoFit/>
          </a:bodyPr>
          <a:p>
            <a:pPr marL="342900" indent="-342900" algn="l">
              <a:spcBef>
                <a:spcPct val="20000"/>
              </a:spcBef>
              <a:buClr>
                <a:srgbClr val="FF3300"/>
              </a:buClr>
              <a:buFont typeface="Wingdings" panose="05000000000000000000" pitchFamily="2" charset="2"/>
            </a:pPr>
            <a:r>
              <a:rPr lang="zh-TW" altLang="en-US" b="0" dirty="0">
                <a:latin typeface="Times New Roman" panose="02020603050405020304" pitchFamily="18" charset="0"/>
                <a:ea typeface="华文中宋" panose="02010600040101010101" pitchFamily="2" charset="-122"/>
              </a:rPr>
              <a:t>协调</a:t>
            </a:r>
            <a:endParaRPr lang="zh-TW" altLang="en-US" b="0" dirty="0">
              <a:latin typeface="Times New Roman" panose="02020603050405020304" pitchFamily="18" charset="0"/>
              <a:ea typeface="华文中宋" panose="02010600040101010101" pitchFamily="2" charset="-122"/>
            </a:endParaRPr>
          </a:p>
          <a:p>
            <a:pPr marL="342900" indent="-342900" algn="l">
              <a:spcBef>
                <a:spcPct val="20000"/>
              </a:spcBef>
              <a:buClr>
                <a:srgbClr val="FF3300"/>
              </a:buClr>
              <a:buFont typeface="Wingdings" panose="05000000000000000000" pitchFamily="2" charset="2"/>
            </a:pPr>
            <a:r>
              <a:rPr lang="zh-TW" altLang="en-US" b="0" dirty="0">
                <a:latin typeface="Times New Roman" panose="02020603050405020304" pitchFamily="18" charset="0"/>
                <a:ea typeface="华文中宋" panose="02010600040101010101" pitchFamily="2" charset="-122"/>
              </a:rPr>
              <a:t>激发</a:t>
            </a:r>
            <a:endParaRPr lang="zh-TW" altLang="en-US" b="0" dirty="0">
              <a:latin typeface="Times New Roman" panose="02020603050405020304" pitchFamily="18" charset="0"/>
              <a:ea typeface="华文中宋" panose="02010600040101010101" pitchFamily="2" charset="-122"/>
            </a:endParaRPr>
          </a:p>
        </p:txBody>
      </p:sp>
      <p:sp>
        <p:nvSpPr>
          <p:cNvPr id="97290" name="WordArt 10"/>
          <p:cNvSpPr/>
          <p:nvPr/>
        </p:nvSpPr>
        <p:spPr>
          <a:xfrm>
            <a:off x="1979613" y="5229225"/>
            <a:ext cx="5411787" cy="381000"/>
          </a:xfrm>
          <a:prstGeom prst="rect">
            <a:avLst/>
          </a:prstGeom>
        </p:spPr>
        <p:txBody>
          <a:bodyPr wrap="none" fromWordArt="1">
            <a:prstTxWarp prst="textPlain">
              <a:avLst>
                <a:gd name="adj" fmla="val 50000"/>
              </a:avLst>
            </a:prstTxWarp>
            <a:normAutofit/>
          </a:bodyPr>
          <a:p>
            <a:pPr algn="ctr" eaLnBrk="0" hangingPunct="0"/>
            <a:r>
              <a:rPr lang="zh-CN" altLang="en-US" sz="3600" b="1">
                <a:gradFill rotWithShape="1">
                  <a:gsLst>
                    <a:gs pos="0">
                      <a:srgbClr val="FF8200">
                        <a:alpha val="100000"/>
                      </a:srgbClr>
                    </a:gs>
                    <a:gs pos="10001">
                      <a:srgbClr val="FF0000">
                        <a:alpha val="100000"/>
                      </a:srgbClr>
                    </a:gs>
                    <a:gs pos="35001">
                      <a:srgbClr val="BA0066">
                        <a:alpha val="100000"/>
                      </a:srgbClr>
                    </a:gs>
                    <a:gs pos="70000">
                      <a:srgbClr val="66008F">
                        <a:alpha val="100000"/>
                      </a:srgbClr>
                    </a:gs>
                    <a:gs pos="100000">
                      <a:srgbClr val="000082">
                        <a:alpha val="100000"/>
                      </a:srgbClr>
                    </a:gs>
                  </a:gsLst>
                  <a:lin ang="5400000" scaled="1"/>
                  <a:tileRect/>
                </a:gradFill>
                <a:effectLst>
                  <a:outerShdw dist="35921" dir="2699999" algn="ctr" rotWithShape="0">
                    <a:schemeClr val="bg1"/>
                  </a:outerShdw>
                </a:effectLst>
                <a:latin typeface="隶书" panose="02010509060101010101" charset="-122"/>
                <a:ea typeface="隶书" panose="02010509060101010101" charset="-122"/>
              </a:rPr>
              <a:t>没有拒绝就没有我们存在的意义</a:t>
            </a:r>
            <a:endParaRPr lang="zh-CN" altLang="en-US" sz="3600" b="1">
              <a:gradFill rotWithShape="1">
                <a:gsLst>
                  <a:gs pos="0">
                    <a:srgbClr val="FF8200">
                      <a:alpha val="100000"/>
                    </a:srgbClr>
                  </a:gs>
                  <a:gs pos="10001">
                    <a:srgbClr val="FF0000">
                      <a:alpha val="100000"/>
                    </a:srgbClr>
                  </a:gs>
                  <a:gs pos="35001">
                    <a:srgbClr val="BA0066">
                      <a:alpha val="100000"/>
                    </a:srgbClr>
                  </a:gs>
                  <a:gs pos="70000">
                    <a:srgbClr val="66008F">
                      <a:alpha val="100000"/>
                    </a:srgbClr>
                  </a:gs>
                  <a:gs pos="100000">
                    <a:srgbClr val="000082">
                      <a:alpha val="100000"/>
                    </a:srgbClr>
                  </a:gs>
                </a:gsLst>
                <a:lin ang="5400000" scaled="1"/>
                <a:tileRect/>
              </a:gradFill>
              <a:effectLst>
                <a:outerShdw dist="35921" dir="2699999" algn="ctr" rotWithShape="0">
                  <a:schemeClr val="bg1"/>
                </a:outerShdw>
              </a:effectLst>
              <a:latin typeface="隶书" panose="02010509060101010101" charset="-122"/>
              <a:ea typeface="隶书" panose="020105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grpId="0" nodeType="clickEffect">
                                  <p:stCondLst>
                                    <p:cond delay="0"/>
                                  </p:stCondLst>
                                  <p:childTnLst>
                                    <p:animMotion origin="layout" path="M 0 0  L 0.25 0  E" pathEditMode="relative" ptsTypes="">
                                      <p:cBhvr>
                                        <p:cTn id="6" dur="2000" fill="hold"/>
                                        <p:tgtEl>
                                          <p:spTgt spid="97284"/>
                                        </p:tgtEl>
                                        <p:attrNameLst>
                                          <p:attrName>ppt_x</p:attrName>
                                          <p:attrName>ppt_y</p:attrName>
                                        </p:attrNameLst>
                                      </p:cBhvr>
                                    </p:animMotion>
                                  </p:childTnLst>
                                </p:cTn>
                              </p:par>
                              <p:par>
                                <p:cTn id="7" presetID="63" presetClass="path" presetSubtype="0" accel="50000" decel="50000" fill="hold" grpId="0" nodeType="withEffect">
                                  <p:stCondLst>
                                    <p:cond delay="0"/>
                                  </p:stCondLst>
                                  <p:childTnLst>
                                    <p:animMotion origin="layout" path="M 0 0  L 0.25 0  E" pathEditMode="relative" ptsTypes="">
                                      <p:cBhvr>
                                        <p:cTn id="8" dur="2000" fill="hold"/>
                                        <p:tgtEl>
                                          <p:spTgt spid="97286"/>
                                        </p:tgtEl>
                                        <p:attrNameLst>
                                          <p:attrName>ppt_x</p:attrName>
                                          <p:attrName>ppt_y</p:attrName>
                                        </p:attrNameLst>
                                      </p:cBhvr>
                                    </p:animMotion>
                                  </p:childTnLst>
                                </p:cTn>
                              </p:par>
                            </p:childTnLst>
                          </p:cTn>
                        </p:par>
                      </p:childTnLst>
                    </p:cTn>
                  </p:par>
                  <p:par>
                    <p:cTn id="9" fill="hold">
                      <p:stCondLst>
                        <p:cond delay="indefinite"/>
                      </p:stCondLst>
                      <p:childTnLst>
                        <p:par>
                          <p:cTn id="10" fill="hold">
                            <p:stCondLst>
                              <p:cond delay="0"/>
                            </p:stCondLst>
                            <p:childTnLst>
                              <p:par>
                                <p:cTn id="11" presetID="35" presetClass="path" presetSubtype="0" accel="50000" decel="50000" fill="hold" grpId="0" nodeType="clickEffect">
                                  <p:stCondLst>
                                    <p:cond delay="0"/>
                                  </p:stCondLst>
                                  <p:childTnLst>
                                    <p:animMotion origin="layout" path="M 0 0  L -0.25 0  E" pathEditMode="relative" ptsTypes="">
                                      <p:cBhvr>
                                        <p:cTn id="12" dur="2000" fill="hold"/>
                                        <p:tgtEl>
                                          <p:spTgt spid="97283"/>
                                        </p:tgtEl>
                                        <p:attrNameLst>
                                          <p:attrName>ppt_x</p:attrName>
                                          <p:attrName>ppt_y</p:attrName>
                                        </p:attrNameLst>
                                      </p:cBhvr>
                                    </p:animMotion>
                                  </p:childTnLst>
                                </p:cTn>
                              </p:par>
                              <p:par>
                                <p:cTn id="13" presetID="35" presetClass="path" presetSubtype="0" accel="50000" decel="50000" fill="hold" grpId="0" nodeType="withEffect">
                                  <p:stCondLst>
                                    <p:cond delay="0"/>
                                  </p:stCondLst>
                                  <p:childTnLst>
                                    <p:animMotion origin="layout" path="M 0 0  L -0.25 0  E" pathEditMode="relative" ptsTypes="">
                                      <p:cBhvr>
                                        <p:cTn id="14" dur="2000" fill="hold"/>
                                        <p:tgtEl>
                                          <p:spTgt spid="97288"/>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97285"/>
                                        </p:tgtEl>
                                        <p:attrNameLst>
                                          <p:attrName>style.visibility</p:attrName>
                                        </p:attrNameLst>
                                      </p:cBhvr>
                                      <p:to>
                                        <p:strVal val="visible"/>
                                      </p:to>
                                    </p:set>
                                    <p:animEffect transition="in" filter="blinds(horizontal)">
                                      <p:cBhvr>
                                        <p:cTn id="19" dur="500"/>
                                        <p:tgtEl>
                                          <p:spTgt spid="97285"/>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97289"/>
                                        </p:tgtEl>
                                        <p:attrNameLst>
                                          <p:attrName>style.visibility</p:attrName>
                                        </p:attrNameLst>
                                      </p:cBhvr>
                                      <p:to>
                                        <p:strVal val="visible"/>
                                      </p:to>
                                    </p:set>
                                    <p:animEffect transition="in" filter="blinds(horizontal)">
                                      <p:cBhvr>
                                        <p:cTn id="22" dur="500"/>
                                        <p:tgtEl>
                                          <p:spTgt spid="97289"/>
                                        </p:tgtEl>
                                      </p:cBhvr>
                                    </p:animEffect>
                                  </p:childTnLst>
                                </p:cTn>
                              </p:par>
                            </p:childTnLst>
                          </p:cTn>
                        </p:par>
                      </p:childTnLst>
                    </p:cTn>
                  </p:par>
                  <p:par>
                    <p:cTn id="23" fill="hold">
                      <p:stCondLst>
                        <p:cond delay="indefinite"/>
                      </p:stCondLst>
                      <p:childTnLst>
                        <p:par>
                          <p:cTn id="24" fill="hold">
                            <p:stCondLst>
                              <p:cond delay="0"/>
                            </p:stCondLst>
                            <p:childTnLst>
                              <p:par>
                                <p:cTn id="25" presetID="51" presetClass="entr" presetSubtype="0" fill="hold" nodeType="clickEffect">
                                  <p:stCondLst>
                                    <p:cond delay="0"/>
                                  </p:stCondLst>
                                  <p:childTnLst>
                                    <p:set>
                                      <p:cBhvr>
                                        <p:cTn id="26" dur="1" fill="hold">
                                          <p:stCondLst>
                                            <p:cond delay="0"/>
                                          </p:stCondLst>
                                        </p:cTn>
                                        <p:tgtEl>
                                          <p:spTgt spid="97290"/>
                                        </p:tgtEl>
                                        <p:attrNameLst>
                                          <p:attrName>style.visibility</p:attrName>
                                        </p:attrNameLst>
                                      </p:cBhvr>
                                      <p:to>
                                        <p:strVal val="visible"/>
                                      </p:to>
                                    </p:set>
                                    <p:animEffect transition="in" filter="fade">
                                      <p:cBhvr>
                                        <p:cTn id="27" dur="770" decel="100000"/>
                                        <p:tgtEl>
                                          <p:spTgt spid="97290"/>
                                        </p:tgtEl>
                                      </p:cBhvr>
                                    </p:animEffect>
                                    <p:animScale>
                                      <p:cBhvr>
                                        <p:cTn id="28" dur="770" decel="100000"/>
                                        <p:tgtEl>
                                          <p:spTgt spid="97290"/>
                                        </p:tgtEl>
                                      </p:cBhvr>
                                      <p:from x="10000" y="10000"/>
                                      <p:to x="200000" y="450000"/>
                                    </p:animScale>
                                    <p:animScale>
                                      <p:cBhvr>
                                        <p:cTn id="29" dur="1230" accel="100000" fill="hold">
                                          <p:stCondLst>
                                            <p:cond delay="770"/>
                                          </p:stCondLst>
                                        </p:cTn>
                                        <p:tgtEl>
                                          <p:spTgt spid="97290"/>
                                        </p:tgtEl>
                                      </p:cBhvr>
                                      <p:from x="200000" y="450000"/>
                                      <p:to x="100000" y="100000"/>
                                    </p:animScale>
                                    <p:set>
                                      <p:cBhvr>
                                        <p:cTn id="30" dur="770" fill="hold"/>
                                        <p:tgtEl>
                                          <p:spTgt spid="97290"/>
                                        </p:tgtEl>
                                        <p:attrNameLst>
                                          <p:attrName>ppt_x</p:attrName>
                                        </p:attrNameLst>
                                      </p:cBhvr>
                                      <p:to>
                                        <p:strVal val="(0.5)"/>
                                      </p:to>
                                    </p:set>
                                    <p:anim from="(0.5)" to="(#ppt_x)" calcmode="lin" valueType="num">
                                      <p:cBhvr>
                                        <p:cTn id="31" dur="1230" accel="100000" fill="hold">
                                          <p:stCondLst>
                                            <p:cond delay="770"/>
                                          </p:stCondLst>
                                        </p:cTn>
                                        <p:tgtEl>
                                          <p:spTgt spid="97290"/>
                                        </p:tgtEl>
                                        <p:attrNameLst>
                                          <p:attrName>ppt_x</p:attrName>
                                        </p:attrNameLst>
                                      </p:cBhvr>
                                    </p:anim>
                                    <p:set>
                                      <p:cBhvr>
                                        <p:cTn id="32" dur="770" fill="hold"/>
                                        <p:tgtEl>
                                          <p:spTgt spid="97290"/>
                                        </p:tgtEl>
                                        <p:attrNameLst>
                                          <p:attrName>ppt_y</p:attrName>
                                        </p:attrNameLst>
                                      </p:cBhvr>
                                      <p:to>
                                        <p:strVal val="(#ppt_y+0.4)"/>
                                      </p:to>
                                    </p:set>
                                    <p:anim from="(#ppt_y+0.4)" to="(#ppt_y)" calcmode="lin" valueType="num">
                                      <p:cBhvr>
                                        <p:cTn id="33" dur="1230" accel="100000" fill="hold">
                                          <p:stCondLst>
                                            <p:cond delay="770"/>
                                          </p:stCondLst>
                                        </p:cTn>
                                        <p:tgtEl>
                                          <p:spTgt spid="97290"/>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3" grpId="0" animBg="1"/>
      <p:bldP spid="97284" grpId="0" animBg="1"/>
      <p:bldP spid="97285" grpId="0" animBg="1"/>
      <p:bldP spid="97286" grpId="0"/>
      <p:bldP spid="97288" grpId="0"/>
      <p:bldP spid="97289"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9330" name="WordArt 2"/>
          <p:cNvPicPr/>
          <p:nvPr/>
        </p:nvPicPr>
        <p:blipFill>
          <a:blip r:embed="rId1"/>
          <a:stretch>
            <a:fillRect/>
          </a:stretch>
        </p:blipFill>
        <p:spPr>
          <a:xfrm>
            <a:off x="1036638" y="5370513"/>
            <a:ext cx="5754687" cy="566737"/>
          </a:xfrm>
          <a:prstGeom prst="rect">
            <a:avLst/>
          </a:prstGeom>
          <a:noFill/>
          <a:ln w="9525">
            <a:noFill/>
          </a:ln>
        </p:spPr>
      </p:pic>
      <p:sp>
        <p:nvSpPr>
          <p:cNvPr id="99331" name="Rectangle 5"/>
          <p:cNvSpPr/>
          <p:nvPr/>
        </p:nvSpPr>
        <p:spPr>
          <a:xfrm>
            <a:off x="396875" y="765175"/>
            <a:ext cx="8353425" cy="701675"/>
          </a:xfrm>
          <a:prstGeom prst="rect">
            <a:avLst/>
          </a:prstGeom>
          <a:noFill/>
          <a:ln w="9525">
            <a:noFill/>
          </a:ln>
        </p:spPr>
        <p:txBody>
          <a:bodyPr>
            <a:spAutoFit/>
          </a:bodyPr>
          <a:p>
            <a:r>
              <a:rPr lang="zh-CN" altLang="en-US" sz="4000" b="0" dirty="0">
                <a:solidFill>
                  <a:srgbClr val="FF0000"/>
                </a:solidFill>
                <a:latin typeface="Times New Roman" panose="02020603050405020304" pitchFamily="18" charset="0"/>
                <a:ea typeface="华文新魏" panose="02010800040101010101" pitchFamily="2" charset="-122"/>
              </a:rPr>
              <a:t>实际操作中产生异议的原因</a:t>
            </a:r>
            <a:endParaRPr lang="zh-CN" altLang="en-US" sz="4000" b="0" dirty="0">
              <a:solidFill>
                <a:srgbClr val="FF0000"/>
              </a:solidFill>
              <a:latin typeface="Times New Roman" panose="02020603050405020304" pitchFamily="18" charset="0"/>
              <a:ea typeface="华文新魏" panose="02010800040101010101" pitchFamily="2" charset="-122"/>
            </a:endParaRPr>
          </a:p>
        </p:txBody>
      </p:sp>
      <p:sp>
        <p:nvSpPr>
          <p:cNvPr id="99332" name="Rectangle 7"/>
          <p:cNvSpPr>
            <a:spLocks noGrp="1"/>
          </p:cNvSpPr>
          <p:nvPr>
            <p:ph type="body" idx="4294967295"/>
          </p:nvPr>
        </p:nvSpPr>
        <p:spPr>
          <a:xfrm>
            <a:off x="1404938" y="1700213"/>
            <a:ext cx="6265862" cy="3313112"/>
          </a:xfrm>
          <a:ln/>
        </p:spPr>
        <p:txBody>
          <a:bodyPr vert="horz" wrap="square" anchor="t" anchorCtr="0"/>
          <a:p>
            <a:pPr eaLnBrk="1" hangingPunct="1">
              <a:buNone/>
            </a:pPr>
            <a:r>
              <a:rPr lang="zh-CN" altLang="en-US" sz="2400" dirty="0"/>
              <a:t>客户本身</a:t>
            </a:r>
            <a:endParaRPr lang="zh-CN" altLang="en-US" sz="2400" dirty="0"/>
          </a:p>
          <a:p>
            <a:pPr eaLnBrk="1" hangingPunct="1"/>
            <a:r>
              <a:rPr lang="en-US" altLang="zh-CN" sz="2400" dirty="0"/>
              <a:t>a</a:t>
            </a:r>
            <a:r>
              <a:rPr lang="zh-CN" altLang="en-US" sz="2400" dirty="0"/>
              <a:t>基于人性   </a:t>
            </a:r>
            <a:r>
              <a:rPr lang="en-US" altLang="zh-CN" sz="2400" dirty="0"/>
              <a:t>b</a:t>
            </a:r>
            <a:r>
              <a:rPr lang="zh-CN" altLang="en-US" sz="2400" dirty="0"/>
              <a:t>安于现状    </a:t>
            </a:r>
            <a:r>
              <a:rPr lang="en-US" altLang="zh-CN" sz="2400" dirty="0"/>
              <a:t>c </a:t>
            </a:r>
            <a:r>
              <a:rPr lang="zh-CN" altLang="en-US" sz="2400" dirty="0"/>
              <a:t>先入为主</a:t>
            </a:r>
            <a:endParaRPr lang="zh-CN" altLang="en-US" sz="2400" dirty="0"/>
          </a:p>
          <a:p>
            <a:pPr eaLnBrk="1" hangingPunct="1"/>
            <a:r>
              <a:rPr lang="en-US" altLang="zh-CN" sz="2400" dirty="0"/>
              <a:t>d</a:t>
            </a:r>
            <a:r>
              <a:rPr lang="zh-CN" altLang="en-US" sz="2400" dirty="0"/>
              <a:t>不了解       </a:t>
            </a:r>
            <a:r>
              <a:rPr lang="en-US" altLang="zh-CN" sz="2400" dirty="0"/>
              <a:t>e </a:t>
            </a:r>
            <a:r>
              <a:rPr lang="zh-CN" altLang="en-US" sz="2400" dirty="0"/>
              <a:t>想实惠       </a:t>
            </a:r>
            <a:r>
              <a:rPr lang="en-US" altLang="zh-CN" sz="2400" dirty="0"/>
              <a:t>f </a:t>
            </a:r>
            <a:r>
              <a:rPr lang="zh-CN" altLang="en-US" sz="2400" dirty="0"/>
              <a:t>观念传统</a:t>
            </a:r>
            <a:endParaRPr lang="zh-CN" altLang="en-US" sz="2400" dirty="0"/>
          </a:p>
          <a:p>
            <a:pPr eaLnBrk="1" hangingPunct="1">
              <a:buNone/>
            </a:pPr>
            <a:endParaRPr lang="zh-CN" altLang="en-US" sz="2400" dirty="0"/>
          </a:p>
          <a:p>
            <a:pPr eaLnBrk="1" hangingPunct="1">
              <a:buNone/>
            </a:pPr>
            <a:r>
              <a:rPr lang="zh-CN" altLang="en-US" sz="2400" dirty="0"/>
              <a:t>业务员本身</a:t>
            </a:r>
            <a:endParaRPr lang="zh-CN" altLang="en-US" sz="2400" dirty="0"/>
          </a:p>
          <a:p>
            <a:pPr eaLnBrk="1" hangingPunct="1"/>
            <a:r>
              <a:rPr lang="en-US" altLang="zh-CN" sz="2400" dirty="0"/>
              <a:t>a  </a:t>
            </a:r>
            <a:r>
              <a:rPr lang="zh-CN" altLang="en-US" sz="2400" dirty="0"/>
              <a:t>专业技能欠缺        </a:t>
            </a:r>
            <a:r>
              <a:rPr lang="en-US" altLang="zh-CN" sz="2400" dirty="0"/>
              <a:t>b  </a:t>
            </a:r>
            <a:r>
              <a:rPr lang="zh-CN" altLang="en-US" sz="2400" dirty="0"/>
              <a:t>个人形象不佳          </a:t>
            </a:r>
            <a:endParaRPr lang="zh-CN" altLang="en-US" sz="2400" dirty="0"/>
          </a:p>
          <a:p>
            <a:pPr eaLnBrk="1" hangingPunct="1"/>
            <a:r>
              <a:rPr lang="en-US" altLang="zh-CN" sz="2400" dirty="0"/>
              <a:t>c  </a:t>
            </a:r>
            <a:r>
              <a:rPr lang="zh-CN" altLang="en-US" sz="2400" dirty="0"/>
              <a:t>销售勇气不足        </a:t>
            </a:r>
            <a:r>
              <a:rPr lang="en-US" altLang="zh-CN" sz="2400" dirty="0"/>
              <a:t>d  </a:t>
            </a:r>
            <a:r>
              <a:rPr lang="zh-CN" altLang="en-US" sz="2400" dirty="0"/>
              <a:t>挫折感太强烈</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99332">
                                            <p:txEl>
                                              <p:charRg st="0" end="5"/>
                                            </p:txEl>
                                          </p:spTgt>
                                        </p:tgtEl>
                                        <p:attrNameLst>
                                          <p:attrName>style.visibility</p:attrName>
                                        </p:attrNameLst>
                                      </p:cBhvr>
                                      <p:to>
                                        <p:strVal val="visible"/>
                                      </p:to>
                                    </p:set>
                                    <p:animEffect transition="in" filter="box(in)">
                                      <p:cBhvr>
                                        <p:cTn id="7" dur="500"/>
                                        <p:tgtEl>
                                          <p:spTgt spid="99332">
                                            <p:txEl>
                                              <p:charRg st="0" end="5"/>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99332">
                                            <p:txEl>
                                              <p:charRg st="5" end="29"/>
                                            </p:txEl>
                                          </p:spTgt>
                                        </p:tgtEl>
                                        <p:attrNameLst>
                                          <p:attrName>style.visibility</p:attrName>
                                        </p:attrNameLst>
                                      </p:cBhvr>
                                      <p:to>
                                        <p:strVal val="visible"/>
                                      </p:to>
                                    </p:set>
                                    <p:animEffect transition="in" filter="box(in)">
                                      <p:cBhvr>
                                        <p:cTn id="10" dur="500"/>
                                        <p:tgtEl>
                                          <p:spTgt spid="99332">
                                            <p:txEl>
                                              <p:charRg st="5" end="29"/>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99332">
                                            <p:txEl>
                                              <p:charRg st="29" end="59"/>
                                            </p:txEl>
                                          </p:spTgt>
                                        </p:tgtEl>
                                        <p:attrNameLst>
                                          <p:attrName>style.visibility</p:attrName>
                                        </p:attrNameLst>
                                      </p:cBhvr>
                                      <p:to>
                                        <p:strVal val="visible"/>
                                      </p:to>
                                    </p:set>
                                    <p:animEffect transition="in" filter="box(in)">
                                      <p:cBhvr>
                                        <p:cTn id="13" dur="500"/>
                                        <p:tgtEl>
                                          <p:spTgt spid="99332">
                                            <p:txEl>
                                              <p:charRg st="29" end="59"/>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nodeType="clickEffect">
                                  <p:stCondLst>
                                    <p:cond delay="0"/>
                                  </p:stCondLst>
                                  <p:childTnLst>
                                    <p:set>
                                      <p:cBhvr>
                                        <p:cTn id="17" dur="1" fill="hold">
                                          <p:stCondLst>
                                            <p:cond delay="0"/>
                                          </p:stCondLst>
                                        </p:cTn>
                                        <p:tgtEl>
                                          <p:spTgt spid="99332">
                                            <p:txEl>
                                              <p:charRg st="60" end="66"/>
                                            </p:txEl>
                                          </p:spTgt>
                                        </p:tgtEl>
                                        <p:attrNameLst>
                                          <p:attrName>style.visibility</p:attrName>
                                        </p:attrNameLst>
                                      </p:cBhvr>
                                      <p:to>
                                        <p:strVal val="visible"/>
                                      </p:to>
                                    </p:set>
                                    <p:animEffect transition="in" filter="box(in)">
                                      <p:cBhvr>
                                        <p:cTn id="18" dur="500"/>
                                        <p:tgtEl>
                                          <p:spTgt spid="99332">
                                            <p:txEl>
                                              <p:charRg st="60" end="66"/>
                                            </p:txEl>
                                          </p:spTgt>
                                        </p:tgtEl>
                                      </p:cBhvr>
                                    </p:animEffect>
                                  </p:childTnLst>
                                </p:cTn>
                              </p:par>
                              <p:par>
                                <p:cTn id="19" presetID="4" presetClass="entr" presetSubtype="16" fill="hold" nodeType="withEffect">
                                  <p:stCondLst>
                                    <p:cond delay="0"/>
                                  </p:stCondLst>
                                  <p:childTnLst>
                                    <p:set>
                                      <p:cBhvr>
                                        <p:cTn id="20" dur="1" fill="hold">
                                          <p:stCondLst>
                                            <p:cond delay="0"/>
                                          </p:stCondLst>
                                        </p:cTn>
                                        <p:tgtEl>
                                          <p:spTgt spid="99332">
                                            <p:txEl>
                                              <p:charRg st="66" end="103"/>
                                            </p:txEl>
                                          </p:spTgt>
                                        </p:tgtEl>
                                        <p:attrNameLst>
                                          <p:attrName>style.visibility</p:attrName>
                                        </p:attrNameLst>
                                      </p:cBhvr>
                                      <p:to>
                                        <p:strVal val="visible"/>
                                      </p:to>
                                    </p:set>
                                    <p:animEffect transition="in" filter="box(in)">
                                      <p:cBhvr>
                                        <p:cTn id="21" dur="500"/>
                                        <p:tgtEl>
                                          <p:spTgt spid="99332">
                                            <p:txEl>
                                              <p:charRg st="66" end="103"/>
                                            </p:txEl>
                                          </p:spTgt>
                                        </p:tgtEl>
                                      </p:cBhvr>
                                    </p:animEffect>
                                  </p:childTnLst>
                                </p:cTn>
                              </p:par>
                              <p:par>
                                <p:cTn id="22" presetID="4" presetClass="entr" presetSubtype="16" fill="hold" nodeType="withEffect">
                                  <p:stCondLst>
                                    <p:cond delay="0"/>
                                  </p:stCondLst>
                                  <p:childTnLst>
                                    <p:set>
                                      <p:cBhvr>
                                        <p:cTn id="23" dur="1" fill="hold">
                                          <p:stCondLst>
                                            <p:cond delay="0"/>
                                          </p:stCondLst>
                                        </p:cTn>
                                        <p:tgtEl>
                                          <p:spTgt spid="99332">
                                            <p:txEl>
                                              <p:charRg st="103" end="130"/>
                                            </p:txEl>
                                          </p:spTgt>
                                        </p:tgtEl>
                                        <p:attrNameLst>
                                          <p:attrName>style.visibility</p:attrName>
                                        </p:attrNameLst>
                                      </p:cBhvr>
                                      <p:to>
                                        <p:strVal val="visible"/>
                                      </p:to>
                                    </p:set>
                                    <p:animEffect transition="in" filter="box(in)">
                                      <p:cBhvr>
                                        <p:cTn id="24" dur="500"/>
                                        <p:tgtEl>
                                          <p:spTgt spid="99332">
                                            <p:txEl>
                                              <p:charRg st="103" end="13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8" presetClass="entr" presetSubtype="6" fill="hold" nodeType="clickEffect">
                                  <p:stCondLst>
                                    <p:cond delay="0"/>
                                  </p:stCondLst>
                                  <p:childTnLst>
                                    <p:set>
                                      <p:cBhvr>
                                        <p:cTn id="28" dur="1" fill="hold">
                                          <p:stCondLst>
                                            <p:cond delay="0"/>
                                          </p:stCondLst>
                                        </p:cTn>
                                        <p:tgtEl>
                                          <p:spTgt spid="99330"/>
                                        </p:tgtEl>
                                        <p:attrNameLst>
                                          <p:attrName>style.visibility</p:attrName>
                                        </p:attrNameLst>
                                      </p:cBhvr>
                                      <p:to>
                                        <p:strVal val="visible"/>
                                      </p:to>
                                    </p:set>
                                    <p:animEffect transition="in" filter="strips(downRight)">
                                      <p:cBhvr>
                                        <p:cTn id="29" dur="500"/>
                                        <p:tgtEl>
                                          <p:spTgt spid="993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01378" name="组合 101377"/>
          <p:cNvGrpSpPr/>
          <p:nvPr/>
        </p:nvGrpSpPr>
        <p:grpSpPr>
          <a:xfrm>
            <a:off x="1187450" y="2205038"/>
            <a:ext cx="2017713" cy="936625"/>
            <a:chOff x="0" y="0"/>
            <a:chExt cx="1635" cy="576"/>
          </a:xfrm>
        </p:grpSpPr>
        <p:sp>
          <p:nvSpPr>
            <p:cNvPr id="101379" name="未知"/>
            <p:cNvSpPr/>
            <p:nvPr/>
          </p:nvSpPr>
          <p:spPr>
            <a:xfrm>
              <a:off x="0" y="0"/>
              <a:ext cx="1635" cy="576"/>
            </a:xfrm>
            <a:custGeom>
              <a:avLst/>
              <a:gdLst/>
              <a:ahLst/>
              <a:cxnLst/>
              <a:pathLst>
                <a:path w="1635" h="576">
                  <a:moveTo>
                    <a:pt x="0" y="0"/>
                  </a:moveTo>
                  <a:lnTo>
                    <a:pt x="1531" y="0"/>
                  </a:lnTo>
                  <a:lnTo>
                    <a:pt x="1635" y="288"/>
                  </a:lnTo>
                  <a:lnTo>
                    <a:pt x="1531" y="576"/>
                  </a:lnTo>
                  <a:lnTo>
                    <a:pt x="0" y="576"/>
                  </a:lnTo>
                  <a:lnTo>
                    <a:pt x="0" y="288"/>
                  </a:lnTo>
                  <a:lnTo>
                    <a:pt x="0" y="0"/>
                  </a:lnTo>
                  <a:close/>
                </a:path>
              </a:pathLst>
            </a:custGeom>
            <a:solidFill>
              <a:schemeClr val="accent1">
                <a:alpha val="100000"/>
              </a:schemeClr>
            </a:solidFill>
            <a:ln w="9525" cap="flat" cmpd="sng">
              <a:solidFill>
                <a:schemeClr val="tx1"/>
              </a:solidFill>
              <a:prstDash val="solid"/>
              <a:headEnd type="none" w="med" len="med"/>
              <a:tailEnd type="none" w="med" len="med"/>
            </a:ln>
          </p:spPr>
          <p:txBody>
            <a:bodyPr/>
            <a:p>
              <a:endParaRPr lang="zh-CN" altLang="en-US"/>
            </a:p>
          </p:txBody>
        </p:sp>
        <p:sp>
          <p:nvSpPr>
            <p:cNvPr id="101380" name="矩形 101379"/>
            <p:cNvSpPr/>
            <p:nvPr/>
          </p:nvSpPr>
          <p:spPr>
            <a:xfrm>
              <a:off x="32" y="32"/>
              <a:ext cx="1499" cy="496"/>
            </a:xfrm>
            <a:prstGeom prst="rect">
              <a:avLst/>
            </a:prstGeom>
            <a:noFill/>
            <a:ln w="9525">
              <a:noFill/>
            </a:ln>
          </p:spPr>
          <p:txBody>
            <a:bodyPr lIns="45720" tIns="0" rIns="45720" bIns="0" anchor="ctr" anchorCtr="0"/>
            <a:lstStyle>
              <a:lvl1pPr marL="342900" lvl="0" indent="-342900" algn="l" defTabSz="914400" eaLnBrk="0" fontAlgn="base" latinLnBrk="0" hangingPunct="0">
                <a:lnSpc>
                  <a:spcPct val="100000"/>
                </a:lnSpc>
                <a:spcBef>
                  <a:spcPct val="20000"/>
                </a:spcBef>
                <a:spcAft>
                  <a:spcPct val="0"/>
                </a:spcAft>
                <a:buClr>
                  <a:srgbClr val="FF3300"/>
                </a:buClr>
                <a:buFont typeface="Wingdings" panose="05000000000000000000" pitchFamily="2" charset="2"/>
                <a:buChar char="Ø"/>
                <a:defRPr sz="3200" b="0" u="none" kern="1200" baseline="0">
                  <a:solidFill>
                    <a:schemeClr val="tx1"/>
                  </a:solidFill>
                  <a:latin typeface="Times New Roman" panose="02020603050405020304" pitchFamily="18" charset="0"/>
                  <a:ea typeface="华文中宋" panose="02010600040101010101" pitchFamily="2" charset="-122"/>
                </a:defRPr>
              </a:lvl1pPr>
              <a:lvl2pPr marL="742950" lvl="1" indent="-285750" algn="l" defTabSz="914400" eaLnBrk="0" fontAlgn="base" latinLnBrk="0" hangingPunct="0">
                <a:lnSpc>
                  <a:spcPct val="100000"/>
                </a:lnSpc>
                <a:spcBef>
                  <a:spcPct val="20000"/>
                </a:spcBef>
                <a:spcAft>
                  <a:spcPct val="0"/>
                </a:spcAft>
                <a:buClr>
                  <a:srgbClr val="FF3300"/>
                </a:buClr>
                <a:buFont typeface="Wingdings" panose="05000000000000000000" pitchFamily="2" charset="2"/>
                <a:buChar char="Ø"/>
                <a:defRPr sz="28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eaLnBrk="0" fontAlgn="base" latinLnBrk="0" hangingPunct="0">
                <a:lnSpc>
                  <a:spcPct val="100000"/>
                </a:lnSpc>
                <a:spcBef>
                  <a:spcPct val="20000"/>
                </a:spcBef>
                <a:spcAft>
                  <a:spcPct val="0"/>
                </a:spcAft>
                <a:buClr>
                  <a:srgbClr val="FF3300"/>
                </a:buClr>
                <a:buFont typeface="Wingdings" panose="05000000000000000000" pitchFamily="2" charset="2"/>
                <a:buChar char="Ø"/>
                <a:defRPr sz="24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eaLnBrk="0" fontAlgn="base" latinLnBrk="0" hangingPunct="0">
                <a:lnSpc>
                  <a:spcPct val="100000"/>
                </a:lnSpc>
                <a:spcBef>
                  <a:spcPct val="20000"/>
                </a:spcBef>
                <a:spcAft>
                  <a:spcPct val="0"/>
                </a:spcAft>
                <a:buClr>
                  <a:srgbClr val="FF3300"/>
                </a:buClr>
                <a:buFont typeface="Wingdings" panose="05000000000000000000" pitchFamily="2" charset="2"/>
                <a:buChar char="Ø"/>
                <a:defRPr sz="20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eaLnBrk="0" fontAlgn="base" latinLnBrk="0" hangingPunct="0">
                <a:lnSpc>
                  <a:spcPct val="100000"/>
                </a:lnSpc>
                <a:spcBef>
                  <a:spcPct val="20000"/>
                </a:spcBef>
                <a:spcAft>
                  <a:spcPct val="0"/>
                </a:spcAft>
                <a:buClr>
                  <a:srgbClr val="FF3300"/>
                </a:buClr>
                <a:buFont typeface="Wingdings" panose="05000000000000000000" pitchFamily="2" charset="2"/>
                <a:buChar char="Ø"/>
                <a:defRPr sz="2000" b="0" i="0" u="none" kern="1200" baseline="0">
                  <a:solidFill>
                    <a:schemeClr val="tx1"/>
                  </a:solidFill>
                  <a:latin typeface="Times New Roman" panose="02020603050405020304" pitchFamily="18" charset="0"/>
                  <a:ea typeface="宋体" panose="02010600030101010101" pitchFamily="2" charset="-122"/>
                </a:defRPr>
              </a:lvl5pPr>
            </a:lstStyle>
            <a:p>
              <a:pPr lvl="0" algn="ctr">
                <a:buNone/>
              </a:pPr>
              <a:r>
                <a:rPr lang="zh-CN" altLang="en-US" b="1" dirty="0">
                  <a:solidFill>
                    <a:schemeClr val="bg1"/>
                  </a:solidFill>
                  <a:latin typeface="华文中宋" panose="02010600040101010101" pitchFamily="2" charset="-122"/>
                </a:rPr>
                <a:t>理  解</a:t>
              </a:r>
              <a:endParaRPr lang="zh-CN" altLang="en-US" b="1" dirty="0">
                <a:solidFill>
                  <a:schemeClr val="bg1"/>
                </a:solidFill>
                <a:latin typeface="华文中宋" panose="02010600040101010101" pitchFamily="2" charset="-122"/>
              </a:endParaRPr>
            </a:p>
          </p:txBody>
        </p:sp>
      </p:grpSp>
      <p:grpSp>
        <p:nvGrpSpPr>
          <p:cNvPr id="101381" name="组合 101380"/>
          <p:cNvGrpSpPr/>
          <p:nvPr/>
        </p:nvGrpSpPr>
        <p:grpSpPr>
          <a:xfrm>
            <a:off x="3276600" y="2205038"/>
            <a:ext cx="2160588" cy="936625"/>
            <a:chOff x="0" y="0"/>
            <a:chExt cx="1635" cy="576"/>
          </a:xfrm>
        </p:grpSpPr>
        <p:sp>
          <p:nvSpPr>
            <p:cNvPr id="101382" name="未知"/>
            <p:cNvSpPr/>
            <p:nvPr/>
          </p:nvSpPr>
          <p:spPr>
            <a:xfrm>
              <a:off x="0" y="0"/>
              <a:ext cx="1635" cy="576"/>
            </a:xfrm>
            <a:custGeom>
              <a:avLst/>
              <a:gdLst/>
              <a:ahLst/>
              <a:cxnLst/>
              <a:pathLst>
                <a:path w="1635" h="576">
                  <a:moveTo>
                    <a:pt x="0" y="0"/>
                  </a:moveTo>
                  <a:lnTo>
                    <a:pt x="1531" y="0"/>
                  </a:lnTo>
                  <a:lnTo>
                    <a:pt x="1635" y="288"/>
                  </a:lnTo>
                  <a:lnTo>
                    <a:pt x="1531" y="576"/>
                  </a:lnTo>
                  <a:lnTo>
                    <a:pt x="0" y="576"/>
                  </a:lnTo>
                  <a:lnTo>
                    <a:pt x="104" y="288"/>
                  </a:lnTo>
                  <a:lnTo>
                    <a:pt x="0" y="0"/>
                  </a:lnTo>
                  <a:close/>
                </a:path>
              </a:pathLst>
            </a:custGeom>
            <a:solidFill>
              <a:schemeClr val="accent1">
                <a:alpha val="100000"/>
              </a:schemeClr>
            </a:solidFill>
            <a:ln w="9525" cap="flat" cmpd="sng">
              <a:solidFill>
                <a:schemeClr val="tx1"/>
              </a:solidFill>
              <a:prstDash val="solid"/>
              <a:headEnd type="none" w="med" len="med"/>
              <a:tailEnd type="none" w="med" len="med"/>
            </a:ln>
          </p:spPr>
          <p:txBody>
            <a:bodyPr/>
            <a:p>
              <a:endParaRPr lang="zh-CN" altLang="en-US"/>
            </a:p>
          </p:txBody>
        </p:sp>
        <p:sp>
          <p:nvSpPr>
            <p:cNvPr id="101383" name="矩形 101382"/>
            <p:cNvSpPr/>
            <p:nvPr/>
          </p:nvSpPr>
          <p:spPr>
            <a:xfrm>
              <a:off x="136" y="32"/>
              <a:ext cx="1396" cy="496"/>
            </a:xfrm>
            <a:prstGeom prst="rect">
              <a:avLst/>
            </a:prstGeom>
            <a:noFill/>
            <a:ln w="9525">
              <a:noFill/>
            </a:ln>
          </p:spPr>
          <p:txBody>
            <a:bodyPr lIns="45720" tIns="0" rIns="45720" bIns="0" anchor="ctr" anchorCtr="0"/>
            <a:lstStyle>
              <a:lvl1pPr marL="342900" lvl="0" indent="-342900" algn="l" defTabSz="914400" eaLnBrk="0" fontAlgn="base" latinLnBrk="0" hangingPunct="0">
                <a:lnSpc>
                  <a:spcPct val="100000"/>
                </a:lnSpc>
                <a:spcBef>
                  <a:spcPct val="20000"/>
                </a:spcBef>
                <a:spcAft>
                  <a:spcPct val="0"/>
                </a:spcAft>
                <a:buClr>
                  <a:srgbClr val="FF3300"/>
                </a:buClr>
                <a:buFont typeface="Wingdings" panose="05000000000000000000" pitchFamily="2" charset="2"/>
                <a:buChar char="Ø"/>
                <a:defRPr sz="3200" b="0" u="none" kern="1200" baseline="0">
                  <a:solidFill>
                    <a:schemeClr val="tx1"/>
                  </a:solidFill>
                  <a:latin typeface="Times New Roman" panose="02020603050405020304" pitchFamily="18" charset="0"/>
                  <a:ea typeface="华文中宋" panose="02010600040101010101" pitchFamily="2" charset="-122"/>
                </a:defRPr>
              </a:lvl1pPr>
              <a:lvl2pPr marL="742950" lvl="1" indent="-285750" algn="l" defTabSz="914400" eaLnBrk="0" fontAlgn="base" latinLnBrk="0" hangingPunct="0">
                <a:lnSpc>
                  <a:spcPct val="100000"/>
                </a:lnSpc>
                <a:spcBef>
                  <a:spcPct val="20000"/>
                </a:spcBef>
                <a:spcAft>
                  <a:spcPct val="0"/>
                </a:spcAft>
                <a:buClr>
                  <a:srgbClr val="FF3300"/>
                </a:buClr>
                <a:buFont typeface="Wingdings" panose="05000000000000000000" pitchFamily="2" charset="2"/>
                <a:buChar char="Ø"/>
                <a:defRPr sz="28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eaLnBrk="0" fontAlgn="base" latinLnBrk="0" hangingPunct="0">
                <a:lnSpc>
                  <a:spcPct val="100000"/>
                </a:lnSpc>
                <a:spcBef>
                  <a:spcPct val="20000"/>
                </a:spcBef>
                <a:spcAft>
                  <a:spcPct val="0"/>
                </a:spcAft>
                <a:buClr>
                  <a:srgbClr val="FF3300"/>
                </a:buClr>
                <a:buFont typeface="Wingdings" panose="05000000000000000000" pitchFamily="2" charset="2"/>
                <a:buChar char="Ø"/>
                <a:defRPr sz="24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eaLnBrk="0" fontAlgn="base" latinLnBrk="0" hangingPunct="0">
                <a:lnSpc>
                  <a:spcPct val="100000"/>
                </a:lnSpc>
                <a:spcBef>
                  <a:spcPct val="20000"/>
                </a:spcBef>
                <a:spcAft>
                  <a:spcPct val="0"/>
                </a:spcAft>
                <a:buClr>
                  <a:srgbClr val="FF3300"/>
                </a:buClr>
                <a:buFont typeface="Wingdings" panose="05000000000000000000" pitchFamily="2" charset="2"/>
                <a:buChar char="Ø"/>
                <a:defRPr sz="20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eaLnBrk="0" fontAlgn="base" latinLnBrk="0" hangingPunct="0">
                <a:lnSpc>
                  <a:spcPct val="100000"/>
                </a:lnSpc>
                <a:spcBef>
                  <a:spcPct val="20000"/>
                </a:spcBef>
                <a:spcAft>
                  <a:spcPct val="0"/>
                </a:spcAft>
                <a:buClr>
                  <a:srgbClr val="FF3300"/>
                </a:buClr>
                <a:buFont typeface="Wingdings" panose="05000000000000000000" pitchFamily="2" charset="2"/>
                <a:buChar char="Ø"/>
                <a:defRPr sz="2000" b="0" i="0" u="none" kern="1200" baseline="0">
                  <a:solidFill>
                    <a:schemeClr val="tx1"/>
                  </a:solidFill>
                  <a:latin typeface="Times New Roman" panose="02020603050405020304" pitchFamily="18" charset="0"/>
                  <a:ea typeface="宋体" panose="02010600030101010101" pitchFamily="2" charset="-122"/>
                </a:defRPr>
              </a:lvl5pPr>
            </a:lstStyle>
            <a:p>
              <a:pPr lvl="0">
                <a:buNone/>
              </a:pPr>
              <a:r>
                <a:rPr lang="zh-CN" altLang="en-US" b="1" dirty="0">
                  <a:ea typeface="宋体" panose="02010600030101010101" pitchFamily="2" charset="-122"/>
                </a:rPr>
                <a:t>   </a:t>
              </a:r>
              <a:r>
                <a:rPr lang="zh-CN" altLang="en-US" b="1" dirty="0">
                  <a:solidFill>
                    <a:schemeClr val="bg1"/>
                  </a:solidFill>
                  <a:latin typeface="华文中宋" panose="02010600040101010101" pitchFamily="2" charset="-122"/>
                </a:rPr>
                <a:t>解  释</a:t>
              </a:r>
              <a:endParaRPr lang="zh-CN" altLang="en-US" b="1" dirty="0">
                <a:solidFill>
                  <a:schemeClr val="bg1"/>
                </a:solidFill>
                <a:latin typeface="华文中宋" panose="02010600040101010101" pitchFamily="2" charset="-122"/>
              </a:endParaRPr>
            </a:p>
          </p:txBody>
        </p:sp>
      </p:grpSp>
      <p:grpSp>
        <p:nvGrpSpPr>
          <p:cNvPr id="101384" name="组合 101383"/>
          <p:cNvGrpSpPr/>
          <p:nvPr/>
        </p:nvGrpSpPr>
        <p:grpSpPr>
          <a:xfrm>
            <a:off x="5508625" y="2205038"/>
            <a:ext cx="2159000" cy="936625"/>
            <a:chOff x="0" y="0"/>
            <a:chExt cx="1635" cy="576"/>
          </a:xfrm>
        </p:grpSpPr>
        <p:sp>
          <p:nvSpPr>
            <p:cNvPr id="101385" name="未知"/>
            <p:cNvSpPr/>
            <p:nvPr/>
          </p:nvSpPr>
          <p:spPr>
            <a:xfrm>
              <a:off x="0" y="0"/>
              <a:ext cx="1635" cy="576"/>
            </a:xfrm>
            <a:custGeom>
              <a:avLst/>
              <a:gdLst/>
              <a:ahLst/>
              <a:cxnLst/>
              <a:pathLst>
                <a:path w="1635" h="576">
                  <a:moveTo>
                    <a:pt x="0" y="0"/>
                  </a:moveTo>
                  <a:lnTo>
                    <a:pt x="1531" y="0"/>
                  </a:lnTo>
                  <a:lnTo>
                    <a:pt x="1635" y="288"/>
                  </a:lnTo>
                  <a:lnTo>
                    <a:pt x="1531" y="576"/>
                  </a:lnTo>
                  <a:lnTo>
                    <a:pt x="0" y="576"/>
                  </a:lnTo>
                  <a:lnTo>
                    <a:pt x="104" y="288"/>
                  </a:lnTo>
                  <a:lnTo>
                    <a:pt x="0" y="0"/>
                  </a:lnTo>
                  <a:close/>
                </a:path>
              </a:pathLst>
            </a:custGeom>
            <a:solidFill>
              <a:schemeClr val="accent1">
                <a:alpha val="100000"/>
              </a:schemeClr>
            </a:solidFill>
            <a:ln w="9525" cap="flat" cmpd="sng">
              <a:solidFill>
                <a:schemeClr val="tx1"/>
              </a:solidFill>
              <a:prstDash val="solid"/>
              <a:headEnd type="none" w="med" len="med"/>
              <a:tailEnd type="none" w="med" len="med"/>
            </a:ln>
          </p:spPr>
          <p:txBody>
            <a:bodyPr/>
            <a:p>
              <a:endParaRPr lang="zh-CN" altLang="en-US"/>
            </a:p>
          </p:txBody>
        </p:sp>
        <p:sp>
          <p:nvSpPr>
            <p:cNvPr id="101386" name="矩形 101385"/>
            <p:cNvSpPr/>
            <p:nvPr/>
          </p:nvSpPr>
          <p:spPr>
            <a:xfrm>
              <a:off x="136" y="32"/>
              <a:ext cx="1396" cy="496"/>
            </a:xfrm>
            <a:prstGeom prst="rect">
              <a:avLst/>
            </a:prstGeom>
            <a:noFill/>
            <a:ln w="9525">
              <a:noFill/>
            </a:ln>
          </p:spPr>
          <p:txBody>
            <a:bodyPr lIns="45720" tIns="0" rIns="45720" bIns="0" anchor="ctr" anchorCtr="0"/>
            <a:lstStyle>
              <a:lvl1pPr marL="342900" lvl="0" indent="-342900" algn="l" defTabSz="914400" eaLnBrk="0" fontAlgn="base" latinLnBrk="0" hangingPunct="0">
                <a:lnSpc>
                  <a:spcPct val="100000"/>
                </a:lnSpc>
                <a:spcBef>
                  <a:spcPct val="20000"/>
                </a:spcBef>
                <a:spcAft>
                  <a:spcPct val="0"/>
                </a:spcAft>
                <a:buClr>
                  <a:srgbClr val="FF3300"/>
                </a:buClr>
                <a:buFont typeface="Wingdings" panose="05000000000000000000" pitchFamily="2" charset="2"/>
                <a:buChar char="Ø"/>
                <a:defRPr sz="3200" b="0" u="none" kern="1200" baseline="0">
                  <a:solidFill>
                    <a:schemeClr val="tx1"/>
                  </a:solidFill>
                  <a:latin typeface="Times New Roman" panose="02020603050405020304" pitchFamily="18" charset="0"/>
                  <a:ea typeface="华文中宋" panose="02010600040101010101" pitchFamily="2" charset="-122"/>
                </a:defRPr>
              </a:lvl1pPr>
              <a:lvl2pPr marL="742950" lvl="1" indent="-285750" algn="l" defTabSz="914400" eaLnBrk="0" fontAlgn="base" latinLnBrk="0" hangingPunct="0">
                <a:lnSpc>
                  <a:spcPct val="100000"/>
                </a:lnSpc>
                <a:spcBef>
                  <a:spcPct val="20000"/>
                </a:spcBef>
                <a:spcAft>
                  <a:spcPct val="0"/>
                </a:spcAft>
                <a:buClr>
                  <a:srgbClr val="FF3300"/>
                </a:buClr>
                <a:buFont typeface="Wingdings" panose="05000000000000000000" pitchFamily="2" charset="2"/>
                <a:buChar char="Ø"/>
                <a:defRPr sz="28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eaLnBrk="0" fontAlgn="base" latinLnBrk="0" hangingPunct="0">
                <a:lnSpc>
                  <a:spcPct val="100000"/>
                </a:lnSpc>
                <a:spcBef>
                  <a:spcPct val="20000"/>
                </a:spcBef>
                <a:spcAft>
                  <a:spcPct val="0"/>
                </a:spcAft>
                <a:buClr>
                  <a:srgbClr val="FF3300"/>
                </a:buClr>
                <a:buFont typeface="Wingdings" panose="05000000000000000000" pitchFamily="2" charset="2"/>
                <a:buChar char="Ø"/>
                <a:defRPr sz="24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eaLnBrk="0" fontAlgn="base" latinLnBrk="0" hangingPunct="0">
                <a:lnSpc>
                  <a:spcPct val="100000"/>
                </a:lnSpc>
                <a:spcBef>
                  <a:spcPct val="20000"/>
                </a:spcBef>
                <a:spcAft>
                  <a:spcPct val="0"/>
                </a:spcAft>
                <a:buClr>
                  <a:srgbClr val="FF3300"/>
                </a:buClr>
                <a:buFont typeface="Wingdings" panose="05000000000000000000" pitchFamily="2" charset="2"/>
                <a:buChar char="Ø"/>
                <a:defRPr sz="20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eaLnBrk="0" fontAlgn="base" latinLnBrk="0" hangingPunct="0">
                <a:lnSpc>
                  <a:spcPct val="100000"/>
                </a:lnSpc>
                <a:spcBef>
                  <a:spcPct val="20000"/>
                </a:spcBef>
                <a:spcAft>
                  <a:spcPct val="0"/>
                </a:spcAft>
                <a:buClr>
                  <a:srgbClr val="FF3300"/>
                </a:buClr>
                <a:buFont typeface="Wingdings" panose="05000000000000000000" pitchFamily="2" charset="2"/>
                <a:buChar char="Ø"/>
                <a:defRPr sz="2000" b="0" i="0" u="none" kern="1200" baseline="0">
                  <a:solidFill>
                    <a:schemeClr val="tx1"/>
                  </a:solidFill>
                  <a:latin typeface="Times New Roman" panose="02020603050405020304" pitchFamily="18" charset="0"/>
                  <a:ea typeface="宋体" panose="02010600030101010101" pitchFamily="2" charset="-122"/>
                </a:defRPr>
              </a:lvl5pPr>
            </a:lstStyle>
            <a:p>
              <a:pPr lvl="0" algn="ctr">
                <a:buNone/>
              </a:pPr>
              <a:r>
                <a:rPr lang="zh-CN" altLang="en-US" b="1" dirty="0">
                  <a:solidFill>
                    <a:schemeClr val="bg1"/>
                  </a:solidFill>
                  <a:latin typeface="华文中宋" panose="02010600040101010101" pitchFamily="2" charset="-122"/>
                </a:rPr>
                <a:t>建  议</a:t>
              </a:r>
              <a:endParaRPr lang="zh-CN" altLang="en-US" b="1" dirty="0">
                <a:solidFill>
                  <a:schemeClr val="bg1"/>
                </a:solidFill>
                <a:latin typeface="华文中宋" panose="02010600040101010101" pitchFamily="2" charset="-122"/>
              </a:endParaRPr>
            </a:p>
          </p:txBody>
        </p:sp>
      </p:grpSp>
      <p:sp>
        <p:nvSpPr>
          <p:cNvPr id="101387" name="标题 101386"/>
          <p:cNvSpPr>
            <a:spLocks noGrp="1"/>
          </p:cNvSpPr>
          <p:nvPr>
            <p:ph type="title"/>
          </p:nvPr>
        </p:nvSpPr>
        <p:spPr>
          <a:ln/>
        </p:spPr>
        <p:txBody>
          <a:bodyPr anchor="ctr" anchorCtr="0"/>
          <a:p>
            <a:r>
              <a:rPr lang="zh-CN" altLang="en-US" sz="4000" dirty="0">
                <a:solidFill>
                  <a:srgbClr val="FF0000"/>
                </a:solidFill>
              </a:rPr>
              <a:t>异议处理三步曲</a:t>
            </a:r>
            <a:endParaRPr lang="zh-CN" altLang="en-US" sz="4000" dirty="0">
              <a:solidFill>
                <a:srgbClr val="FF0000"/>
              </a:solidFill>
            </a:endParaRPr>
          </a:p>
        </p:txBody>
      </p:sp>
      <p:sp>
        <p:nvSpPr>
          <p:cNvPr id="101388" name="文本占位符 101387"/>
          <p:cNvSpPr>
            <a:spLocks noGrp="1"/>
          </p:cNvSpPr>
          <p:nvPr>
            <p:ph type="body" idx="1"/>
          </p:nvPr>
        </p:nvSpPr>
        <p:spPr>
          <a:xfrm>
            <a:off x="1116013" y="3644900"/>
            <a:ext cx="7773987" cy="2098675"/>
          </a:xfrm>
          <a:ln/>
        </p:spPr>
        <p:txBody>
          <a:bodyPr/>
          <a:p>
            <a:pPr>
              <a:lnSpc>
                <a:spcPct val="120000"/>
              </a:lnSpc>
            </a:pPr>
            <a:r>
              <a:rPr lang="zh-CN" altLang="en-US" sz="2400" dirty="0"/>
              <a:t>理解、认同客户，给予客户尊重</a:t>
            </a:r>
            <a:endParaRPr lang="zh-CN" altLang="en-US" sz="2400" dirty="0"/>
          </a:p>
          <a:p>
            <a:pPr>
              <a:lnSpc>
                <a:spcPct val="120000"/>
              </a:lnSpc>
            </a:pPr>
            <a:r>
              <a:rPr lang="zh-CN" altLang="en-US" sz="2400" dirty="0"/>
              <a:t>进行合理解释，让客户放心</a:t>
            </a:r>
            <a:endParaRPr lang="zh-CN" altLang="en-US" sz="2400" dirty="0"/>
          </a:p>
          <a:p>
            <a:pPr>
              <a:lnSpc>
                <a:spcPct val="120000"/>
              </a:lnSpc>
            </a:pPr>
            <a:r>
              <a:rPr lang="zh-CN" altLang="en-US" sz="2400" dirty="0"/>
              <a:t>给出合理化的建议</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1378"/>
                                        </p:tgtEl>
                                        <p:attrNameLst>
                                          <p:attrName>style.visibility</p:attrName>
                                        </p:attrNameLst>
                                      </p:cBhvr>
                                      <p:to>
                                        <p:strVal val="visible"/>
                                      </p:to>
                                    </p:set>
                                    <p:animEffect transition="in" filter="fade">
                                      <p:cBhvr>
                                        <p:cTn id="7" dur="2000"/>
                                        <p:tgtEl>
                                          <p:spTgt spid="101378"/>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01388">
                                            <p:txEl>
                                              <p:charRg st="0" end="15"/>
                                            </p:txEl>
                                          </p:spTgt>
                                        </p:tgtEl>
                                        <p:attrNameLst>
                                          <p:attrName>style.visibility</p:attrName>
                                        </p:attrNameLst>
                                      </p:cBhvr>
                                      <p:to>
                                        <p:strVal val="visible"/>
                                      </p:to>
                                    </p:set>
                                    <p:animEffect transition="in" filter="box(in)">
                                      <p:cBhvr>
                                        <p:cTn id="12" dur="500"/>
                                        <p:tgtEl>
                                          <p:spTgt spid="101388">
                                            <p:txEl>
                                              <p:charRg st="0" end="1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1381"/>
                                        </p:tgtEl>
                                        <p:attrNameLst>
                                          <p:attrName>style.visibility</p:attrName>
                                        </p:attrNameLst>
                                      </p:cBhvr>
                                      <p:to>
                                        <p:strVal val="visible"/>
                                      </p:to>
                                    </p:set>
                                    <p:animEffect transition="in" filter="fade">
                                      <p:cBhvr>
                                        <p:cTn id="17" dur="2000"/>
                                        <p:tgtEl>
                                          <p:spTgt spid="101381"/>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101388">
                                            <p:txEl>
                                              <p:charRg st="15" end="28"/>
                                            </p:txEl>
                                          </p:spTgt>
                                        </p:tgtEl>
                                        <p:attrNameLst>
                                          <p:attrName>style.visibility</p:attrName>
                                        </p:attrNameLst>
                                      </p:cBhvr>
                                      <p:to>
                                        <p:strVal val="visible"/>
                                      </p:to>
                                    </p:set>
                                    <p:animEffect transition="in" filter="box(in)">
                                      <p:cBhvr>
                                        <p:cTn id="22" dur="500"/>
                                        <p:tgtEl>
                                          <p:spTgt spid="101388">
                                            <p:txEl>
                                              <p:charRg st="15" end="28"/>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1384"/>
                                        </p:tgtEl>
                                        <p:attrNameLst>
                                          <p:attrName>style.visibility</p:attrName>
                                        </p:attrNameLst>
                                      </p:cBhvr>
                                      <p:to>
                                        <p:strVal val="visible"/>
                                      </p:to>
                                    </p:set>
                                    <p:animEffect transition="in" filter="fade">
                                      <p:cBhvr>
                                        <p:cTn id="27" dur="2000"/>
                                        <p:tgtEl>
                                          <p:spTgt spid="101384"/>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101388">
                                            <p:txEl>
                                              <p:charRg st="28" end="37"/>
                                            </p:txEl>
                                          </p:spTgt>
                                        </p:tgtEl>
                                        <p:attrNameLst>
                                          <p:attrName>style.visibility</p:attrName>
                                        </p:attrNameLst>
                                      </p:cBhvr>
                                      <p:to>
                                        <p:strVal val="visible"/>
                                      </p:to>
                                    </p:set>
                                    <p:animEffect transition="in" filter="box(in)">
                                      <p:cBhvr>
                                        <p:cTn id="32" dur="500"/>
                                        <p:tgtEl>
                                          <p:spTgt spid="101388">
                                            <p:txEl>
                                              <p:charRg st="28" end="3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标题 103425"/>
          <p:cNvSpPr>
            <a:spLocks noGrp="1"/>
          </p:cNvSpPr>
          <p:nvPr>
            <p:ph type="title"/>
          </p:nvPr>
        </p:nvSpPr>
        <p:spPr>
          <a:xfrm>
            <a:off x="684213" y="476250"/>
            <a:ext cx="7773987" cy="1143000"/>
          </a:xfrm>
          <a:ln/>
        </p:spPr>
        <p:txBody>
          <a:bodyPr anchor="ctr" anchorCtr="0"/>
          <a:p>
            <a:r>
              <a:rPr lang="zh-CN" altLang="en-US" dirty="0"/>
              <a:t>话术示范</a:t>
            </a:r>
            <a:endParaRPr lang="zh-CN" altLang="en-US" dirty="0"/>
          </a:p>
        </p:txBody>
      </p:sp>
      <p:sp>
        <p:nvSpPr>
          <p:cNvPr id="103427" name="文本占位符 103426"/>
          <p:cNvSpPr>
            <a:spLocks noGrp="1"/>
          </p:cNvSpPr>
          <p:nvPr>
            <p:ph type="body" idx="1"/>
          </p:nvPr>
        </p:nvSpPr>
        <p:spPr>
          <a:xfrm>
            <a:off x="684213" y="1557338"/>
            <a:ext cx="7773987" cy="4114800"/>
          </a:xfrm>
          <a:ln/>
        </p:spPr>
        <p:txBody>
          <a:bodyPr/>
          <a:p>
            <a:pPr>
              <a:lnSpc>
                <a:spcPct val="90000"/>
              </a:lnSpc>
              <a:buNone/>
            </a:pPr>
            <a:r>
              <a:rPr lang="zh-CN" altLang="en-US" sz="2400" dirty="0">
                <a:latin typeface="楷体_GB2312" pitchFamily="49" charset="-122"/>
                <a:ea typeface="楷体_GB2312" pitchFamily="49" charset="-122"/>
              </a:rPr>
              <a:t>能不能办</a:t>
            </a:r>
            <a:r>
              <a:rPr lang="en-US" altLang="zh-CN" sz="2400">
                <a:latin typeface="楷体_GB2312" pitchFamily="49" charset="-122"/>
                <a:ea typeface="楷体_GB2312" pitchFamily="49" charset="-122"/>
              </a:rPr>
              <a:t>20000?</a:t>
            </a:r>
            <a:endParaRPr lang="en-US" altLang="zh-CN" sz="2400">
              <a:latin typeface="楷体_GB2312" pitchFamily="49" charset="-122"/>
              <a:ea typeface="楷体_GB2312" pitchFamily="49" charset="-122"/>
            </a:endParaRPr>
          </a:p>
          <a:p>
            <a:pPr>
              <a:lnSpc>
                <a:spcPct val="90000"/>
              </a:lnSpc>
            </a:pPr>
            <a:r>
              <a:rPr lang="zh-CN" altLang="en-US" sz="2400" dirty="0">
                <a:latin typeface="楷体_GB2312" pitchFamily="49" charset="-122"/>
                <a:ea typeface="楷体_GB2312" pitchFamily="49" charset="-122"/>
              </a:rPr>
              <a:t>我能理解有时候一张高额度的信用卡会比较方便（理解），我们银行也会根据你的情况进行批核，我们也不能给您保证（解释），你可以先办理，我们银行会随着您使用情况而为您提升额度的（建议）。</a:t>
            </a:r>
            <a:endParaRPr lang="zh-CN" altLang="en-US" sz="2400" dirty="0">
              <a:latin typeface="楷体_GB2312" pitchFamily="49" charset="-122"/>
              <a:ea typeface="楷体_GB2312" pitchFamily="49" charset="-122"/>
            </a:endParaRPr>
          </a:p>
          <a:p>
            <a:pPr>
              <a:lnSpc>
                <a:spcPct val="90000"/>
              </a:lnSpc>
            </a:pPr>
            <a:endParaRPr lang="zh-CN" altLang="en-US" sz="2400" dirty="0">
              <a:latin typeface="楷体_GB2312" pitchFamily="49" charset="-122"/>
              <a:ea typeface="楷体_GB2312" pitchFamily="49" charset="-122"/>
            </a:endParaRPr>
          </a:p>
          <a:p>
            <a:pPr>
              <a:lnSpc>
                <a:spcPct val="90000"/>
              </a:lnSpc>
              <a:buNone/>
            </a:pPr>
            <a:r>
              <a:rPr lang="zh-CN" altLang="en-US" sz="2400" dirty="0">
                <a:latin typeface="楷体_GB2312" pitchFamily="49" charset="-122"/>
                <a:ea typeface="楷体_GB2312" pitchFamily="49" charset="-122"/>
              </a:rPr>
              <a:t>信用卡还款太麻烦了！</a:t>
            </a:r>
            <a:endParaRPr lang="zh-CN" altLang="en-US" sz="2400" dirty="0">
              <a:latin typeface="楷体_GB2312" pitchFamily="49" charset="-122"/>
              <a:ea typeface="楷体_GB2312" pitchFamily="49" charset="-122"/>
            </a:endParaRPr>
          </a:p>
          <a:p>
            <a:pPr>
              <a:lnSpc>
                <a:spcPct val="90000"/>
              </a:lnSpc>
            </a:pPr>
            <a:r>
              <a:rPr lang="zh-CN" altLang="en-US" sz="2400" dirty="0">
                <a:latin typeface="楷体_GB2312" pitchFamily="49" charset="-122"/>
                <a:ea typeface="楷体_GB2312" pitchFamily="49" charset="-122"/>
              </a:rPr>
              <a:t>我能理解，如果还款麻烦就会耽误您很多时间（理解），其实信用卡一个月只用还一次钱，方便</a:t>
            </a:r>
            <a:r>
              <a:rPr lang="en-US" altLang="zh-CN" sz="2400">
                <a:latin typeface="楷体_GB2312" pitchFamily="49" charset="-122"/>
                <a:ea typeface="楷体_GB2312" pitchFamily="49" charset="-122"/>
              </a:rPr>
              <a:t>30</a:t>
            </a:r>
            <a:r>
              <a:rPr lang="zh-CN" altLang="en-US" sz="2400" dirty="0">
                <a:latin typeface="楷体_GB2312" pitchFamily="49" charset="-122"/>
                <a:ea typeface="楷体_GB2312" pitchFamily="49" charset="-122"/>
              </a:rPr>
              <a:t>天，麻烦一次而已（解释），再说，你们楼下就有交行</a:t>
            </a:r>
            <a:r>
              <a:rPr lang="en-US" altLang="zh-CN" sz="2400">
                <a:latin typeface="楷体_GB2312" pitchFamily="49" charset="-122"/>
                <a:ea typeface="楷体_GB2312" pitchFamily="49" charset="-122"/>
              </a:rPr>
              <a:t>ATM</a:t>
            </a:r>
            <a:r>
              <a:rPr lang="zh-CN" altLang="en-US" sz="2400" dirty="0">
                <a:latin typeface="楷体_GB2312" pitchFamily="49" charset="-122"/>
                <a:ea typeface="楷体_GB2312" pitchFamily="49" charset="-122"/>
              </a:rPr>
              <a:t>机</a:t>
            </a:r>
            <a:r>
              <a:rPr lang="en-US" altLang="zh-CN" sz="2400">
                <a:latin typeface="楷体_GB2312" pitchFamily="49" charset="-122"/>
                <a:ea typeface="楷体_GB2312" pitchFamily="49" charset="-122"/>
              </a:rPr>
              <a:t>/</a:t>
            </a:r>
            <a:r>
              <a:rPr lang="zh-CN" altLang="en-US" sz="2400" dirty="0">
                <a:latin typeface="楷体_GB2312" pitchFamily="49" charset="-122"/>
                <a:ea typeface="楷体_GB2312" pitchFamily="49" charset="-122"/>
              </a:rPr>
              <a:t>网上还款，都很方便的（建议）</a:t>
            </a:r>
            <a:endParaRPr lang="zh-CN" altLang="en-US" sz="2400" dirty="0">
              <a:latin typeface="楷体_GB2312" pitchFamily="49" charset="-122"/>
              <a:ea typeface="楷体_GB2312" pitchFamily="49" charset="-122"/>
            </a:endParaRPr>
          </a:p>
          <a:p>
            <a:pPr>
              <a:lnSpc>
                <a:spcPct val="90000"/>
              </a:lnSpc>
            </a:pPr>
            <a:endParaRPr lang="zh-CN" altLang="en-US" sz="2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Rectangle 2"/>
          <p:cNvSpPr>
            <a:spLocks noGrp="1"/>
          </p:cNvSpPr>
          <p:nvPr>
            <p:ph type="title" idx="4294967295"/>
          </p:nvPr>
        </p:nvSpPr>
        <p:spPr>
          <a:ln/>
        </p:spPr>
        <p:txBody>
          <a:bodyPr vert="horz" wrap="square" anchor="ctr" anchorCtr="0"/>
          <a:p>
            <a:pPr eaLnBrk="1" hangingPunct="1"/>
            <a:r>
              <a:rPr lang="zh-CN" altLang="en-US" sz="4000" dirty="0">
                <a:solidFill>
                  <a:srgbClr val="FF0000"/>
                </a:solidFill>
                <a:latin typeface="华文新魏" panose="02010800040101010101" pitchFamily="2" charset="-122"/>
              </a:rPr>
              <a:t>讨    论</a:t>
            </a:r>
            <a:endParaRPr lang="zh-CN" altLang="en-US" sz="4000" dirty="0">
              <a:solidFill>
                <a:srgbClr val="FF0000"/>
              </a:solidFill>
              <a:latin typeface="华文新魏" panose="02010800040101010101" pitchFamily="2" charset="-122"/>
            </a:endParaRPr>
          </a:p>
        </p:txBody>
      </p:sp>
      <p:pic>
        <p:nvPicPr>
          <p:cNvPr id="104451" name="Picture 3" descr="PE01914_"/>
          <p:cNvPicPr>
            <a:picLocks noChangeAspect="1"/>
          </p:cNvPicPr>
          <p:nvPr/>
        </p:nvPicPr>
        <p:blipFill>
          <a:blip r:embed="rId1">
            <a:lum bright="12000" contrast="6000"/>
          </a:blip>
          <a:stretch>
            <a:fillRect/>
          </a:stretch>
        </p:blipFill>
        <p:spPr>
          <a:xfrm>
            <a:off x="323850" y="3500438"/>
            <a:ext cx="2089150" cy="2592387"/>
          </a:xfrm>
          <a:prstGeom prst="rect">
            <a:avLst/>
          </a:prstGeom>
          <a:noFill/>
          <a:ln w="9525">
            <a:noFill/>
          </a:ln>
        </p:spPr>
      </p:pic>
      <p:sp>
        <p:nvSpPr>
          <p:cNvPr id="104452" name="Text Box 4" descr="新闻纸"/>
          <p:cNvSpPr txBox="1"/>
          <p:nvPr/>
        </p:nvSpPr>
        <p:spPr>
          <a:xfrm>
            <a:off x="2484438" y="2349500"/>
            <a:ext cx="5832475" cy="2592388"/>
          </a:xfrm>
          <a:prstGeom prst="rect">
            <a:avLst/>
          </a:prstGeom>
          <a:noFill/>
          <a:ln w="9525">
            <a:noFill/>
          </a:ln>
        </p:spPr>
        <p:txBody>
          <a:bodyPr>
            <a:spAutoFit/>
          </a:bodyPr>
          <a:p>
            <a:pPr algn="l">
              <a:buClr>
                <a:srgbClr val="FF0000"/>
              </a:buClr>
              <a:buFont typeface="Wingdings" panose="05000000000000000000" pitchFamily="2" charset="2"/>
              <a:buChar char="Ø"/>
            </a:pPr>
            <a:r>
              <a:rPr lang="zh-CN" altLang="en-US" sz="2800" b="0" dirty="0">
                <a:latin typeface="Frutiger 45 Light" pitchFamily="2" charset="0"/>
                <a:ea typeface="华文中宋" panose="02010600040101010101" pitchFamily="2" charset="-122"/>
              </a:rPr>
              <a:t>在销售的各个环节中，客户都</a:t>
            </a:r>
            <a:endParaRPr lang="zh-CN" altLang="en-US" sz="2800" b="0" dirty="0">
              <a:latin typeface="Frutiger 45 Light" pitchFamily="2" charset="0"/>
              <a:ea typeface="华文中宋" panose="02010600040101010101" pitchFamily="2" charset="-122"/>
            </a:endParaRPr>
          </a:p>
          <a:p>
            <a:pPr algn="l">
              <a:buClr>
                <a:srgbClr val="FF0000"/>
              </a:buClr>
              <a:buFont typeface="Wingdings" panose="05000000000000000000" pitchFamily="2" charset="2"/>
            </a:pPr>
            <a:r>
              <a:rPr lang="zh-CN" altLang="en-US" sz="2800" b="0" dirty="0">
                <a:latin typeface="Frutiger 45 Light" pitchFamily="2" charset="0"/>
                <a:ea typeface="华文中宋" panose="02010600040101010101" pitchFamily="2" charset="-122"/>
              </a:rPr>
              <a:t>   会提出哪些异议呢？</a:t>
            </a:r>
            <a:endParaRPr lang="zh-CN" altLang="en-US" sz="2800" b="0" dirty="0">
              <a:latin typeface="Frutiger 45 Light" pitchFamily="2" charset="0"/>
              <a:ea typeface="华文中宋" panose="02010600040101010101" pitchFamily="2" charset="-122"/>
            </a:endParaRPr>
          </a:p>
          <a:p>
            <a:pPr algn="l">
              <a:buClr>
                <a:srgbClr val="FF0000"/>
              </a:buClr>
              <a:buFont typeface="Wingdings" panose="05000000000000000000" pitchFamily="2" charset="2"/>
            </a:pPr>
            <a:endParaRPr lang="zh-CN" altLang="en-US" sz="2800" b="0" dirty="0">
              <a:latin typeface="Frutiger 45 Light" pitchFamily="2" charset="0"/>
              <a:ea typeface="华文中宋" panose="02010600040101010101" pitchFamily="2" charset="-122"/>
            </a:endParaRPr>
          </a:p>
          <a:p>
            <a:pPr algn="l">
              <a:buClr>
                <a:srgbClr val="FF0000"/>
              </a:buClr>
              <a:buFont typeface="Wingdings" panose="05000000000000000000" pitchFamily="2" charset="2"/>
            </a:pPr>
            <a:endParaRPr lang="en-US" altLang="zh-CN" sz="2800" b="0" dirty="0">
              <a:latin typeface="Frutiger 45 Light" pitchFamily="2" charset="0"/>
              <a:ea typeface="华文中宋" panose="02010600040101010101" pitchFamily="2" charset="-122"/>
            </a:endParaRPr>
          </a:p>
          <a:p>
            <a:pPr algn="l">
              <a:buClr>
                <a:srgbClr val="FF0000"/>
              </a:buClr>
              <a:buFont typeface="Wingdings" panose="05000000000000000000" pitchFamily="2" charset="2"/>
              <a:buChar char="Ø"/>
            </a:pPr>
            <a:r>
              <a:rPr lang="zh-CN" altLang="en-US" sz="2800" b="0" dirty="0">
                <a:latin typeface="Frutiger 45 Light" pitchFamily="2" charset="0"/>
                <a:ea typeface="华文中宋" panose="02010600040101010101" pitchFamily="2" charset="-122"/>
              </a:rPr>
              <a:t>你会如何应对这些异议？</a:t>
            </a:r>
            <a:endParaRPr lang="zh-CN" altLang="en-US" sz="2800" b="0" dirty="0">
              <a:latin typeface="Frutiger 45 Light" pitchFamily="2" charset="0"/>
              <a:ea typeface="华文中宋" panose="02010600040101010101" pitchFamily="2" charset="-122"/>
            </a:endParaRPr>
          </a:p>
          <a:p>
            <a:pPr algn="l"/>
            <a:endParaRPr lang="zh-CN" altLang="en-US" b="0" dirty="0">
              <a:latin typeface="Frutiger 45 Light" pitchFamily="2" charset="0"/>
              <a:ea typeface="华文中宋"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4452">
                                            <p:txEl>
                                              <p:charRg st="0" end="14"/>
                                            </p:txEl>
                                          </p:spTgt>
                                        </p:tgtEl>
                                        <p:attrNameLst>
                                          <p:attrName>style.visibility</p:attrName>
                                        </p:attrNameLst>
                                      </p:cBhvr>
                                      <p:to>
                                        <p:strVal val="visible"/>
                                      </p:to>
                                    </p:set>
                                    <p:animEffect transition="in" filter="blinds(horizontal)">
                                      <p:cBhvr>
                                        <p:cTn id="7" dur="500"/>
                                        <p:tgtEl>
                                          <p:spTgt spid="104452">
                                            <p:txEl>
                                              <p:charRg st="0" end="14"/>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04452">
                                            <p:txEl>
                                              <p:charRg st="14" end="27"/>
                                            </p:txEl>
                                          </p:spTgt>
                                        </p:tgtEl>
                                        <p:attrNameLst>
                                          <p:attrName>style.visibility</p:attrName>
                                        </p:attrNameLst>
                                      </p:cBhvr>
                                      <p:to>
                                        <p:strVal val="visible"/>
                                      </p:to>
                                    </p:set>
                                    <p:animEffect transition="in" filter="blinds(horizontal)">
                                      <p:cBhvr>
                                        <p:cTn id="10" dur="500"/>
                                        <p:tgtEl>
                                          <p:spTgt spid="104452">
                                            <p:txEl>
                                              <p:charRg st="14" end="27"/>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104452">
                                            <p:txEl>
                                              <p:charRg st="29" end="41"/>
                                            </p:txEl>
                                          </p:spTgt>
                                        </p:tgtEl>
                                        <p:attrNameLst>
                                          <p:attrName>style.visibility</p:attrName>
                                        </p:attrNameLst>
                                      </p:cBhvr>
                                      <p:to>
                                        <p:strVal val="visible"/>
                                      </p:to>
                                    </p:set>
                                    <p:animEffect transition="in" filter="blinds(horizontal)">
                                      <p:cBhvr>
                                        <p:cTn id="15" dur="500"/>
                                        <p:tgtEl>
                                          <p:spTgt spid="104452">
                                            <p:txEl>
                                              <p:charRg st="29" end="4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6498" name="Picture 2" descr="CART0555"/>
          <p:cNvPicPr>
            <a:picLocks noChangeAspect="1"/>
          </p:cNvPicPr>
          <p:nvPr>
            <p:ph type="body" idx="4294967295"/>
          </p:nvPr>
        </p:nvPicPr>
        <p:blipFill>
          <a:blip r:embed="rId1"/>
          <a:stretch>
            <a:fillRect/>
          </a:stretch>
        </p:blipFill>
        <p:spPr>
          <a:xfrm>
            <a:off x="973138" y="2133600"/>
            <a:ext cx="4968875" cy="3455988"/>
          </a:xfrm>
          <a:ln/>
        </p:spPr>
      </p:pic>
      <p:sp>
        <p:nvSpPr>
          <p:cNvPr id="106499" name="WordArt 3"/>
          <p:cNvSpPr>
            <a:spLocks noTextEdit="1"/>
          </p:cNvSpPr>
          <p:nvPr/>
        </p:nvSpPr>
        <p:spPr>
          <a:xfrm>
            <a:off x="4860925" y="836613"/>
            <a:ext cx="3725863" cy="1655762"/>
          </a:xfrm>
          <a:prstGeom prst="rect">
            <a:avLst/>
          </a:prstGeom>
        </p:spPr>
        <p:txBody>
          <a:bodyPr wrap="none" fromWordArt="1">
            <a:prstTxWarp prst="textCascadeUp">
              <a:avLst>
                <a:gd name="adj" fmla="val 44444"/>
              </a:avLst>
            </a:prstTxWarp>
            <a:normAutofit/>
            <a:scene3d>
              <a:camera prst="legacyPerspectiveFront">
                <a:rot lat="20520000" lon="1080000" rev="0"/>
              </a:camera>
              <a:lightRig rig="legacyHarsh2" dir="b"/>
            </a:scene3d>
            <a:sp3d extrusionH="430200" prstMaterial="legacyMatte">
              <a:extrusionClr>
                <a:srgbClr val="FF6600"/>
              </a:extrusionClr>
            </a:sp3d>
          </a:bodyPr>
          <a:p>
            <a:pPr algn="ctr" eaLnBrk="0" hangingPunct="0"/>
            <a:r>
              <a:rPr lang="zh-CN" altLang="en-US" sz="3600" b="1">
                <a:gradFill rotWithShape="1">
                  <a:gsLst>
                    <a:gs pos="0">
                      <a:srgbClr val="FFE701"/>
                    </a:gs>
                    <a:gs pos="100000">
                      <a:srgbClr val="FE3E02"/>
                    </a:gs>
                  </a:gsLst>
                  <a:lin ang="5400000" scaled="1"/>
                  <a:tileRect/>
                </a:gradFill>
                <a:latin typeface="宋体" panose="02010600030101010101" pitchFamily="2" charset="-122"/>
                <a:ea typeface="宋体" panose="02010600030101010101" pitchFamily="2" charset="-122"/>
              </a:rPr>
              <a:t>演练和点评</a:t>
            </a:r>
            <a:endParaRPr lang="zh-CN" altLang="en-US" sz="3600" b="1">
              <a:gradFill rotWithShape="1">
                <a:gsLst>
                  <a:gs pos="0">
                    <a:srgbClr val="FFE701"/>
                  </a:gs>
                  <a:gs pos="100000">
                    <a:srgbClr val="FE3E02"/>
                  </a:gs>
                </a:gsLst>
                <a:lin ang="5400000" scaled="1"/>
                <a:tileRect/>
              </a:gradFill>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6498"/>
                                        </p:tgtEl>
                                        <p:attrNameLst>
                                          <p:attrName>style.visibility</p:attrName>
                                        </p:attrNameLst>
                                      </p:cBhvr>
                                      <p:to>
                                        <p:strVal val="visible"/>
                                      </p:to>
                                    </p:set>
                                    <p:animEffect transition="in" filter="dissolve">
                                      <p:cBhvr>
                                        <p:cTn id="7" dur="500"/>
                                        <p:tgtEl>
                                          <p:spTgt spid="106498"/>
                                        </p:tgtEl>
                                      </p:cBhvr>
                                    </p:animEffect>
                                  </p:childTnLst>
                                </p:cTn>
                              </p:par>
                            </p:childTnLst>
                          </p:cTn>
                        </p:par>
                      </p:childTnLst>
                    </p:cTn>
                  </p:par>
                  <p:par>
                    <p:cTn id="8" fill="hold">
                      <p:stCondLst>
                        <p:cond delay="indefinite"/>
                      </p:stCondLst>
                      <p:childTnLst>
                        <p:par>
                          <p:cTn id="9" fill="hold">
                            <p:stCondLst>
                              <p:cond delay="0"/>
                            </p:stCondLst>
                            <p:childTnLst>
                              <p:par>
                                <p:cTn id="10" presetID="51" presetClass="entr" presetSubtype="0" fill="hold" nodeType="clickEffect">
                                  <p:stCondLst>
                                    <p:cond delay="0"/>
                                  </p:stCondLst>
                                  <p:childTnLst>
                                    <p:set>
                                      <p:cBhvr>
                                        <p:cTn id="11" dur="1" fill="hold">
                                          <p:stCondLst>
                                            <p:cond delay="0"/>
                                          </p:stCondLst>
                                        </p:cTn>
                                        <p:tgtEl>
                                          <p:spTgt spid="106499"/>
                                        </p:tgtEl>
                                        <p:attrNameLst>
                                          <p:attrName>style.visibility</p:attrName>
                                        </p:attrNameLst>
                                      </p:cBhvr>
                                      <p:to>
                                        <p:strVal val="visible"/>
                                      </p:to>
                                    </p:set>
                                    <p:animEffect transition="in" filter="fade">
                                      <p:cBhvr>
                                        <p:cTn id="12" dur="770" decel="100000"/>
                                        <p:tgtEl>
                                          <p:spTgt spid="106499"/>
                                        </p:tgtEl>
                                      </p:cBhvr>
                                    </p:animEffect>
                                    <p:animScale>
                                      <p:cBhvr>
                                        <p:cTn id="13" dur="770" decel="100000"/>
                                        <p:tgtEl>
                                          <p:spTgt spid="106499"/>
                                        </p:tgtEl>
                                      </p:cBhvr>
                                      <p:from x="10000" y="10000"/>
                                      <p:to x="200000" y="450000"/>
                                    </p:animScale>
                                    <p:animScale>
                                      <p:cBhvr>
                                        <p:cTn id="14" dur="1230" accel="100000" fill="hold">
                                          <p:stCondLst>
                                            <p:cond delay="770"/>
                                          </p:stCondLst>
                                        </p:cTn>
                                        <p:tgtEl>
                                          <p:spTgt spid="106499"/>
                                        </p:tgtEl>
                                      </p:cBhvr>
                                      <p:from x="200000" y="450000"/>
                                      <p:to x="100000" y="100000"/>
                                    </p:animScale>
                                    <p:set>
                                      <p:cBhvr>
                                        <p:cTn id="15" dur="770" fill="hold"/>
                                        <p:tgtEl>
                                          <p:spTgt spid="106499"/>
                                        </p:tgtEl>
                                        <p:attrNameLst>
                                          <p:attrName>ppt_x</p:attrName>
                                        </p:attrNameLst>
                                      </p:cBhvr>
                                      <p:to>
                                        <p:strVal val="(0.5)"/>
                                      </p:to>
                                    </p:set>
                                    <p:anim from="(0.5)" to="(#ppt_x)" calcmode="lin" valueType="num">
                                      <p:cBhvr>
                                        <p:cTn id="16" dur="1230" accel="100000" fill="hold">
                                          <p:stCondLst>
                                            <p:cond delay="770"/>
                                          </p:stCondLst>
                                        </p:cTn>
                                        <p:tgtEl>
                                          <p:spTgt spid="106499"/>
                                        </p:tgtEl>
                                        <p:attrNameLst>
                                          <p:attrName>ppt_x</p:attrName>
                                        </p:attrNameLst>
                                      </p:cBhvr>
                                    </p:anim>
                                    <p:set>
                                      <p:cBhvr>
                                        <p:cTn id="17" dur="770" fill="hold"/>
                                        <p:tgtEl>
                                          <p:spTgt spid="106499"/>
                                        </p:tgtEl>
                                        <p:attrNameLst>
                                          <p:attrName>ppt_y</p:attrName>
                                        </p:attrNameLst>
                                      </p:cBhvr>
                                      <p:to>
                                        <p:strVal val="(#ppt_y+0.4)"/>
                                      </p:to>
                                    </p:set>
                                    <p:anim from="(#ppt_y+0.4)" to="(#ppt_y)" calcmode="lin" valueType="num">
                                      <p:cBhvr>
                                        <p:cTn id="18" dur="1230" accel="100000" fill="hold">
                                          <p:stCondLst>
                                            <p:cond delay="770"/>
                                          </p:stCondLst>
                                        </p:cTn>
                                        <p:tgtEl>
                                          <p:spTgt spid="106499"/>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6" name="Rectangle 2"/>
          <p:cNvSpPr>
            <a:spLocks noGrp="1"/>
          </p:cNvSpPr>
          <p:nvPr>
            <p:ph type="title" idx="4294967295"/>
          </p:nvPr>
        </p:nvSpPr>
        <p:spPr>
          <a:ln/>
        </p:spPr>
        <p:txBody>
          <a:bodyPr vert="horz" wrap="square" anchor="ctr" anchorCtr="0"/>
          <a:p>
            <a:pPr eaLnBrk="1" hangingPunct="1"/>
            <a:r>
              <a:rPr lang="zh-CN" altLang="en-US" dirty="0">
                <a:solidFill>
                  <a:srgbClr val="FF0000"/>
                </a:solidFill>
              </a:rPr>
              <a:t>销售异议处理的要素</a:t>
            </a:r>
            <a:endParaRPr lang="zh-CN" altLang="en-US" dirty="0">
              <a:solidFill>
                <a:srgbClr val="FF0000"/>
              </a:solidFill>
            </a:endParaRPr>
          </a:p>
        </p:txBody>
      </p:sp>
      <p:sp>
        <p:nvSpPr>
          <p:cNvPr id="108547" name="Rectangle 3"/>
          <p:cNvSpPr>
            <a:spLocks noGrp="1"/>
          </p:cNvSpPr>
          <p:nvPr>
            <p:ph type="body" idx="4294967295"/>
          </p:nvPr>
        </p:nvSpPr>
        <p:spPr>
          <a:xfrm>
            <a:off x="900113" y="2133600"/>
            <a:ext cx="7773987" cy="4114800"/>
          </a:xfrm>
          <a:ln/>
        </p:spPr>
        <p:txBody>
          <a:bodyPr vert="horz" wrap="square" anchor="t" anchorCtr="0"/>
          <a:p>
            <a:pPr eaLnBrk="1" hangingPunct="1"/>
            <a:endParaRPr lang="en-US" altLang="zh-CN" sz="2400" dirty="0"/>
          </a:p>
          <a:p>
            <a:pPr eaLnBrk="1" hangingPunct="1"/>
            <a:r>
              <a:rPr lang="zh-CN" altLang="en-US" sz="2400" dirty="0"/>
              <a:t>合规、有效、及时</a:t>
            </a:r>
            <a:endParaRPr lang="zh-CN" altLang="en-US" sz="2400" dirty="0"/>
          </a:p>
          <a:p>
            <a:pPr eaLnBrk="1" hangingPunct="1"/>
            <a:endParaRPr lang="zh-CN" altLang="en-US" sz="2400" dirty="0"/>
          </a:p>
          <a:p>
            <a:pPr eaLnBrk="1" hangingPunct="1"/>
            <a:r>
              <a:rPr lang="zh-CN" altLang="en-US" sz="2400" dirty="0"/>
              <a:t>不要奢望解决客户的所有问题</a:t>
            </a:r>
            <a:endParaRPr lang="en-US" altLang="zh-CN" sz="2400" dirty="0"/>
          </a:p>
          <a:p>
            <a:pPr eaLnBrk="1" hangingPunct="1">
              <a:buNone/>
            </a:pPr>
            <a:endParaRPr lang="zh-CN" altLang="en-US" sz="2400" dirty="0"/>
          </a:p>
          <a:p>
            <a:pPr eaLnBrk="1" hangingPunct="1"/>
            <a:r>
              <a:rPr lang="zh-CN" altLang="en-US" sz="2400" dirty="0"/>
              <a:t>异议处理的目的是为了促成</a:t>
            </a:r>
            <a:endParaRPr lang="zh-CN" altLang="en-US" sz="2400" dirty="0"/>
          </a:p>
          <a:p>
            <a:pPr eaLnBrk="1" hangingPunct="1"/>
            <a:endParaRPr lang="zh-CN" altLang="en-US" dirty="0"/>
          </a:p>
        </p:txBody>
      </p:sp>
      <p:pic>
        <p:nvPicPr>
          <p:cNvPr id="108548" name="Picture 4" descr="11972596"/>
          <p:cNvPicPr>
            <a:picLocks noChangeAspect="1"/>
          </p:cNvPicPr>
          <p:nvPr/>
        </p:nvPicPr>
        <p:blipFill>
          <a:blip r:embed="rId1"/>
          <a:stretch>
            <a:fillRect/>
          </a:stretch>
        </p:blipFill>
        <p:spPr>
          <a:xfrm>
            <a:off x="5716588" y="2286000"/>
            <a:ext cx="3240087" cy="37433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8547">
                                            <p:txEl>
                                              <p:charRg st="1" end="10"/>
                                            </p:txEl>
                                          </p:spTgt>
                                        </p:tgtEl>
                                        <p:attrNameLst>
                                          <p:attrName>style.visibility</p:attrName>
                                        </p:attrNameLst>
                                      </p:cBhvr>
                                      <p:to>
                                        <p:strVal val="visible"/>
                                      </p:to>
                                    </p:set>
                                    <p:animEffect transition="in" filter="blinds(horizontal)">
                                      <p:cBhvr>
                                        <p:cTn id="7" dur="500"/>
                                        <p:tgtEl>
                                          <p:spTgt spid="108547">
                                            <p:txEl>
                                              <p:charRg st="1" end="1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8547">
                                            <p:txEl>
                                              <p:charRg st="11" end="25"/>
                                            </p:txEl>
                                          </p:spTgt>
                                        </p:tgtEl>
                                        <p:attrNameLst>
                                          <p:attrName>style.visibility</p:attrName>
                                        </p:attrNameLst>
                                      </p:cBhvr>
                                      <p:to>
                                        <p:strVal val="visible"/>
                                      </p:to>
                                    </p:set>
                                    <p:animEffect transition="in" filter="blinds(horizontal)">
                                      <p:cBhvr>
                                        <p:cTn id="12" dur="500"/>
                                        <p:tgtEl>
                                          <p:spTgt spid="108547">
                                            <p:txEl>
                                              <p:charRg st="11" end="2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08547">
                                            <p:txEl>
                                              <p:charRg st="26" end="39"/>
                                            </p:txEl>
                                          </p:spTgt>
                                        </p:tgtEl>
                                        <p:attrNameLst>
                                          <p:attrName>style.visibility</p:attrName>
                                        </p:attrNameLst>
                                      </p:cBhvr>
                                      <p:to>
                                        <p:strVal val="visible"/>
                                      </p:to>
                                    </p:set>
                                    <p:animEffect transition="in" filter="blinds(horizontal)">
                                      <p:cBhvr>
                                        <p:cTn id="17" dur="500"/>
                                        <p:tgtEl>
                                          <p:spTgt spid="108547">
                                            <p:txEl>
                                              <p:charRg st="26" end="3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4" name="WordArt 2"/>
          <p:cNvSpPr>
            <a:spLocks noTextEdit="1"/>
          </p:cNvSpPr>
          <p:nvPr/>
        </p:nvSpPr>
        <p:spPr>
          <a:xfrm>
            <a:off x="1908175" y="1628775"/>
            <a:ext cx="3600450" cy="2312988"/>
          </a:xfrm>
          <a:prstGeom prst="rect">
            <a:avLst/>
          </a:prstGeom>
        </p:spPr>
        <p:txBody>
          <a:bodyPr wrap="none" fromWordArt="1">
            <a:prstTxWarp prst="textSlantUp">
              <a:avLst>
                <a:gd name="adj" fmla="val 32056"/>
              </a:avLst>
            </a:prstTxWarp>
            <a:normAutofit/>
          </a:bodyPr>
          <a:p>
            <a:pPr algn="ctr"/>
            <a:r>
              <a:rPr lang="zh-CN" altLang="en-US" sz="3600" b="1">
                <a:ln w="9525" cap="flat" cmpd="sng">
                  <a:solidFill>
                    <a:srgbClr val="CC99FF"/>
                  </a:solidFill>
                  <a:prstDash val="solid"/>
                  <a:headEnd type="none" w="med" len="med"/>
                  <a:tailEnd type="none" w="med" len="med"/>
                </a:ln>
                <a:gradFill rotWithShape="1">
                  <a:gsLst>
                    <a:gs pos="0">
                      <a:srgbClr val="6600CC"/>
                    </a:gs>
                    <a:gs pos="100000">
                      <a:srgbClr val="CC00CC"/>
                    </a:gs>
                  </a:gsLst>
                  <a:lin ang="5400000" scaled="1"/>
                  <a:tileRect/>
                </a:gradFill>
                <a:effectLst>
                  <a:outerShdw dist="53882" dir="2699999" algn="ctr" rotWithShape="0">
                    <a:srgbClr val="9999FF">
                      <a:alpha val="78999"/>
                    </a:srgbClr>
                  </a:outerShdw>
                </a:effectLst>
                <a:latin typeface="宋体" panose="02010600030101010101" pitchFamily="2" charset="-122"/>
                <a:ea typeface="宋体" panose="02010600030101010101" pitchFamily="2" charset="-122"/>
              </a:rPr>
              <a:t>Q &amp; A</a:t>
            </a:r>
            <a:endParaRPr lang="zh-CN" altLang="en-US" sz="3600" b="1">
              <a:ln w="9525" cap="flat" cmpd="sng">
                <a:solidFill>
                  <a:srgbClr val="CC99FF"/>
                </a:solidFill>
                <a:prstDash val="solid"/>
                <a:headEnd type="none" w="med" len="med"/>
                <a:tailEnd type="none" w="med" len="med"/>
              </a:ln>
              <a:gradFill rotWithShape="1">
                <a:gsLst>
                  <a:gs pos="0">
                    <a:srgbClr val="6600CC"/>
                  </a:gs>
                  <a:gs pos="100000">
                    <a:srgbClr val="CC00CC"/>
                  </a:gs>
                </a:gsLst>
                <a:lin ang="5400000" scaled="1"/>
                <a:tileRect/>
              </a:gradFill>
              <a:effectLst>
                <a:outerShdw dist="53882" dir="2699999" algn="ctr" rotWithShape="0">
                  <a:srgbClr val="9999FF">
                    <a:alpha val="78999"/>
                  </a:srgbClr>
                </a:outerShdw>
              </a:effectLst>
              <a:latin typeface="宋体" panose="02010600030101010101" pitchFamily="2" charset="-122"/>
              <a:ea typeface="宋体" panose="02010600030101010101" pitchFamily="2" charset="-122"/>
            </a:endParaRPr>
          </a:p>
        </p:txBody>
      </p:sp>
      <p:pic>
        <p:nvPicPr>
          <p:cNvPr id="110595" name="Picture 3" descr="MCj04165020000[1]"/>
          <p:cNvPicPr>
            <a:picLocks noChangeAspect="1"/>
          </p:cNvPicPr>
          <p:nvPr/>
        </p:nvPicPr>
        <p:blipFill>
          <a:blip r:embed="rId1"/>
          <a:stretch>
            <a:fillRect/>
          </a:stretch>
        </p:blipFill>
        <p:spPr>
          <a:xfrm>
            <a:off x="5940425" y="4076700"/>
            <a:ext cx="1708150" cy="1631950"/>
          </a:xfrm>
          <a:prstGeom prst="rect">
            <a:avLst/>
          </a:prstGeom>
          <a:noFill/>
          <a:ln w="9525">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1618" name="Picture 4" descr="RedCard"/>
          <p:cNvPicPr>
            <a:picLocks noChangeAspect="1"/>
          </p:cNvPicPr>
          <p:nvPr/>
        </p:nvPicPr>
        <p:blipFill>
          <a:blip r:embed="rId1"/>
          <a:srcRect r="3226"/>
          <a:stretch>
            <a:fillRect/>
          </a:stretch>
        </p:blipFill>
        <p:spPr>
          <a:xfrm>
            <a:off x="0" y="0"/>
            <a:ext cx="9144000" cy="6308725"/>
          </a:xfrm>
          <a:prstGeom prst="rect">
            <a:avLst/>
          </a:prstGeom>
          <a:noFill/>
          <a:ln w="9525">
            <a:noFill/>
          </a:ln>
        </p:spPr>
      </p:pic>
      <p:sp>
        <p:nvSpPr>
          <p:cNvPr id="111619" name="Rectangle 3"/>
          <p:cNvSpPr/>
          <p:nvPr/>
        </p:nvSpPr>
        <p:spPr>
          <a:xfrm>
            <a:off x="755650" y="2205038"/>
            <a:ext cx="7772400" cy="1143000"/>
          </a:xfrm>
          <a:prstGeom prst="rect">
            <a:avLst/>
          </a:prstGeom>
          <a:noFill/>
          <a:ln w="9525">
            <a:noFill/>
          </a:ln>
        </p:spPr>
        <p:txBody>
          <a:bodyPr anchor="ctr" anchorCtr="0"/>
          <a:p>
            <a:r>
              <a:rPr lang="zh-CN" altLang="en-US" sz="8000" dirty="0">
                <a:solidFill>
                  <a:srgbClr val="FFFFFF"/>
                </a:solidFill>
                <a:latin typeface="华文新魏" panose="02010800040101010101" pitchFamily="2" charset="-122"/>
                <a:ea typeface="华文新魏" panose="02010800040101010101" pitchFamily="2" charset="-122"/>
              </a:rPr>
              <a:t>谢   谢</a:t>
            </a:r>
            <a:endParaRPr lang="en-US" altLang="zh-CN" sz="8000" dirty="0">
              <a:solidFill>
                <a:srgbClr val="FFFFFF"/>
              </a:solidFill>
              <a:latin typeface="华文新魏" panose="02010800040101010101" pitchFamily="2" charset="-122"/>
              <a:ea typeface="华文新魏" panose="02010800040101010101" pitchFamily="2" charset="-122"/>
            </a:endParaRPr>
          </a:p>
        </p:txBody>
      </p:sp>
      <p:sp>
        <p:nvSpPr>
          <p:cNvPr id="111620" name="Rectangle 7" descr="新闻纸"/>
          <p:cNvSpPr/>
          <p:nvPr/>
        </p:nvSpPr>
        <p:spPr>
          <a:xfrm>
            <a:off x="2413000" y="4292600"/>
            <a:ext cx="4572000" cy="1552575"/>
          </a:xfrm>
          <a:prstGeom prst="rect">
            <a:avLst/>
          </a:prstGeom>
          <a:noFill/>
          <a:ln w="9525">
            <a:noFill/>
          </a:ln>
        </p:spPr>
        <p:txBody>
          <a:bodyPr>
            <a:spAutoFit/>
          </a:bodyPr>
          <a:p>
            <a:pPr marL="342900" indent="-342900">
              <a:buClrTx/>
            </a:pPr>
            <a:r>
              <a:rPr lang="zh-CN" altLang="en-US" dirty="0">
                <a:solidFill>
                  <a:schemeClr val="bg1"/>
                </a:solidFill>
                <a:effectLst>
                  <a:outerShdw blurRad="38100" dist="38100" dir="2700000">
                    <a:srgbClr val="C0C0C0"/>
                  </a:outerShdw>
                </a:effectLst>
                <a:latin typeface="幼圆" panose="02010509060101010101" pitchFamily="49" charset="-122"/>
                <a:ea typeface="幼圆" panose="02010509060101010101" pitchFamily="49" charset="-122"/>
              </a:rPr>
              <a:t>交通银行太平洋信用卡中心</a:t>
            </a:r>
            <a:endParaRPr lang="zh-CN" altLang="en-US" dirty="0">
              <a:solidFill>
                <a:schemeClr val="bg1"/>
              </a:solidFill>
              <a:effectLst>
                <a:outerShdw blurRad="38100" dist="38100" dir="2700000">
                  <a:srgbClr val="C0C0C0"/>
                </a:outerShdw>
              </a:effectLst>
              <a:latin typeface="幼圆" panose="02010509060101010101" pitchFamily="49" charset="-122"/>
              <a:ea typeface="幼圆" panose="02010509060101010101" pitchFamily="49" charset="-122"/>
            </a:endParaRPr>
          </a:p>
          <a:p>
            <a:pPr marL="342900" indent="-342900">
              <a:buClrTx/>
            </a:pPr>
            <a:r>
              <a:rPr lang="zh-CN" altLang="en-US" dirty="0">
                <a:solidFill>
                  <a:schemeClr val="bg1"/>
                </a:solidFill>
                <a:effectLst>
                  <a:outerShdw blurRad="38100" dist="38100" dir="2700000">
                    <a:srgbClr val="C0C0C0"/>
                  </a:outerShdw>
                </a:effectLst>
                <a:latin typeface="幼圆" panose="02010509060101010101" pitchFamily="49" charset="-122"/>
                <a:ea typeface="幼圆" panose="02010509060101010101" pitchFamily="49" charset="-122"/>
              </a:rPr>
              <a:t>人力资源部</a:t>
            </a:r>
            <a:endParaRPr lang="zh-CN" altLang="en-US" dirty="0">
              <a:solidFill>
                <a:schemeClr val="bg1"/>
              </a:solidFill>
              <a:effectLst>
                <a:outerShdw blurRad="38100" dist="38100" dir="2700000">
                  <a:srgbClr val="C0C0C0"/>
                </a:outerShdw>
              </a:effectLst>
              <a:latin typeface="幼圆" panose="02010509060101010101" pitchFamily="49" charset="-122"/>
              <a:ea typeface="幼圆" panose="02010509060101010101" pitchFamily="49" charset="-122"/>
            </a:endParaRPr>
          </a:p>
          <a:p>
            <a:pPr marL="342900" indent="-342900">
              <a:buClrTx/>
            </a:pPr>
            <a:r>
              <a:rPr lang="zh-CN" altLang="en-US" dirty="0">
                <a:solidFill>
                  <a:schemeClr val="bg1"/>
                </a:solidFill>
                <a:effectLst>
                  <a:outerShdw blurRad="38100" dist="38100" dir="2700000">
                    <a:srgbClr val="C0C0C0"/>
                  </a:outerShdw>
                </a:effectLst>
                <a:latin typeface="幼圆" panose="02010509060101010101" pitchFamily="49" charset="-122"/>
                <a:ea typeface="幼圆" panose="02010509060101010101" pitchFamily="49" charset="-122"/>
              </a:rPr>
              <a:t>培训与发展</a:t>
            </a:r>
            <a:endParaRPr lang="zh-CN" altLang="en-US" dirty="0">
              <a:solidFill>
                <a:schemeClr val="bg1"/>
              </a:solidFill>
              <a:effectLst>
                <a:outerShdw blurRad="38100" dist="38100" dir="2700000">
                  <a:srgbClr val="C0C0C0"/>
                </a:outerShdw>
              </a:effectLst>
              <a:latin typeface="幼圆" panose="02010509060101010101" pitchFamily="49" charset="-122"/>
              <a:ea typeface="幼圆" panose="02010509060101010101" pitchFamily="49" charset="-122"/>
            </a:endParaRPr>
          </a:p>
          <a:p>
            <a:pPr marL="342900" indent="-342900">
              <a:buClrTx/>
            </a:pPr>
            <a:endParaRPr lang="en-US" altLang="zh-CN" dirty="0">
              <a:solidFill>
                <a:schemeClr val="bg1"/>
              </a:solidFill>
              <a:effectLst>
                <a:outerShdw blurRad="38100" dist="38100" dir="2700000">
                  <a:srgbClr val="C0C0C0"/>
                </a:outerShdw>
              </a:effectLst>
              <a:latin typeface="幼圆" panose="02010509060101010101" pitchFamily="49" charset="-122"/>
              <a:ea typeface="幼圆" panose="02010509060101010101" pitchFamily="49" charset="-122"/>
            </a:endParaRPr>
          </a:p>
        </p:txBody>
      </p:sp>
    </p:spTree>
  </p:cSld>
  <p:clrMapOvr>
    <a:masterClrMapping/>
  </p:clrMapOvr>
</p:sld>
</file>

<file path=ppt/theme/theme1.xml><?xml version="1.0" encoding="utf-8"?>
<a:theme xmlns:a="http://schemas.openxmlformats.org/drawingml/2006/main" name="内页母版">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
      <a:majorFont>
        <a:latin typeface="Times New Roman"/>
        <a:ea typeface="华文新魏"/>
        <a:cs typeface=""/>
      </a:majorFont>
      <a:minorFont>
        <a:latin typeface="Times New Roman"/>
        <a:ea typeface="华文中宋"/>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FFFFFF"/>
        </a:dk1>
        <a:lt1>
          <a:srgbClr val="0000FF"/>
        </a:lt1>
        <a:dk2>
          <a:srgbClr val="FFFF00"/>
        </a:dk2>
        <a:lt2>
          <a:srgbClr val="000000"/>
        </a:lt2>
        <a:accent1>
          <a:srgbClr val="FF9900"/>
        </a:accent1>
        <a:accent2>
          <a:srgbClr val="00FFFF"/>
        </a:accent2>
        <a:accent3>
          <a:srgbClr val="AAAAFF"/>
        </a:accent3>
        <a:accent4>
          <a:srgbClr val="DCDCDC"/>
        </a:accent4>
        <a:accent5>
          <a:srgbClr val="FFCAAA"/>
        </a:accent5>
        <a:accent6>
          <a:srgbClr val="00E5E5"/>
        </a:accent6>
        <a:hlink>
          <a:srgbClr val="FF0000"/>
        </a:hlink>
        <a:folHlink>
          <a:srgbClr val="969696"/>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27272"/>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2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9"/>
        </a:accent5>
        <a:accent6>
          <a:srgbClr val="0000E5"/>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BE5"/>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9E5B7"/>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走进卡中心</Template>
  <TotalTime>0</TotalTime>
  <Words>3653</Words>
  <Application>WPS 演示</Application>
  <PresentationFormat>自定义</PresentationFormat>
  <Paragraphs>564</Paragraphs>
  <Slides>58</Slides>
  <Notes>49</Notes>
  <HiddenSlides>0</HiddenSlides>
  <MMClips>0</MMClips>
  <ScaleCrop>false</ScaleCrop>
  <HeadingPairs>
    <vt:vector size="8" baseType="variant">
      <vt:variant>
        <vt:lpstr>已用的字体</vt:lpstr>
      </vt:variant>
      <vt:variant>
        <vt:i4>22</vt:i4>
      </vt:variant>
      <vt:variant>
        <vt:lpstr>主题</vt:lpstr>
      </vt:variant>
      <vt:variant>
        <vt:i4>1</vt:i4>
      </vt:variant>
      <vt:variant>
        <vt:lpstr>嵌入 OLE 服务器</vt:lpstr>
      </vt:variant>
      <vt:variant>
        <vt:i4>5</vt:i4>
      </vt:variant>
      <vt:variant>
        <vt:lpstr>幻灯片标题</vt:lpstr>
      </vt:variant>
      <vt:variant>
        <vt:i4>58</vt:i4>
      </vt:variant>
    </vt:vector>
  </HeadingPairs>
  <TitlesOfParts>
    <vt:vector size="86" baseType="lpstr">
      <vt:lpstr>Arial</vt:lpstr>
      <vt:lpstr>宋体</vt:lpstr>
      <vt:lpstr>Wingdings</vt:lpstr>
      <vt:lpstr>Frutiger 45 Light</vt:lpstr>
      <vt:lpstr>楷体_GB2312</vt:lpstr>
      <vt:lpstr>新宋体</vt:lpstr>
      <vt:lpstr>Times New Roman</vt:lpstr>
      <vt:lpstr>华文新魏</vt:lpstr>
      <vt:lpstr>华文中宋</vt:lpstr>
      <vt:lpstr>PMingLiU</vt:lpstr>
      <vt:lpstr>MingLiU-ExtB</vt:lpstr>
      <vt:lpstr>华文隶书</vt:lpstr>
      <vt:lpstr>华文楷体</vt:lpstr>
      <vt:lpstr>Book Antiqua</vt:lpstr>
      <vt:lpstr>楷体</vt:lpstr>
      <vt:lpstr>黑体</vt:lpstr>
      <vt:lpstr>幼圆</vt:lpstr>
      <vt:lpstr>Latha</vt:lpstr>
      <vt:lpstr>Segoe Print</vt:lpstr>
      <vt:lpstr>微软雅黑</vt:lpstr>
      <vt:lpstr>Arial Unicode MS</vt:lpstr>
      <vt:lpstr>隶书</vt:lpstr>
      <vt:lpstr>内页母版</vt:lpstr>
      <vt:lpstr>MS_ClipArt_Gallery.5</vt:lpstr>
      <vt:lpstr>MS_ClipArt_Gallery.2</vt:lpstr>
      <vt:lpstr>MS_ClipArt_Gallery.5</vt:lpstr>
      <vt:lpstr>MS_ClipArt_Gallery.5</vt:lpstr>
      <vt:lpstr>MS_ClipArt_Gallery.5</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dc:title>
  <dc:creator>FRANK-DEE237FD3</dc:creator>
  <cp:lastModifiedBy>陈晓丹</cp:lastModifiedBy>
  <cp:revision>794</cp:revision>
  <cp:lastPrinted>2002-02-08T01:28:08Z</cp:lastPrinted>
  <dcterms:created xsi:type="dcterms:W3CDTF">2010-12-30T20:37:53Z</dcterms:created>
  <dcterms:modified xsi:type="dcterms:W3CDTF">2025-12-06T09:23:48Z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429CE3AA543247D8BED82E1B8EBB6AD9_13</vt:lpwstr>
  </property>
</Properties>
</file>